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9" d="100"/>
          <a:sy n="139" d="100"/>
        </p:scale>
        <p:origin x="80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g3bd6bd36102_0_0: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 name="Google Shape;9;g3bd6bd36102_0_0: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a:solidFill>
                  <a:schemeClr val="dk1"/>
                </a:solidFill>
              </a:rPr>
              <a:t>We're here today to discuss how Large Language Models can revolutionize Sponsored Search Advertising. This research, from Reisenbichler, Reutterer, and Schweidel, introduces a novel approach to optimizing ad performance. We'll explore how to move beyond generic AI applications to create specialized systems. This work provides a blueprint for leveraging AI in digital marketing. Let's begin by understanding the landscape of Sponsored Search Advertising.</a:t>
            </a:r>
            <a:endParaRPr sz="1400">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Sponsored Search Advertising remains a critical component of digital marketing, yet it presents significant challenges. Ad performance isn't just about bids; it's heavily influenced by a 'Quality Score' that considers expected click-through rates, ad relevance, and landing page experience. Crafting ad copy that meets these complex requirements is both labor-intensive and constrained by platform formats. While LLMs offer potential for scalable content, generic models aren't designed to optimize for search engine auctions. This inherent complexity highlights the need for a more sophisticated approach. So, where do current AI applications fall short in addressing this complexity?</a:t>
            </a:r>
            <a:endParaRPr/>
          </a:p>
        </p:txBody>
      </p:sp>
      <p:sp>
        <p:nvSpPr>
          <p:cNvPr id="19" name="Google Shape;19;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bd6bd36102_1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 name="Google Shape;33;g3bd6bd36102_1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Sponsored Search Advertising remains a critical component of digital marketing, yet it presents significant challenges. Ad performance isn't just about bids; it's heavily influenced by a 'Quality Score' that considers expected click-through rates, ad relevance, and landing page experience. Crafting ad copy that meets these complex requirements is both labor-intensive and constrained by platform formats. While LLMs offer potential for scalable content, generic models aren't designed to optimize for search engine auctions. This inherent complexity highlights the need for a more sophisticated approach. So, where do current AI applications fall short in addressing this complexity?</a:t>
            </a:r>
            <a:endParaRPr/>
          </a:p>
        </p:txBody>
      </p:sp>
      <p:sp>
        <p:nvSpPr>
          <p:cNvPr id="34" name="Google Shape;34;g3bd6bd36102_1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 name="Google Shape;48;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When we compare AI implementation methods, we see distinct trade-offs. Prompt engineering, while quick, struggles with consistency and optimization. Fine-tuning offers more control but is expensive and data-intensive. The application layer, however, provides external logic and workflow for tasks needing business rules, scoring, and selection. It requires more upfront engineering but offers superior control and optimization for specific tasks. This distinction is crucial for understanding why our approach is so effective. Now, let's look at the practical steps involved in building such an application layer.</a:t>
            </a:r>
            <a:endParaRPr/>
          </a:p>
        </p:txBody>
      </p:sp>
      <p:sp>
        <p:nvSpPr>
          <p:cNvPr id="49" name="Google Shape;49;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 name="Google Shape;78;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Building an effective application layer for LLMs in marketing requires a structured approach, not just throwing prompts at a model. We've developed a practical, six-step framework to guide this process, ensuring that the AI's output is not only creative but also strategically aligned. This framework moves beyond simple generation to encompass objective setting, structured templating, and a robust generation workflow. It then integrates critical steps like scoring, human oversight, and seamless deployment. This systematic approach ensures that the AI's capabilities are harnessed for specific business outcomes. Let's dive into the first three steps of this framework.</a:t>
            </a:r>
            <a:endParaRPr/>
          </a:p>
        </p:txBody>
      </p:sp>
      <p:sp>
        <p:nvSpPr>
          <p:cNvPr id="79" name="Google Shape;79;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The initial steps in our framework focus on defining clear objectives, structuring the output, and generating a diverse set of candidates. First, we define the primary and secondary goals for our ad copy, such as maximizing clicks while managing cost-per-click. Then, we implement structured templates that enforce platform constraints and integrate mandatory keywords, ensuring compliance and consistency. Finally, the generation workflow moves beyond single-shot prompting by generating multiple ad candidates, allowing us to explore a wider output space and increase the likelihood of finding optimal solutions. Now, let's look at how we evaluate and deploy these generated ads.</a:t>
            </a:r>
            <a:endParaRPr/>
          </a:p>
        </p:txBody>
      </p:sp>
      <p:sp>
        <p:nvSpPr>
          <p:cNvPr id="106" name="Google Shape;106;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Once we have a pool of generated ad candidates, the next steps involve rigorous evaluation, human oversight, and seamless deployment. The scoring module is the core of this layer; it assesses candidates based on relevance, predicted performance, and brand guidelines. Then, a crucial human-in-the-loop step allows for final approvals, edits, and provides valuable feedback to refine the scoring algorithms. Finally, we wrap the entire pipeline as a production-ready service, ensuring it can be integrated efficiently into existing marketing operations. This comprehensive process ensures that the AI-generated content is not only high-quality but also actionable and scalable. But how does this application layer compare to other common AI architectures like RAG or agents?</a:t>
            </a:r>
            <a:endParaRPr/>
          </a:p>
        </p:txBody>
      </p:sp>
      <p:sp>
        <p:nvSpPr>
          <p:cNvPr id="131" name="Google Shape;131;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4" name="Google Shape;15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Understanding the distinctions between an application layer, RAG, and agents is crucial for choosing the right AI architecture for specific marketing challenges. Our application layer prioritizes optimization and control, delivering highly structured outputs ideal for marketing and compliance. In contrast, RAG focuses on grounding LLM responses with external knowledge, enhancing accuracy. Agents, on the other hand, excel at executing multi-step actions and reasoning. For tasks like ad generation, where consistency, performance, and adherence to strict rules are paramount, a specialized application layer offers superior control and predictability. This distinction is vital for achieving the precise alignment required in sponsored search. This brings us to the core research questions that underpin our work.</a:t>
            </a:r>
            <a:endParaRPr/>
          </a:p>
        </p:txBody>
      </p:sp>
      <p:sp>
        <p:nvSpPr>
          <p:cNvPr id="155" name="Google Shape;155;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6" name="Google Shape;19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To achieve precise control over the LLM's output, we leverage the Plug-and-Play Language Model framework, which mathematically steers the generation process. PPLM modifies the token probability distribution, balancing the base model's fluency with the strategic integration of target keywords. The composite distribution formula shows how we combine the original model's probabilities with a modified distribution that emphasizes specific sub-keywords. The scaling factor, gamma, allows us to adjust the weight given to this keyword-enriched distribution, directly influencing the density of desired terms in the generated ad copy. This mathematical control ensures that our ads are not only coherent but also strategically optimized for search engine relevance. Next, we'll delve into how we operationalize this relevance with our Content Score.</a:t>
            </a:r>
            <a:endParaRPr/>
          </a:p>
        </p:txBody>
      </p:sp>
      <p:sp>
        <p:nvSpPr>
          <p:cNvPr id="197" name="Google Shape;197;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 name="Google Shape;215;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The Content Score, or CS_ad, is our core metric for operationalizing relevance in sponsored search advertising. This formula provides a multi-dimensional measure of how well an ad aligns with the search engine's criteria. We combine five distinct components, each contributing to the overall score. Semantic fit, measured by cosine similarity, assesses how closely the ad text matches both the top 10 organic search results and the landing page. We also consider keyword coverage, looking at the proportion of critical sub-keywords from organic results and the landing page that are integrated into the ad. Finally, a binary indicator confirms the presence of the primary focal keyword. This comprehensive score allows us to quantify an ad's quality before it ever goes live. This metric is crucial for our next step, which involves predicting the cost implications of such high-quality ads.</a:t>
            </a:r>
            <a:endParaRPr/>
          </a:p>
        </p:txBody>
      </p:sp>
      <p:sp>
        <p:nvSpPr>
          <p:cNvPr id="216" name="Google Shape;216;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Building on the Content Score, we developed a predictive CPC model to balance performance with cost. This Random Forest Regressor is trained on historical campaign data, allowing us to estimate the expected Cost-Per-Click for any generated ad copy. The Content Score itself is a key predictive feature in this model. This means we can select ads that maximize visibility while staying within budget constraints. Our model achieves an impressive R-squared of 0.849, with an average prediction error of just 35 cents. This accuracy allows managers to implement budget discipline, preventing cost spikes often associated with highly relevant ads. Now, let's zoom out a bit and look at the core research questions that drove the development of these components.</a:t>
            </a:r>
            <a:endParaRPr/>
          </a:p>
        </p:txBody>
      </p:sp>
      <p:sp>
        <p:nvSpPr>
          <p:cNvPr id="239" name="Google Shape;239;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8" name="Google Shape;258;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Our research addresses three fundamental questions about applying LLMs to sponsored search advertising. First, we investigate how to design an LLM application layer specifically for search engine requirements. Second, we examine whether this tailored approach outperforms both human experts and advanced frontier models like GPT-4. Third, we explore how managers can effectively navigate the inherent trade-off between ad visibility and cost. To answer these questions, we contribute a novel semiautomated workflow, a specialized Content Score, and a CPC prediction module. These contributions provide a comprehensive solution for optimizing SEA. Let's now delve into the conceptual framework that guides our understanding of search engine alignment.</a:t>
            </a:r>
            <a:endParaRPr/>
          </a:p>
        </p:txBody>
      </p:sp>
      <p:sp>
        <p:nvSpPr>
          <p:cNvPr id="259" name="Google Shape;259;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2" name="Google Shape;282;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Our research builds on a clear conceptual framework for Search Engine Alignment. This framework defines the key dimensions that drive an ad's effectiveness in the complex search environment. We identify four critical dimensions. Intent Alignment ensures the ad language directly addresses the user's underlying search intent, mirroring top organic results. Contextual Consistency harmonizes the ad copy with the landing page, improving user experience. Platform Compliance means adhering to the search engine's structural and stylistic rules. Finally, Auction Dynamics acknowledge the feedback loop where content quality directly influences visibility and pricing through the Quality Score. This framework underpins our entire approach, and we'll see how it translates into a practical workflow next.</a:t>
            </a:r>
            <a:endParaRPr/>
          </a:p>
        </p:txBody>
      </p:sp>
      <p:sp>
        <p:nvSpPr>
          <p:cNvPr id="283" name="Google Shape;283;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2" name="Google Shape;302;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Building on our conceptual framework, we developed a semiautomated workflow for SEA optimization. This workflow transforms ad creation from a purely creative task into a data-driven engineering pipeline. It starts with an Input Phase, identifying keywords and analyzing the landing page. Then, a Crawl Phase extracts critical sub-keywords from top organic results and the landing page itself. The Generation phase uses a fine-tuned LLM with Plug-and-Play Language Models for controlled content creation. Finally, the Selection phase ranks candidates using our Content Score and filters them by predicted cost. This systematic approach ensures alignment with both user intent and platform requirements, which we'll explore in more detail.</a:t>
            </a:r>
            <a:endParaRPr/>
          </a:p>
        </p:txBody>
      </p:sp>
      <p:sp>
        <p:nvSpPr>
          <p:cNvPr id="303" name="Google Shape;303;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4" name="Google Shape;324;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Our workflow uses Plug-and-Play Language Models, or PPLM, for precision control. This technique allows us to steer the LLM's output toward specific keywords and themes without extensive retraining. PPLM works by shifting token probabilities during the decoding phase, ensuring that generated ads incorporate critical sub-keywords identified earlier. We balance this control with the natural fluency of the base model using a hyperparameter. This gives us both LLM-powered creativity and the precise control needed for effective SEA. Now, let's look at how we measure the quality of these precisely controlled ads.</a:t>
            </a:r>
            <a:endParaRPr/>
          </a:p>
        </p:txBody>
      </p:sp>
      <p:sp>
        <p:nvSpPr>
          <p:cNvPr id="325" name="Google Shape;325;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0" name="Google Shape;340;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To operationalize our conceptual framework, we developed the Content Score, or CS_ad. This composite metric, ranging from zero to one, quantifies how well an ad aligns with the broader search environment. It aggregates five key components: Organic Similarity, LP Similarity, Organic Coverage, LP Coverage, and Keyword Inclusion. Each component measures a specific aspect of alignment, from how closely the ad resembles top organic results to the presence of the primary focal keyword. This score is crucial for evaluating and selecting the best-performing ad candidates, but we also need to consider cost.</a:t>
            </a:r>
            <a:endParaRPr/>
          </a:p>
        </p:txBody>
      </p:sp>
      <p:sp>
        <p:nvSpPr>
          <p:cNvPr id="341" name="Google Shape;341;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16</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3" name="Google Shape;363;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While a high Content Score is vital, we must also navigate the inherent performance-cost trade-off in SEA. Higher relevance often leads to a higher ad rank, which can inadvertently increase the actual Cost-Per-Click in the auction environment. To address this, we integrated a CPC Prediction Module into our workflow. This module uses a Random Forest model, trained on historical campaign data, to estimate the likely cost of generated ads before deployment. This allows for budget discipline, enabling us to select high-performing ad candidates that remain below a predefined cost threshold. We'll now look at how we validated this Content Score.</a:t>
            </a:r>
            <a:endParaRPr/>
          </a:p>
        </p:txBody>
      </p:sp>
      <p:sp>
        <p:nvSpPr>
          <p:cNvPr id="364" name="Google Shape;364;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2" name="Google Shape;382;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Before diving into our field experiments, we rigorously validated the Content Score itself. We found that the CS_ad is a robust predictor of real-world outcomes. This metric effectively captures the same relevance signals that search engine algorithms use to determine ad visibility. For instance, it explains about 70% of the variance in ad position and predicts CPC with an R-squared of 0.85. This strong correlation with Google's Quality Score confirms that our Content Score is a reliable proxy for search engine alignment. Now, let's look at how we put this validated metric to the test in our empirical strategy.</a:t>
            </a:r>
            <a:endParaRPr/>
          </a:p>
        </p:txBody>
      </p:sp>
      <p:sp>
        <p:nvSpPr>
          <p:cNvPr id="383" name="Google Shape;383;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18</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c69a84a497_3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5" name="Google Shape;405;g3c69a84a497_3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Our empirical strategy involved five distinct field studies, each designed to test a different aspect of the workflow. We started by comparing our PPLM workflow against human experts in Study 1. Then, in Study 2, we benchmarked it against frontier LLMs like GPT-4 and Gemini. Study 3 evaluated the cost-aware selection module, which we just discussed. Finally, Studies 4 and 5 explored important boundary conditions, looking at landing page quality and budget restrictions. This comprehensive approach allowed us to thoroughly assess the system's utility. Let's begin with Study 1, comparing our AI workflow to human performance.</a:t>
            </a:r>
            <a:endParaRPr/>
          </a:p>
        </p:txBody>
      </p:sp>
      <p:sp>
        <p:nvSpPr>
          <p:cNvPr id="406" name="Google Shape;406;g3c69a84a497_3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19</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c69a84a497_3_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2" name="Google Shape;432;g3c69a84a497_3_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In Study 1, we directly compared our PPLM workflow against human experts. We ran this experiment across 208 keywords in two very different sectors: Education, representing a B2C market, and IT/SaaS, a B2B market. We had three treatment groups: our 'Best CS PPLM' ads, human-written ads specific to keywords, and conventional human ads. To ensure a fair comparison, all ads used an automated 'Maximize Clicks' bidding strategy. This design isolated the impact of the ad content itself on key performance indicators. So, what did we find when we put the AI head-to-head with humans?</a:t>
            </a:r>
            <a:endParaRPr/>
          </a:p>
        </p:txBody>
      </p:sp>
      <p:sp>
        <p:nvSpPr>
          <p:cNvPr id="433" name="Google Shape;433;g3c69a84a497_3_2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20</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c69a84a497_3_5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0" name="Google Shape;460;g3c69a84a497_3_5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This slide introduces a crucial boundary condition: the saturation effect. We found that the incremental performance gains from AI-optimized ads diminish when the target landing page is already highly optimized by machine SEO tools. This suggests a 'ceiling' for relevance-based optimization. If both the ad and the landing page are over-aligned, the marginal benefit of further optimization decreases. Managers should be cautious about combining multiple generative LLMs for both ad and landing page writing without monitoring for this saturation. The greatest value of our PPLM workflow lies in optimizing campaigns for standard, non-machine-optimized web environments. Now, let's look at the direct results from Study 1. </a:t>
            </a:r>
            <a:r>
              <a:rPr lang="en-US" sz="1200">
                <a:solidFill>
                  <a:srgbClr val="333333"/>
                </a:solidFill>
                <a:latin typeface="Arial"/>
                <a:ea typeface="Arial"/>
                <a:cs typeface="Arial"/>
                <a:sym typeface="Arial"/>
              </a:rPr>
              <a:t>This suggests a "ceiling" for relevance-based optimization, where over-alignment between ads and LPs may lead to oversaturation and reduced marginal benefits.</a:t>
            </a:r>
            <a:endParaRPr sz="1200">
              <a:solidFill>
                <a:schemeClr val="dk1"/>
              </a:solidFill>
              <a:latin typeface="Arial"/>
              <a:ea typeface="Arial"/>
              <a:cs typeface="Arial"/>
              <a:sym typeface="Arial"/>
            </a:endParaRPr>
          </a:p>
        </p:txBody>
      </p:sp>
      <p:sp>
        <p:nvSpPr>
          <p:cNvPr id="461" name="Google Shape;461;g3c69a84a497_3_5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21</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c69a84a497_3_7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1" name="Google Shape;481;g3c69a84a497_3_7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The results from Study 1 were clear: our PPLM-driven workflow significantly outperformed human experts. In the B2C education sector, AI-generated ads saw a 45% increase in impressions and a remarkable 112% increase in clicks. The B2B IT and SaaS sector showed even greater lifts, with impressions up by 88% and clicks soaring by 184%. This superior performance directly correlates with the higher median Content Score of the PPLM ads. It confirms that our AI workflow creates ads that are simply better aligned with search engine relevance criteria. But how does our specialized AI compare to  other powerful LLMs? That's what we explored in Study 2. </a:t>
            </a:r>
            <a:r>
              <a:rPr lang="en-US" sz="1200" i="1">
                <a:solidFill>
                  <a:srgbClr val="666666"/>
                </a:solidFill>
                <a:latin typeface="Arial"/>
                <a:ea typeface="Arial"/>
                <a:cs typeface="Arial"/>
                <a:sym typeface="Arial"/>
              </a:rPr>
              <a:t>The higher median CS_ad of the PPLM ads suggests that their success is directly attributable to their superior alignment with the search engine's relevance criteria.</a:t>
            </a:r>
            <a:endParaRPr sz="1200">
              <a:solidFill>
                <a:schemeClr val="dk1"/>
              </a:solidFill>
              <a:latin typeface="Arial"/>
              <a:ea typeface="Arial"/>
              <a:cs typeface="Arial"/>
              <a:sym typeface="Arial"/>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82" name="Google Shape;482;g3c69a84a497_3_7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22</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c69a84a497_3_1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2" name="Google Shape;522;g3c69a84a497_3_1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Study 2 asked a critical question: Is the success of our workflow simply due to the power of LLMs in general, or is it the specific design of our application layer? We benchmarked our PPLM workflow against some of the most powerful generic LLMs available, including GPT-4 with both basic and advanced prompting, a fine-tuned GPT-3.5, Google's Gemini, and a leading proprietary SEA tool. This comparison helps us understand if managers need specialized systems or if they can just rely on the latest general-purpose models. Let's see what the results revealed.</a:t>
            </a:r>
            <a:endParaRPr/>
          </a:p>
        </p:txBody>
      </p:sp>
      <p:sp>
        <p:nvSpPr>
          <p:cNvPr id="523" name="Google Shape;523;g3c69a84a497_3_1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23</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c69a84a497_3_13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5" name="Google Shape;545;g3c69a84a497_3_13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The findings from Study 2 are clear: tailoring an AI to a specific domain, like Sponsored Search Advertising, yields far better results than simply using a larger, more generic model. We see that our PPLM workflow achieved 100% relative impressions and clicks, while even advanced GPT-4 only reached 72% and 68% respectively. This tells us that raw model size is less important than contextual alignment and the precise keyword density that our controlled decoding and CS_ad selection layer provide. The 'one-shot' nature of simple prompting often fails to achieve this precise alignment. Now, let's look at how this specialized approach performs under cost constraints.</a:t>
            </a:r>
            <a:endParaRPr/>
          </a:p>
        </p:txBody>
      </p:sp>
      <p:sp>
        <p:nvSpPr>
          <p:cNvPr id="546" name="Google Shape;546;g3c69a84a497_3_13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24</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3c69a84a497_3_16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0" name="Google Shape;580;g3c69a84a497_3_16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Study 3 then explored the critical question of performance under cost constraints, a common challenge for advertisers. We wanted to see if our workflow could maintain its performance gains while strictly controlling the Cost-Per-Click. We found that even with a cost-aware selection strategy, the AI-generated ads still significantly outperformed human experts in impressions and clicks. Crucially, the median CPC for these AI ads was statistically identical to human ads, meaning we avoided the cost spikes often associated with highly relevant AI content. This demonstrates that predictive modeling enables budget discipline without sacrificing the visibility gains of AI-driven content. Next, we'll examine another boundary condition: the quality of the landing page.</a:t>
            </a:r>
            <a:endParaRPr/>
          </a:p>
        </p:txBody>
      </p:sp>
      <p:sp>
        <p:nvSpPr>
          <p:cNvPr id="581" name="Google Shape;581;g3c69a84a497_3_16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25</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3c69a84a497_3_18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1" name="Google Shape;601;g3c69a84a497_3_18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In Study 4, we investigated how the quality of the destination landing page impacts the value of our ad optimization. We observed a clear pairing effect: PPLM ads provided the greatest lift in impressions and clicks when paired with human-designed landing pages. Interestingly, when the landing page was already highly optimized for SEO by a machine, the incremental benefit of an AI-optimized ad was reduced. This suggests a potential saturation effect, where the search engine's relevance requirements are already largely met. So, AI ads are most valuable when they bridge the gap between user intent and existing, less-optimized content. Let's now consider the impact of budget constraints. </a:t>
            </a:r>
            <a:r>
              <a:rPr lang="en-US" sz="1200" b="1">
                <a:solidFill>
                  <a:srgbClr val="0047AB"/>
                </a:solidFill>
                <a:latin typeface="Arial"/>
                <a:ea typeface="Arial"/>
                <a:cs typeface="Arial"/>
                <a:sym typeface="Arial"/>
              </a:rPr>
              <a:t>Key Takeaway: AI ads provide the highest marginal utility when the destination content is not already over-optimized.</a:t>
            </a:r>
            <a:endParaRPr sz="1200">
              <a:solidFill>
                <a:schemeClr val="dk1"/>
              </a:solidFill>
              <a:latin typeface="Arial"/>
              <a:ea typeface="Arial"/>
              <a:cs typeface="Arial"/>
              <a:sym typeface="Arial"/>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02" name="Google Shape;602;g3c69a84a497_3_18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26</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3c69a84a497_3_20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1" name="Google Shape;621;g3c69a84a497_3_20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Study 5 delved into how the workflow performs under different budget regimes. We compared a high-budget scenario with a low-budget scenario and found a striking result: the relative advantage of the PPLM workflow was actually greater under tight budget constraints. For example, the click lift was 3.62x under a low budget compared to 2.84x under a high budget. This key insight tells us that when advertisers cannot rely on high bids to secure visibility, content relevance, driven by our AI, becomes the primary lever for success. This means prioritizing AI optimization for budget-limited campaigns where content quality has the highest marginal impact. Now, let's summarize the mechanisms behind this consistent success.</a:t>
            </a:r>
            <a:endParaRPr/>
          </a:p>
        </p:txBody>
      </p:sp>
      <p:sp>
        <p:nvSpPr>
          <p:cNvPr id="622" name="Google Shape;622;g3c69a84a497_3_20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27</a:t>
            </a:fld>
            <a:endParaRPr sz="1800">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c69a84a497_3_2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8" name="Google Shape;648;g3c69a84a497_3_2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So, what explains the consistent outperformance of our tailored workflow? We've identified three primary mechanisms. First, systematic contextualization: by crawling organic results and landing pages, the system captures the 'hidden' language that search engines reward. Second, precision decoding: PPLM ensures that critical keywords are integrated into the text with high density without sacrificing readability. And third, selection over generation: generating a large pool of candidates and using the Content Score to select the best one significantly reduces the variance and 'luck' associated with one-shot AI generation. This platform synergy, where higher Content Scores lead to better Quality Scores, lowers the barrier to entry in the auction. Now, let's discuss the managerial implications of these findings.</a:t>
            </a:r>
            <a:endParaRPr/>
          </a:p>
        </p:txBody>
      </p:sp>
      <p:sp>
        <p:nvSpPr>
          <p:cNvPr id="649" name="Google Shape;649;g3c69a84a497_3_23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28</a:t>
            </a:fld>
            <a:endParaRPr sz="1800">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3c69a84a497_3_25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8" name="Google Shape;668;g3c69a84a497_3_25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So, what does all this mean for managers building AI systems? The core message here is that the true value of AI in marketing comes from the entire system, not just the underlying model. We've seen that moving beyond simple prompting is crucial; you need integrated application layers that pull in external data like organic search results and landing pages. Implementing a robust scoring mechanism, like our CS_ad, is also essential. This allows you to evaluate and rank AI outputs before they go live, ensuring they align with platform relevance criteria. Furthermore, effective cost management is vital. Using predictive modeling helps balance AI's performance gains with the financial realities of the auction, preventing those unexpected cost spikes. Finally, strategically deploy AI optimization for budget-constrained campaigns. This is where content relevance has the highest marginal impact. This leads us to our theoretical contributions, which underpin these practical applications.</a:t>
            </a:r>
            <a:endParaRPr/>
          </a:p>
        </p:txBody>
      </p:sp>
      <p:sp>
        <p:nvSpPr>
          <p:cNvPr id="669" name="Google Shape;669;g3c69a84a497_3_25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29</a:t>
            </a:fld>
            <a:endParaRPr sz="1800">
              <a:solidFill>
                <a:schemeClr val="dk1"/>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3c69a84a497_3_27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8" name="Google Shape;688;g3c69a84a497_3_2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While our findings are robust, it's important to acknowledge the limitations and outline future research directions. Our results are inherently tied to the 'black box' algorithms of search engines, which can change frequently and without notice. Also, while we focused on clicks and impressions, future systems should integrate downstream conversion data more deeply into the scoring layer. Looking ahead, we want to investigate the long-term effects of AI adoption, especially as competitors also start using similar automated tools. Another promising area is multi-objective optimization. We aim to develop advanced models that can simultaneously optimize for our Content Score, CPC, and conversion rates, providing a truly holistic campaign solution. This brings us to our conclusion, where we'll summarize the future of AI in advertising.</a:t>
            </a:r>
            <a:endParaRPr/>
          </a:p>
        </p:txBody>
      </p:sp>
      <p:sp>
        <p:nvSpPr>
          <p:cNvPr id="689" name="Google Shape;689;g3c69a84a497_3_27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30</a:t>
            </a:fld>
            <a:endParaRPr sz="1800">
              <a:solidFill>
                <a:schemeClr val="dk1"/>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3c69a84a497_3_28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6" name="Google Shape;706;g3c69a84a497_3_28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07" name="Google Shape;707;g3c69a84a497_3_28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31</a:t>
            </a:fld>
            <a:endParaRPr sz="1800">
              <a:solidFill>
                <a:schemeClr val="dk1"/>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3c69a84a497_3_29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6" name="Google Shape;716;g3c69a84a497_3_29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17" name="Google Shape;717;g3c69a84a497_3_29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32</a:t>
            </a:fld>
            <a:endParaRPr sz="1800">
              <a:solidFill>
                <a:schemeClr val="dk1"/>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3c69a84a497_3_30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6" name="Google Shape;726;g3c69a84a497_3_30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27" name="Google Shape;727;g3c69a84a497_3_30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33</a:t>
            </a:fld>
            <a:endParaRPr sz="1800">
              <a:solidFill>
                <a:schemeClr val="dk1"/>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3c69a84a497_3_3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6" name="Google Shape;736;g3c69a84a497_3_3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37" name="Google Shape;737;g3c69a84a497_3_3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34</a:t>
            </a:fld>
            <a:endParaRPr sz="1800">
              <a:solidFill>
                <a:schemeClr val="dk1"/>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3c69a84a497_3_3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6" name="Google Shape;746;g3c69a84a497_3_3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47" name="Google Shape;747;g3c69a84a497_3_32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35</a:t>
            </a:fld>
            <a:endParaRPr sz="1800">
              <a:solidFill>
                <a:schemeClr val="dk1"/>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3c69a84a497_3_3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6" name="Google Shape;756;g3c69a84a497_3_3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57" name="Google Shape;757;g3c69a84a497_3_33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36</a:t>
            </a:fld>
            <a:endParaRPr sz="1800">
              <a:solidFill>
                <a:schemeClr val="dk1"/>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3c69a84a497_3_34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6" name="Google Shape;766;g3c69a84a497_3_3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67" name="Google Shape;767;g3c69a84a497_3_3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37</a:t>
            </a:fld>
            <a:endParaRPr sz="1800">
              <a:solidFill>
                <a:schemeClr val="dk1"/>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3c69a84a497_3_35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7" name="Google Shape;777;g3c69a84a497_3_35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78" name="Google Shape;778;g3c69a84a497_3_35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38</a:t>
            </a:fld>
            <a:endParaRPr sz="1800">
              <a:solidFill>
                <a:schemeClr val="dk1"/>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3c69a84a497_3_36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9" name="Google Shape;789;g3c69a84a497_3_36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90" name="Google Shape;790;g3c69a84a497_3_36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39</a:t>
            </a:fld>
            <a:endParaRPr sz="1800">
              <a:solidFill>
                <a:schemeClr val="dk1"/>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3c69a84a497_3_37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1" name="Google Shape;801;g3c69a84a497_3_37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02" name="Google Shape;802;g3c69a84a497_3_37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40</a:t>
            </a:fld>
            <a:endParaRPr sz="1800">
              <a:solidFill>
                <a:schemeClr val="dk1"/>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3c69a84a497_3_38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3" name="Google Shape;813;g3c69a84a497_3_38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Thank you for your attention. We've covered a lot today, but the key takeaway is clear: the future of AI in marketing is built on specialized systems, not just prompts. Our paper, 'Applying Large Language Models to Sponsored Search Advertising,' will be published in Marketing Science. We're happy to take any questions you might have now.</a:t>
            </a:r>
            <a:endParaRPr/>
          </a:p>
        </p:txBody>
      </p:sp>
      <p:sp>
        <p:nvSpPr>
          <p:cNvPr id="814" name="Google Shape;814;g3c69a84a497_3_38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41</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
        <p:cNvGrpSpPr/>
        <p:nvPr/>
      </p:nvGrpSpPr>
      <p:grpSpPr>
        <a:xfrm>
          <a:off x="0" y="0"/>
          <a:ext cx="0" cy="0"/>
          <a:chOff x="0" y="0"/>
          <a:chExt cx="0" cy="0"/>
        </a:xfrm>
      </p:grpSpPr>
      <p:sp>
        <p:nvSpPr>
          <p:cNvPr id="11" name="Google Shape;11;p3"/>
          <p:cNvSpPr/>
          <p:nvPr/>
        </p:nvSpPr>
        <p:spPr>
          <a:xfrm>
            <a:off x="438750" y="449763"/>
            <a:ext cx="5229300" cy="3143400"/>
          </a:xfrm>
          <a:prstGeom prst="rect">
            <a:avLst/>
          </a:prstGeom>
          <a:noFill/>
          <a:ln>
            <a:noFill/>
          </a:ln>
        </p:spPr>
        <p:txBody>
          <a:bodyPr spcFirstLastPara="1" wrap="square" lIns="0" tIns="0" rIns="0" bIns="0" anchor="t" anchorCtr="0">
            <a:noAutofit/>
          </a:bodyPr>
          <a:lstStyle/>
          <a:p>
            <a:pPr marL="0" marR="0" lvl="0" indent="0" algn="l" rtl="0">
              <a:lnSpc>
                <a:spcPct val="120627"/>
              </a:lnSpc>
              <a:spcBef>
                <a:spcPts val="0"/>
              </a:spcBef>
              <a:spcAft>
                <a:spcPts val="0"/>
              </a:spcAft>
              <a:buClr>
                <a:srgbClr val="000000"/>
              </a:buClr>
              <a:buSzPts val="4145"/>
              <a:buFont typeface="Calibri"/>
              <a:buNone/>
            </a:pPr>
            <a:r>
              <a:rPr lang="en-US" sz="4145" b="1">
                <a:solidFill>
                  <a:srgbClr val="000000"/>
                </a:solidFill>
                <a:latin typeface="Calibri"/>
                <a:ea typeface="Calibri"/>
                <a:cs typeface="Calibri"/>
                <a:sym typeface="Calibri"/>
              </a:rPr>
              <a:t>Applying Large</a:t>
            </a:r>
            <a:br>
              <a:rPr lang="en-US" sz="4145" b="1">
                <a:solidFill>
                  <a:srgbClr val="000000"/>
                </a:solidFill>
                <a:latin typeface="Calibri"/>
                <a:ea typeface="Calibri"/>
                <a:cs typeface="Calibri"/>
                <a:sym typeface="Calibri"/>
              </a:rPr>
            </a:br>
            <a:r>
              <a:rPr lang="en-US" sz="4145" b="1">
                <a:solidFill>
                  <a:srgbClr val="000000"/>
                </a:solidFill>
                <a:latin typeface="Calibri"/>
                <a:ea typeface="Calibri"/>
                <a:cs typeface="Calibri"/>
                <a:sym typeface="Calibri"/>
              </a:rPr>
              <a:t>Language Models to</a:t>
            </a:r>
            <a:br>
              <a:rPr lang="en-US" sz="4145" b="1">
                <a:solidFill>
                  <a:srgbClr val="000000"/>
                </a:solidFill>
                <a:latin typeface="Calibri"/>
                <a:ea typeface="Calibri"/>
                <a:cs typeface="Calibri"/>
                <a:sym typeface="Calibri"/>
              </a:rPr>
            </a:br>
            <a:r>
              <a:rPr lang="en-US" sz="4145" b="1">
                <a:solidFill>
                  <a:srgbClr val="000000"/>
                </a:solidFill>
                <a:latin typeface="Calibri"/>
                <a:ea typeface="Calibri"/>
                <a:cs typeface="Calibri"/>
                <a:sym typeface="Calibri"/>
              </a:rPr>
              <a:t>Sponsored Search</a:t>
            </a:r>
            <a:endParaRPr sz="4145">
              <a:solidFill>
                <a:schemeClr val="dk1"/>
              </a:solidFill>
              <a:latin typeface="Calibri"/>
              <a:ea typeface="Calibri"/>
              <a:cs typeface="Calibri"/>
              <a:sym typeface="Calibri"/>
            </a:endParaRPr>
          </a:p>
        </p:txBody>
      </p:sp>
      <p:sp>
        <p:nvSpPr>
          <p:cNvPr id="12" name="Google Shape;12;p3"/>
          <p:cNvSpPr/>
          <p:nvPr/>
        </p:nvSpPr>
        <p:spPr>
          <a:xfrm>
            <a:off x="5657850" y="0"/>
            <a:ext cx="3486300" cy="5143500"/>
          </a:xfrm>
          <a:prstGeom prst="rect">
            <a:avLst/>
          </a:prstGeom>
          <a:solidFill>
            <a:srgbClr val="0047A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3"/>
          <p:cNvSpPr/>
          <p:nvPr/>
        </p:nvSpPr>
        <p:spPr>
          <a:xfrm>
            <a:off x="428550" y="3926077"/>
            <a:ext cx="2651400" cy="327900"/>
          </a:xfrm>
          <a:prstGeom prst="rect">
            <a:avLst/>
          </a:prstGeom>
          <a:noFill/>
          <a:ln>
            <a:noFill/>
          </a:ln>
        </p:spPr>
        <p:txBody>
          <a:bodyPr spcFirstLastPara="1" wrap="square" lIns="0" tIns="0" rIns="0" bIns="0" anchor="t" anchorCtr="0">
            <a:noAutofit/>
          </a:bodyPr>
          <a:lstStyle/>
          <a:p>
            <a:pPr marL="0" marR="0" lvl="0" indent="0" algn="l" rtl="0">
              <a:lnSpc>
                <a:spcPct val="133928"/>
              </a:lnSpc>
              <a:spcBef>
                <a:spcPts val="0"/>
              </a:spcBef>
              <a:spcAft>
                <a:spcPts val="0"/>
              </a:spcAft>
              <a:buClr>
                <a:srgbClr val="333333"/>
              </a:buClr>
              <a:buSzPts val="2016"/>
              <a:buFont typeface="Calibri"/>
              <a:buNone/>
            </a:pPr>
            <a:r>
              <a:rPr lang="en-US" sz="2016" b="1" dirty="0">
                <a:solidFill>
                  <a:srgbClr val="333333"/>
                </a:solidFill>
                <a:latin typeface="Calibri"/>
                <a:ea typeface="Calibri"/>
                <a:cs typeface="Calibri"/>
                <a:sym typeface="Calibri"/>
              </a:rPr>
              <a:t>Replication Presentation</a:t>
            </a:r>
            <a:endParaRPr sz="2016" dirty="0">
              <a:solidFill>
                <a:schemeClr val="dk1"/>
              </a:solidFill>
              <a:latin typeface="Calibri"/>
              <a:ea typeface="Calibri"/>
              <a:cs typeface="Calibri"/>
              <a:sym typeface="Calibri"/>
            </a:endParaRPr>
          </a:p>
        </p:txBody>
      </p:sp>
      <p:sp>
        <p:nvSpPr>
          <p:cNvPr id="14" name="Google Shape;14;p3"/>
          <p:cNvSpPr/>
          <p:nvPr/>
        </p:nvSpPr>
        <p:spPr>
          <a:xfrm>
            <a:off x="428550" y="3395055"/>
            <a:ext cx="5229300" cy="297300"/>
          </a:xfrm>
          <a:prstGeom prst="rect">
            <a:avLst/>
          </a:prstGeom>
          <a:noFill/>
          <a:ln>
            <a:noFill/>
          </a:ln>
        </p:spPr>
        <p:txBody>
          <a:bodyPr spcFirstLastPara="1" wrap="square" lIns="0" tIns="0" rIns="0" bIns="0" anchor="t" anchorCtr="0">
            <a:noAutofit/>
          </a:bodyPr>
          <a:lstStyle/>
          <a:p>
            <a:pPr marL="0" marR="0" lvl="0" indent="0" algn="l" rtl="0">
              <a:lnSpc>
                <a:spcPct val="167029"/>
              </a:lnSpc>
              <a:spcBef>
                <a:spcPts val="0"/>
              </a:spcBef>
              <a:spcAft>
                <a:spcPts val="0"/>
              </a:spcAft>
              <a:buClr>
                <a:srgbClr val="333333"/>
              </a:buClr>
              <a:buSzPts val="1377"/>
              <a:buFont typeface="Calibri"/>
              <a:buNone/>
            </a:pPr>
            <a:r>
              <a:rPr lang="en-US" sz="1377" dirty="0">
                <a:solidFill>
                  <a:srgbClr val="333333"/>
                </a:solidFill>
                <a:latin typeface="Calibri"/>
                <a:ea typeface="Calibri"/>
                <a:cs typeface="Calibri"/>
                <a:sym typeface="Calibri"/>
              </a:rPr>
              <a:t>Reisenbichler, </a:t>
            </a:r>
            <a:r>
              <a:rPr lang="en-US" sz="1377" dirty="0" err="1">
                <a:solidFill>
                  <a:srgbClr val="333333"/>
                </a:solidFill>
                <a:latin typeface="Calibri"/>
                <a:ea typeface="Calibri"/>
                <a:cs typeface="Calibri"/>
                <a:sym typeface="Calibri"/>
              </a:rPr>
              <a:t>Reutterer</a:t>
            </a:r>
            <a:r>
              <a:rPr lang="en-US" sz="1377" dirty="0">
                <a:solidFill>
                  <a:srgbClr val="333333"/>
                </a:solidFill>
                <a:latin typeface="Calibri"/>
                <a:ea typeface="Calibri"/>
                <a:cs typeface="Calibri"/>
                <a:sym typeface="Calibri"/>
              </a:rPr>
              <a:t> &amp; </a:t>
            </a:r>
            <a:r>
              <a:rPr lang="en-US" sz="1377" dirty="0" err="1">
                <a:solidFill>
                  <a:srgbClr val="333333"/>
                </a:solidFill>
                <a:latin typeface="Calibri"/>
                <a:ea typeface="Calibri"/>
                <a:cs typeface="Calibri"/>
                <a:sym typeface="Calibri"/>
              </a:rPr>
              <a:t>Schweidel</a:t>
            </a:r>
            <a:r>
              <a:rPr lang="en-US" sz="1377" dirty="0">
                <a:solidFill>
                  <a:srgbClr val="333333"/>
                </a:solidFill>
                <a:latin typeface="Calibri"/>
                <a:ea typeface="Calibri"/>
                <a:cs typeface="Calibri"/>
                <a:sym typeface="Calibri"/>
              </a:rPr>
              <a:t> (2025)</a:t>
            </a:r>
            <a:endParaRPr sz="1377" dirty="0">
              <a:solidFill>
                <a:schemeClr val="dk1"/>
              </a:solidFill>
              <a:latin typeface="Calibri"/>
              <a:ea typeface="Calibri"/>
              <a:cs typeface="Calibri"/>
              <a:sym typeface="Calibri"/>
            </a:endParaRPr>
          </a:p>
        </p:txBody>
      </p:sp>
      <p:sp>
        <p:nvSpPr>
          <p:cNvPr id="15" name="Google Shape;15;p3"/>
          <p:cNvSpPr/>
          <p:nvPr/>
        </p:nvSpPr>
        <p:spPr>
          <a:xfrm>
            <a:off x="296800" y="3049244"/>
            <a:ext cx="2463600" cy="405300"/>
          </a:xfrm>
          <a:prstGeom prst="rect">
            <a:avLst/>
          </a:prstGeom>
          <a:noFill/>
          <a:ln>
            <a:noFill/>
          </a:ln>
        </p:spPr>
        <p:txBody>
          <a:bodyPr spcFirstLastPara="1" wrap="square" lIns="136000" tIns="68050" rIns="136000" bIns="68050" anchor="t" anchorCtr="0">
            <a:noAutofit/>
          </a:bodyPr>
          <a:lstStyle/>
          <a:p>
            <a:pPr marL="0" marR="0" lvl="0" indent="0" algn="l" rtl="0">
              <a:lnSpc>
                <a:spcPct val="133422"/>
              </a:lnSpc>
              <a:spcBef>
                <a:spcPts val="0"/>
              </a:spcBef>
              <a:spcAft>
                <a:spcPts val="0"/>
              </a:spcAft>
              <a:buClr>
                <a:srgbClr val="FFFFFF"/>
              </a:buClr>
              <a:buSzPts val="1499"/>
              <a:buFont typeface="Calibri"/>
              <a:buNone/>
            </a:pPr>
            <a:r>
              <a:rPr lang="en-US" sz="1499" b="1">
                <a:solidFill>
                  <a:srgbClr val="FFFFFF"/>
                </a:solidFill>
                <a:highlight>
                  <a:schemeClr val="dk1"/>
                </a:highlight>
                <a:latin typeface="Calibri"/>
                <a:ea typeface="Calibri"/>
                <a:cs typeface="Calibri"/>
                <a:sym typeface="Calibri"/>
              </a:rPr>
              <a:t>MARKETING SCIENCE</a:t>
            </a:r>
            <a:endParaRPr sz="1499">
              <a:solidFill>
                <a:schemeClr val="dk1"/>
              </a:solidFill>
              <a:highlight>
                <a:schemeClr val="dk1"/>
              </a:highlight>
              <a:latin typeface="Calibri"/>
              <a:ea typeface="Calibri"/>
              <a:cs typeface="Calibri"/>
              <a:sym typeface="Calibri"/>
            </a:endParaRPr>
          </a:p>
        </p:txBody>
      </p:sp>
      <p:sp>
        <p:nvSpPr>
          <p:cNvPr id="3" name="TextBox 2">
            <a:extLst>
              <a:ext uri="{FF2B5EF4-FFF2-40B4-BE49-F238E27FC236}">
                <a16:creationId xmlns:a16="http://schemas.microsoft.com/office/drawing/2014/main" id="{E495E040-F9FF-8312-5A77-07E10F2AAEDA}"/>
              </a:ext>
            </a:extLst>
          </p:cNvPr>
          <p:cNvSpPr txBox="1"/>
          <p:nvPr/>
        </p:nvSpPr>
        <p:spPr>
          <a:xfrm>
            <a:off x="374698" y="4278238"/>
            <a:ext cx="4572000" cy="705258"/>
          </a:xfrm>
          <a:prstGeom prst="rect">
            <a:avLst/>
          </a:prstGeom>
          <a:noFill/>
        </p:spPr>
        <p:txBody>
          <a:bodyPr wrap="square">
            <a:spAutoFit/>
          </a:bodyPr>
          <a:lstStyle/>
          <a:p>
            <a:pPr>
              <a:lnSpc>
                <a:spcPct val="150000"/>
              </a:lnSpc>
            </a:pPr>
            <a:r>
              <a:rPr lang="en-US" altLang="zh-CN" b="1" dirty="0" err="1">
                <a:solidFill>
                  <a:srgbClr val="1F2328"/>
                </a:solidFill>
                <a:latin typeface="-apple-system"/>
              </a:rPr>
              <a:t>Qiuhong</a:t>
            </a:r>
            <a:r>
              <a:rPr lang="en-US" altLang="zh-CN" b="1" dirty="0">
                <a:solidFill>
                  <a:srgbClr val="1F2328"/>
                </a:solidFill>
                <a:latin typeface="-apple-system"/>
              </a:rPr>
              <a:t> Wei</a:t>
            </a:r>
            <a:r>
              <a:rPr lang="en-US" altLang="zh-CN" dirty="0">
                <a:solidFill>
                  <a:srgbClr val="1F2328"/>
                </a:solidFill>
                <a:latin typeface="-apple-system"/>
              </a:rPr>
              <a:t> – HKU Business School</a:t>
            </a:r>
            <a:endParaRPr lang="en-US" altLang="zh-CN" b="1" i="0" dirty="0">
              <a:solidFill>
                <a:srgbClr val="1F2328"/>
              </a:solidFill>
              <a:effectLst/>
              <a:latin typeface="-apple-system"/>
            </a:endParaRPr>
          </a:p>
          <a:p>
            <a:pPr algn="l">
              <a:lnSpc>
                <a:spcPct val="150000"/>
              </a:lnSpc>
            </a:pPr>
            <a:r>
              <a:rPr lang="en-US" altLang="zh-CN" b="1" i="0" dirty="0">
                <a:solidFill>
                  <a:srgbClr val="1F2328"/>
                </a:solidFill>
                <a:effectLst/>
                <a:latin typeface="-apple-system"/>
              </a:rPr>
              <a:t>Bozhi Xu</a:t>
            </a:r>
            <a:r>
              <a:rPr lang="en-US" altLang="zh-CN" b="0" i="0" dirty="0">
                <a:solidFill>
                  <a:srgbClr val="1F2328"/>
                </a:solidFill>
                <a:effectLst/>
                <a:latin typeface="-apple-system"/>
              </a:rPr>
              <a:t> – School of Accountancy, CUHK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
        <p:cNvGrpSpPr/>
        <p:nvPr/>
      </p:nvGrpSpPr>
      <p:grpSpPr>
        <a:xfrm>
          <a:off x="0" y="0"/>
          <a:ext cx="0" cy="0"/>
          <a:chOff x="0" y="0"/>
          <a:chExt cx="0" cy="0"/>
        </a:xfrm>
      </p:grpSpPr>
      <p:pic>
        <p:nvPicPr>
          <p:cNvPr id="21" name="Google Shape;21;p4"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2" name="Google Shape;22;p4"/>
          <p:cNvSpPr/>
          <p:nvPr/>
        </p:nvSpPr>
        <p:spPr>
          <a:xfrm>
            <a:off x="0" y="0"/>
            <a:ext cx="9144000" cy="2007226"/>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 name="Google Shape;23;p4"/>
          <p:cNvSpPr/>
          <p:nvPr/>
        </p:nvSpPr>
        <p:spPr>
          <a:xfrm>
            <a:off x="0" y="1992939"/>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 name="Google Shape;24;p4"/>
          <p:cNvSpPr/>
          <p:nvPr/>
        </p:nvSpPr>
        <p:spPr>
          <a:xfrm>
            <a:off x="428625" y="760642"/>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Background</a:t>
            </a:r>
            <a:endParaRPr sz="2862">
              <a:solidFill>
                <a:schemeClr val="dk1"/>
              </a:solidFill>
              <a:latin typeface="Calibri"/>
              <a:ea typeface="Calibri"/>
              <a:cs typeface="Calibri"/>
              <a:sym typeface="Calibri"/>
            </a:endParaRPr>
          </a:p>
        </p:txBody>
      </p:sp>
      <p:sp>
        <p:nvSpPr>
          <p:cNvPr id="25" name="Google Shape;25;p4"/>
          <p:cNvSpPr/>
          <p:nvPr/>
        </p:nvSpPr>
        <p:spPr>
          <a:xfrm>
            <a:off x="285750" y="2493001"/>
            <a:ext cx="2743200" cy="291108"/>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499" b="1">
                <a:latin typeface="Calibri"/>
                <a:ea typeface="Calibri"/>
                <a:cs typeface="Calibri"/>
                <a:sym typeface="Calibri"/>
              </a:rPr>
              <a:t>Google Ads</a:t>
            </a:r>
            <a:endParaRPr sz="1499" b="1">
              <a:latin typeface="Calibri"/>
              <a:ea typeface="Calibri"/>
              <a:cs typeface="Calibri"/>
              <a:sym typeface="Calibri"/>
            </a:endParaRPr>
          </a:p>
          <a:p>
            <a:pPr marL="0" marR="0" lvl="0" indent="0" algn="l" rtl="0">
              <a:lnSpc>
                <a:spcPct val="133422"/>
              </a:lnSpc>
              <a:spcBef>
                <a:spcPts val="1200"/>
              </a:spcBef>
              <a:spcAft>
                <a:spcPts val="0"/>
              </a:spcAft>
              <a:buClr>
                <a:srgbClr val="000000"/>
              </a:buClr>
              <a:buSzPts val="1499"/>
              <a:buFont typeface="Calibri"/>
              <a:buNone/>
            </a:pPr>
            <a:endParaRPr sz="1499" b="1">
              <a:latin typeface="Calibri"/>
              <a:ea typeface="Calibri"/>
              <a:cs typeface="Calibri"/>
              <a:sym typeface="Calibri"/>
            </a:endParaRPr>
          </a:p>
        </p:txBody>
      </p:sp>
      <p:sp>
        <p:nvSpPr>
          <p:cNvPr id="26" name="Google Shape;26;p4"/>
          <p:cNvSpPr/>
          <p:nvPr/>
        </p:nvSpPr>
        <p:spPr>
          <a:xfrm>
            <a:off x="285750" y="2955559"/>
            <a:ext cx="2743200" cy="1371544"/>
          </a:xfrm>
          <a:prstGeom prst="rect">
            <a:avLst/>
          </a:prstGeom>
          <a:noFill/>
          <a:ln>
            <a:noFill/>
          </a:ln>
        </p:spPr>
        <p:txBody>
          <a:bodyPr spcFirstLastPara="1" wrap="square" lIns="0" tIns="0" rIns="0" bIns="0" anchor="t" anchorCtr="0">
            <a:noAutofit/>
          </a:bodyPr>
          <a:lstStyle/>
          <a:p>
            <a:pPr marL="457200" lvl="0" indent="-307975" algn="l" rtl="0">
              <a:lnSpc>
                <a:spcPct val="115000"/>
              </a:lnSpc>
              <a:spcBef>
                <a:spcPts val="1200"/>
              </a:spcBef>
              <a:spcAft>
                <a:spcPts val="0"/>
              </a:spcAft>
              <a:buClr>
                <a:schemeClr val="dk1"/>
              </a:buClr>
              <a:buSzPts val="1250"/>
              <a:buFont typeface="Calibri"/>
              <a:buChar char="●"/>
            </a:pPr>
            <a:r>
              <a:rPr lang="en-US" sz="1250">
                <a:solidFill>
                  <a:schemeClr val="dk1"/>
                </a:solidFill>
                <a:latin typeface="Calibri"/>
                <a:ea typeface="Calibri"/>
                <a:cs typeface="Calibri"/>
                <a:sym typeface="Calibri"/>
              </a:rPr>
              <a:t>Ad copy quality</a:t>
            </a:r>
            <a:br>
              <a:rPr lang="en-US" sz="1250">
                <a:solidFill>
                  <a:schemeClr val="dk1"/>
                </a:solidFill>
                <a:latin typeface="Calibri"/>
                <a:ea typeface="Calibri"/>
                <a:cs typeface="Calibri"/>
                <a:sym typeface="Calibri"/>
              </a:rPr>
            </a:br>
            <a:endParaRPr sz="1250">
              <a:solidFill>
                <a:schemeClr val="dk1"/>
              </a:solidFill>
              <a:latin typeface="Calibri"/>
              <a:ea typeface="Calibri"/>
              <a:cs typeface="Calibri"/>
              <a:sym typeface="Calibri"/>
            </a:endParaRPr>
          </a:p>
          <a:p>
            <a:pPr marL="457200" lvl="0" indent="-307975" algn="l" rtl="0">
              <a:lnSpc>
                <a:spcPct val="115000"/>
              </a:lnSpc>
              <a:spcBef>
                <a:spcPts val="0"/>
              </a:spcBef>
              <a:spcAft>
                <a:spcPts val="0"/>
              </a:spcAft>
              <a:buClr>
                <a:schemeClr val="dk1"/>
              </a:buClr>
              <a:buSzPts val="1250"/>
              <a:buFont typeface="Calibri"/>
              <a:buChar char="●"/>
            </a:pPr>
            <a:r>
              <a:rPr lang="en-US" sz="1250">
                <a:solidFill>
                  <a:schemeClr val="dk1"/>
                </a:solidFill>
                <a:latin typeface="Calibri"/>
                <a:ea typeface="Calibri"/>
                <a:cs typeface="Calibri"/>
                <a:sym typeface="Calibri"/>
              </a:rPr>
              <a:t>Alignment with user search intent</a:t>
            </a:r>
            <a:br>
              <a:rPr lang="en-US" sz="1250">
                <a:solidFill>
                  <a:schemeClr val="dk1"/>
                </a:solidFill>
                <a:latin typeface="Calibri"/>
                <a:ea typeface="Calibri"/>
                <a:cs typeface="Calibri"/>
                <a:sym typeface="Calibri"/>
              </a:rPr>
            </a:br>
            <a:endParaRPr sz="1250">
              <a:solidFill>
                <a:schemeClr val="dk1"/>
              </a:solidFill>
              <a:latin typeface="Calibri"/>
              <a:ea typeface="Calibri"/>
              <a:cs typeface="Calibri"/>
              <a:sym typeface="Calibri"/>
            </a:endParaRPr>
          </a:p>
          <a:p>
            <a:pPr marL="457200" lvl="0" indent="-307975" algn="l" rtl="0">
              <a:lnSpc>
                <a:spcPct val="115000"/>
              </a:lnSpc>
              <a:spcBef>
                <a:spcPts val="0"/>
              </a:spcBef>
              <a:spcAft>
                <a:spcPts val="0"/>
              </a:spcAft>
              <a:buClr>
                <a:schemeClr val="dk1"/>
              </a:buClr>
              <a:buSzPts val="1250"/>
              <a:buFont typeface="Calibri"/>
              <a:buChar char="●"/>
            </a:pPr>
            <a:r>
              <a:rPr lang="en-US" sz="1250">
                <a:solidFill>
                  <a:schemeClr val="dk1"/>
                </a:solidFill>
                <a:latin typeface="Calibri"/>
                <a:ea typeface="Calibri"/>
                <a:cs typeface="Calibri"/>
                <a:sym typeface="Calibri"/>
              </a:rPr>
              <a:t>Consistency between ad text and the landing page</a:t>
            </a:r>
            <a:br>
              <a:rPr lang="en-US" sz="1250">
                <a:solidFill>
                  <a:schemeClr val="dk1"/>
                </a:solidFill>
                <a:latin typeface="Calibri"/>
                <a:ea typeface="Calibri"/>
                <a:cs typeface="Calibri"/>
                <a:sym typeface="Calibri"/>
              </a:rPr>
            </a:br>
            <a:endParaRPr sz="1250">
              <a:solidFill>
                <a:schemeClr val="dk1"/>
              </a:solidFill>
              <a:latin typeface="Calibri"/>
              <a:ea typeface="Calibri"/>
              <a:cs typeface="Calibri"/>
              <a:sym typeface="Calibri"/>
            </a:endParaRPr>
          </a:p>
          <a:p>
            <a:pPr marL="457200" lvl="0" indent="-307975" algn="l" rtl="0">
              <a:lnSpc>
                <a:spcPct val="115000"/>
              </a:lnSpc>
              <a:spcBef>
                <a:spcPts val="0"/>
              </a:spcBef>
              <a:spcAft>
                <a:spcPts val="0"/>
              </a:spcAft>
              <a:buClr>
                <a:schemeClr val="dk1"/>
              </a:buClr>
              <a:buSzPts val="1250"/>
              <a:buFont typeface="Calibri"/>
              <a:buChar char="●"/>
            </a:pPr>
            <a:r>
              <a:rPr lang="en-US" sz="1250">
                <a:solidFill>
                  <a:schemeClr val="dk1"/>
                </a:solidFill>
                <a:latin typeface="Calibri"/>
                <a:ea typeface="Calibri"/>
                <a:cs typeface="Calibri"/>
                <a:sym typeface="Calibri"/>
              </a:rPr>
              <a:t>Search Quality Score</a:t>
            </a:r>
            <a:endParaRPr sz="1250">
              <a:solidFill>
                <a:srgbClr val="333333"/>
              </a:solidFill>
              <a:latin typeface="Calibri"/>
              <a:ea typeface="Calibri"/>
              <a:cs typeface="Calibri"/>
              <a:sym typeface="Calibri"/>
            </a:endParaRPr>
          </a:p>
        </p:txBody>
      </p:sp>
      <p:sp>
        <p:nvSpPr>
          <p:cNvPr id="27" name="Google Shape;27;p4"/>
          <p:cNvSpPr/>
          <p:nvPr/>
        </p:nvSpPr>
        <p:spPr>
          <a:xfrm>
            <a:off x="3200400" y="2493001"/>
            <a:ext cx="2743200" cy="291108"/>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Prior Research</a:t>
            </a:r>
            <a:endParaRPr sz="1300" b="1">
              <a:solidFill>
                <a:schemeClr val="dk1"/>
              </a:solidFill>
            </a:endParaRPr>
          </a:p>
          <a:p>
            <a:pPr marL="0" lvl="0" indent="0" algn="l" rtl="0">
              <a:lnSpc>
                <a:spcPct val="115000"/>
              </a:lnSpc>
              <a:spcBef>
                <a:spcPts val="1400"/>
              </a:spcBef>
              <a:spcAft>
                <a:spcPts val="400"/>
              </a:spcAft>
              <a:buClr>
                <a:schemeClr val="dk1"/>
              </a:buClr>
              <a:buSzPts val="1100"/>
              <a:buFont typeface="Arial"/>
              <a:buNone/>
            </a:pPr>
            <a:endParaRPr sz="1300" b="1">
              <a:solidFill>
                <a:schemeClr val="dk1"/>
              </a:solidFill>
            </a:endParaRPr>
          </a:p>
        </p:txBody>
      </p:sp>
      <p:sp>
        <p:nvSpPr>
          <p:cNvPr id="28" name="Google Shape;28;p4"/>
          <p:cNvSpPr/>
          <p:nvPr/>
        </p:nvSpPr>
        <p:spPr>
          <a:xfrm>
            <a:off x="3200400" y="2955559"/>
            <a:ext cx="2743200" cy="1097235"/>
          </a:xfrm>
          <a:prstGeom prst="rect">
            <a:avLst/>
          </a:prstGeom>
          <a:noFill/>
          <a:ln>
            <a:noFill/>
          </a:ln>
        </p:spPr>
        <p:txBody>
          <a:bodyPr spcFirstLastPara="1" wrap="square" lIns="0" tIns="0" rIns="0" bIns="0" anchor="t" anchorCtr="0">
            <a:noAutofit/>
          </a:bodyPr>
          <a:lstStyle/>
          <a:p>
            <a:pPr marL="457200" lvl="0" indent="-307975" algn="l" rtl="0">
              <a:lnSpc>
                <a:spcPct val="115000"/>
              </a:lnSpc>
              <a:spcBef>
                <a:spcPts val="1200"/>
              </a:spcBef>
              <a:spcAft>
                <a:spcPts val="0"/>
              </a:spcAft>
              <a:buClr>
                <a:schemeClr val="dk1"/>
              </a:buClr>
              <a:buSzPts val="1250"/>
              <a:buFont typeface="Calibri"/>
              <a:buChar char="●"/>
            </a:pPr>
            <a:r>
              <a:rPr lang="en-US" sz="1250">
                <a:solidFill>
                  <a:srgbClr val="1A1818"/>
                </a:solidFill>
                <a:latin typeface="Calibri"/>
                <a:ea typeface="Calibri"/>
                <a:cs typeface="Calibri"/>
                <a:sym typeface="Calibri"/>
              </a:rPr>
              <a:t>LLMs marketing applications about human participants substitution (Reisenbichler et al. </a:t>
            </a:r>
            <a:r>
              <a:rPr lang="en-US" sz="1250">
                <a:solidFill>
                  <a:srgbClr val="162E6D"/>
                </a:solidFill>
                <a:latin typeface="Calibri"/>
                <a:ea typeface="Calibri"/>
                <a:cs typeface="Calibri"/>
                <a:sym typeface="Calibri"/>
              </a:rPr>
              <a:t>2022</a:t>
            </a:r>
            <a:r>
              <a:rPr lang="en-US" sz="1250">
                <a:solidFill>
                  <a:srgbClr val="1A1818"/>
                </a:solidFill>
                <a:latin typeface="Calibri"/>
                <a:ea typeface="Calibri"/>
                <a:cs typeface="Calibri"/>
                <a:sym typeface="Calibri"/>
              </a:rPr>
              <a:t>, Li et al. </a:t>
            </a:r>
            <a:r>
              <a:rPr lang="en-US" sz="1250">
                <a:solidFill>
                  <a:srgbClr val="162E6D"/>
                </a:solidFill>
                <a:latin typeface="Calibri"/>
                <a:ea typeface="Calibri"/>
                <a:cs typeface="Calibri"/>
                <a:sym typeface="Calibri"/>
              </a:rPr>
              <a:t>2024</a:t>
            </a:r>
            <a:r>
              <a:rPr lang="en-US" sz="1250">
                <a:solidFill>
                  <a:srgbClr val="1A1818"/>
                </a:solidFill>
                <a:latin typeface="Calibri"/>
                <a:ea typeface="Calibri"/>
                <a:cs typeface="Calibri"/>
                <a:sym typeface="Calibri"/>
              </a:rPr>
              <a:t>)</a:t>
            </a:r>
            <a:endParaRPr sz="1250">
              <a:solidFill>
                <a:srgbClr val="1A1818"/>
              </a:solidFill>
              <a:latin typeface="Calibri"/>
              <a:ea typeface="Calibri"/>
              <a:cs typeface="Calibri"/>
              <a:sym typeface="Calibri"/>
            </a:endParaRPr>
          </a:p>
          <a:p>
            <a:pPr marL="457200" lvl="0" indent="-307975" algn="l" rtl="0">
              <a:lnSpc>
                <a:spcPct val="115000"/>
              </a:lnSpc>
              <a:spcBef>
                <a:spcPts val="0"/>
              </a:spcBef>
              <a:spcAft>
                <a:spcPts val="0"/>
              </a:spcAft>
              <a:buClr>
                <a:schemeClr val="dk1"/>
              </a:buClr>
              <a:buSzPts val="1250"/>
              <a:buFont typeface="Calibri"/>
              <a:buChar char="●"/>
            </a:pPr>
            <a:r>
              <a:rPr lang="en-US" sz="1250">
                <a:solidFill>
                  <a:srgbClr val="1A1818"/>
                </a:solidFill>
                <a:latin typeface="Calibri"/>
                <a:ea typeface="Calibri"/>
                <a:cs typeface="Calibri"/>
                <a:sym typeface="Calibri"/>
              </a:rPr>
              <a:t>Firms started to leverage </a:t>
            </a:r>
            <a:r>
              <a:rPr lang="en-US" sz="1250" b="1">
                <a:solidFill>
                  <a:srgbClr val="1A1818"/>
                </a:solidFill>
                <a:latin typeface="Calibri"/>
                <a:ea typeface="Calibri"/>
                <a:cs typeface="Calibri"/>
                <a:sym typeface="Calibri"/>
              </a:rPr>
              <a:t>automatic keyword generation</a:t>
            </a:r>
            <a:r>
              <a:rPr lang="en-US" sz="1250">
                <a:solidFill>
                  <a:srgbClr val="1A1818"/>
                </a:solidFill>
                <a:latin typeface="Calibri"/>
                <a:ea typeface="Calibri"/>
                <a:cs typeface="Calibri"/>
                <a:sym typeface="Calibri"/>
              </a:rPr>
              <a:t> and content matching (e.g., Fujita et al. </a:t>
            </a:r>
            <a:r>
              <a:rPr lang="en-US" sz="1250">
                <a:solidFill>
                  <a:srgbClr val="162E6D"/>
                </a:solidFill>
                <a:latin typeface="Calibri"/>
                <a:ea typeface="Calibri"/>
                <a:cs typeface="Calibri"/>
                <a:sym typeface="Calibri"/>
              </a:rPr>
              <a:t>2010</a:t>
            </a:r>
            <a:r>
              <a:rPr lang="en-US" sz="1250">
                <a:solidFill>
                  <a:srgbClr val="1A1818"/>
                </a:solidFill>
                <a:latin typeface="Calibri"/>
                <a:ea typeface="Calibri"/>
                <a:cs typeface="Calibri"/>
                <a:sym typeface="Calibri"/>
              </a:rPr>
              <a:t>)</a:t>
            </a:r>
            <a:endParaRPr sz="1250">
              <a:solidFill>
                <a:schemeClr val="dk1"/>
              </a:solidFill>
              <a:latin typeface="Calibri"/>
              <a:ea typeface="Calibri"/>
              <a:cs typeface="Calibri"/>
              <a:sym typeface="Calibri"/>
            </a:endParaRPr>
          </a:p>
        </p:txBody>
      </p:sp>
      <p:sp>
        <p:nvSpPr>
          <p:cNvPr id="29" name="Google Shape;29;p4"/>
          <p:cNvSpPr/>
          <p:nvPr/>
        </p:nvSpPr>
        <p:spPr>
          <a:xfrm>
            <a:off x="6115050" y="2493001"/>
            <a:ext cx="2743200" cy="582216"/>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Research Gap</a:t>
            </a:r>
            <a:endParaRPr sz="1300" b="1">
              <a:solidFill>
                <a:schemeClr val="dk1"/>
              </a:solidFill>
            </a:endParaRPr>
          </a:p>
          <a:p>
            <a:pPr marL="0" marR="0" lvl="0" indent="0" algn="l" rtl="0">
              <a:lnSpc>
                <a:spcPct val="133422"/>
              </a:lnSpc>
              <a:spcBef>
                <a:spcPts val="400"/>
              </a:spcBef>
              <a:spcAft>
                <a:spcPts val="0"/>
              </a:spcAft>
              <a:buClr>
                <a:srgbClr val="000000"/>
              </a:buClr>
              <a:buSzPts val="1499"/>
              <a:buFont typeface="Calibri"/>
              <a:buNone/>
            </a:pPr>
            <a:endParaRPr sz="1499" b="1">
              <a:latin typeface="Calibri"/>
              <a:ea typeface="Calibri"/>
              <a:cs typeface="Calibri"/>
              <a:sym typeface="Calibri"/>
            </a:endParaRPr>
          </a:p>
        </p:txBody>
      </p:sp>
      <p:sp>
        <p:nvSpPr>
          <p:cNvPr id="30" name="Google Shape;30;p4"/>
          <p:cNvSpPr/>
          <p:nvPr/>
        </p:nvSpPr>
        <p:spPr>
          <a:xfrm>
            <a:off x="6115050" y="2955548"/>
            <a:ext cx="2743200" cy="1662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None/>
            </a:pPr>
            <a:r>
              <a:rPr lang="en-US" sz="1250">
                <a:solidFill>
                  <a:schemeClr val="dk1"/>
                </a:solidFill>
                <a:latin typeface="Calibri"/>
                <a:ea typeface="Calibri"/>
                <a:cs typeface="Calibri"/>
                <a:sym typeface="Calibri"/>
              </a:rPr>
              <a:t>Prior research focus on </a:t>
            </a:r>
            <a:r>
              <a:rPr lang="en-US" sz="1250" b="1">
                <a:solidFill>
                  <a:schemeClr val="dk1"/>
                </a:solidFill>
                <a:latin typeface="Calibri"/>
                <a:ea typeface="Calibri"/>
                <a:cs typeface="Calibri"/>
                <a:sym typeface="Calibri"/>
              </a:rPr>
              <a:t>bidding strategies and auction mechanisms</a:t>
            </a:r>
            <a:endParaRPr sz="1250" b="1">
              <a:solidFill>
                <a:schemeClr val="dk1"/>
              </a:solidFill>
              <a:latin typeface="Calibri"/>
              <a:ea typeface="Calibri"/>
              <a:cs typeface="Calibri"/>
              <a:sym typeface="Calibri"/>
            </a:endParaRPr>
          </a:p>
          <a:p>
            <a:pPr marL="457200" lvl="0" indent="-307975" algn="l" rtl="0">
              <a:lnSpc>
                <a:spcPct val="115000"/>
              </a:lnSpc>
              <a:spcBef>
                <a:spcPts val="1200"/>
              </a:spcBef>
              <a:spcAft>
                <a:spcPts val="0"/>
              </a:spcAft>
              <a:buClr>
                <a:schemeClr val="dk1"/>
              </a:buClr>
              <a:buSzPts val="1250"/>
              <a:buChar char="●"/>
            </a:pPr>
            <a:r>
              <a:rPr lang="en-US" sz="1250" b="1">
                <a:solidFill>
                  <a:schemeClr val="dk1"/>
                </a:solidFill>
                <a:latin typeface="Calibri"/>
                <a:ea typeface="Calibri"/>
                <a:cs typeface="Calibri"/>
                <a:sym typeface="Calibri"/>
              </a:rPr>
              <a:t>Little systematic research</a:t>
            </a:r>
            <a:r>
              <a:rPr lang="en-US" sz="1250">
                <a:solidFill>
                  <a:schemeClr val="dk1"/>
                </a:solidFill>
                <a:latin typeface="Calibri"/>
                <a:ea typeface="Calibri"/>
                <a:cs typeface="Calibri"/>
                <a:sym typeface="Calibri"/>
              </a:rPr>
              <a:t> examines how to </a:t>
            </a:r>
            <a:r>
              <a:rPr lang="en-US" sz="1250" b="1">
                <a:solidFill>
                  <a:schemeClr val="dk1"/>
                </a:solidFill>
                <a:latin typeface="Calibri"/>
                <a:ea typeface="Calibri"/>
                <a:cs typeface="Calibri"/>
                <a:sym typeface="Calibri"/>
              </a:rPr>
              <a:t>engineer effective ad copy</a:t>
            </a:r>
            <a:endParaRPr sz="1250" b="1">
              <a:solidFill>
                <a:schemeClr val="dk1"/>
              </a:solidFill>
              <a:latin typeface="Calibri"/>
              <a:ea typeface="Calibri"/>
              <a:cs typeface="Calibri"/>
              <a:sym typeface="Calibri"/>
            </a:endParaRPr>
          </a:p>
          <a:p>
            <a:pPr marL="457200" lvl="0" indent="-307975" algn="l" rtl="0">
              <a:lnSpc>
                <a:spcPct val="115000"/>
              </a:lnSpc>
              <a:spcBef>
                <a:spcPts val="0"/>
              </a:spcBef>
              <a:spcAft>
                <a:spcPts val="0"/>
              </a:spcAft>
              <a:buClr>
                <a:schemeClr val="dk1"/>
              </a:buClr>
              <a:buSzPts val="1250"/>
              <a:buFont typeface="Calibri"/>
              <a:buChar char="●"/>
            </a:pPr>
            <a:r>
              <a:rPr lang="en-US" sz="1250">
                <a:solidFill>
                  <a:schemeClr val="dk1"/>
                </a:solidFill>
                <a:latin typeface="Calibri"/>
                <a:ea typeface="Calibri"/>
                <a:cs typeface="Calibri"/>
                <a:sym typeface="Calibri"/>
              </a:rPr>
              <a:t>How LLMs </a:t>
            </a:r>
            <a:r>
              <a:rPr lang="en-US" sz="1250" b="1">
                <a:solidFill>
                  <a:schemeClr val="dk1"/>
                </a:solidFill>
                <a:latin typeface="Calibri"/>
                <a:ea typeface="Calibri"/>
                <a:cs typeface="Calibri"/>
                <a:sym typeface="Calibri"/>
              </a:rPr>
              <a:t>optimized for search engine objectives</a:t>
            </a:r>
            <a:endParaRPr sz="1250">
              <a:solidFill>
                <a:srgbClr val="333333"/>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5" descr="preencoded.png"/>
          <p:cNvPicPr preferRelativeResize="0"/>
          <p:nvPr/>
        </p:nvPicPr>
        <p:blipFill rotWithShape="1">
          <a:blip r:embed="rId3">
            <a:alphaModFix/>
          </a:blip>
          <a:srcRect/>
          <a:stretch/>
        </p:blipFill>
        <p:spPr>
          <a:xfrm>
            <a:off x="0" y="0"/>
            <a:ext cx="9144002" cy="5143501"/>
          </a:xfrm>
          <a:prstGeom prst="rect">
            <a:avLst/>
          </a:prstGeom>
          <a:noFill/>
          <a:ln>
            <a:noFill/>
          </a:ln>
        </p:spPr>
      </p:pic>
      <p:sp>
        <p:nvSpPr>
          <p:cNvPr id="37" name="Google Shape;37;p5"/>
          <p:cNvSpPr/>
          <p:nvPr/>
        </p:nvSpPr>
        <p:spPr>
          <a:xfrm>
            <a:off x="0" y="0"/>
            <a:ext cx="9144000" cy="20073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 name="Google Shape;38;p5"/>
          <p:cNvSpPr/>
          <p:nvPr/>
        </p:nvSpPr>
        <p:spPr>
          <a:xfrm>
            <a:off x="0" y="1992939"/>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 name="Google Shape;39;p5"/>
          <p:cNvSpPr/>
          <p:nvPr/>
        </p:nvSpPr>
        <p:spPr>
          <a:xfrm>
            <a:off x="428625" y="760642"/>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The Strategic Importance and Complexity of SEA</a:t>
            </a:r>
            <a:endParaRPr sz="2862">
              <a:solidFill>
                <a:schemeClr val="dk1"/>
              </a:solidFill>
              <a:latin typeface="Calibri"/>
              <a:ea typeface="Calibri"/>
              <a:cs typeface="Calibri"/>
              <a:sym typeface="Calibri"/>
            </a:endParaRPr>
          </a:p>
        </p:txBody>
      </p:sp>
      <p:sp>
        <p:nvSpPr>
          <p:cNvPr id="40" name="Google Shape;40;p5"/>
          <p:cNvSpPr/>
          <p:nvPr/>
        </p:nvSpPr>
        <p:spPr>
          <a:xfrm>
            <a:off x="285750" y="2493001"/>
            <a:ext cx="27432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High Stakes</a:t>
            </a:r>
            <a:endParaRPr sz="1499">
              <a:solidFill>
                <a:schemeClr val="dk1"/>
              </a:solidFill>
              <a:latin typeface="Calibri"/>
              <a:ea typeface="Calibri"/>
              <a:cs typeface="Calibri"/>
              <a:sym typeface="Calibri"/>
            </a:endParaRPr>
          </a:p>
        </p:txBody>
      </p:sp>
      <p:sp>
        <p:nvSpPr>
          <p:cNvPr id="41" name="Google Shape;41;p5"/>
          <p:cNvSpPr/>
          <p:nvPr/>
        </p:nvSpPr>
        <p:spPr>
          <a:xfrm>
            <a:off x="285750" y="2955559"/>
            <a:ext cx="2743200" cy="1371600"/>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Search Engine Advertising is a primary driver of digital traffic and conversions, representing a cornerstone of modern digital marketing strategy.</a:t>
            </a:r>
            <a:endParaRPr sz="1269">
              <a:solidFill>
                <a:schemeClr val="dk1"/>
              </a:solidFill>
              <a:latin typeface="Calibri"/>
              <a:ea typeface="Calibri"/>
              <a:cs typeface="Calibri"/>
              <a:sym typeface="Calibri"/>
            </a:endParaRPr>
          </a:p>
        </p:txBody>
      </p:sp>
      <p:sp>
        <p:nvSpPr>
          <p:cNvPr id="42" name="Google Shape;42;p5"/>
          <p:cNvSpPr/>
          <p:nvPr/>
        </p:nvSpPr>
        <p:spPr>
          <a:xfrm>
            <a:off x="3200400" y="2493001"/>
            <a:ext cx="27432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Complexity</a:t>
            </a:r>
            <a:endParaRPr sz="1499">
              <a:solidFill>
                <a:schemeClr val="dk1"/>
              </a:solidFill>
              <a:latin typeface="Calibri"/>
              <a:ea typeface="Calibri"/>
              <a:cs typeface="Calibri"/>
              <a:sym typeface="Calibri"/>
            </a:endParaRPr>
          </a:p>
        </p:txBody>
      </p:sp>
      <p:sp>
        <p:nvSpPr>
          <p:cNvPr id="43" name="Google Shape;43;p5"/>
          <p:cNvSpPr/>
          <p:nvPr/>
        </p:nvSpPr>
        <p:spPr>
          <a:xfrm>
            <a:off x="3200400" y="2955559"/>
            <a:ext cx="2743200" cy="1097100"/>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Ad rank is governed by a "Quality Score" that integrates expected click-through rates, ad relevance, and landing page experience.</a:t>
            </a:r>
            <a:endParaRPr sz="1269">
              <a:solidFill>
                <a:schemeClr val="dk1"/>
              </a:solidFill>
              <a:latin typeface="Calibri"/>
              <a:ea typeface="Calibri"/>
              <a:cs typeface="Calibri"/>
              <a:sym typeface="Calibri"/>
            </a:endParaRPr>
          </a:p>
        </p:txBody>
      </p:sp>
      <p:sp>
        <p:nvSpPr>
          <p:cNvPr id="44" name="Google Shape;44;p5"/>
          <p:cNvSpPr/>
          <p:nvPr/>
        </p:nvSpPr>
        <p:spPr>
          <a:xfrm>
            <a:off x="6115050" y="2493001"/>
            <a:ext cx="2743200" cy="5823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The Ad Copy Bottleneck</a:t>
            </a:r>
            <a:endParaRPr sz="1499">
              <a:solidFill>
                <a:schemeClr val="dk1"/>
              </a:solidFill>
              <a:latin typeface="Calibri"/>
              <a:ea typeface="Calibri"/>
              <a:cs typeface="Calibri"/>
              <a:sym typeface="Calibri"/>
            </a:endParaRPr>
          </a:p>
        </p:txBody>
      </p:sp>
      <p:sp>
        <p:nvSpPr>
          <p:cNvPr id="45" name="Google Shape;45;p5"/>
          <p:cNvSpPr/>
          <p:nvPr/>
        </p:nvSpPr>
        <p:spPr>
          <a:xfrm>
            <a:off x="6115050" y="2955542"/>
            <a:ext cx="2743200" cy="1371600"/>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Crafting effective ad copy is labor-intensive and constrained by strict platform formats, creating a significant optimization challenge.</a:t>
            </a:r>
            <a:endParaRPr sz="1269">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6" descr="preencoded.png"/>
          <p:cNvPicPr preferRelativeResize="0"/>
          <p:nvPr/>
        </p:nvPicPr>
        <p:blipFill rotWithShape="1">
          <a:blip r:embed="rId3">
            <a:alphaModFix/>
          </a:blip>
          <a:srcRect/>
          <a:stretch/>
        </p:blipFill>
        <p:spPr>
          <a:xfrm>
            <a:off x="0" y="0"/>
            <a:ext cx="9144002" cy="1362302"/>
          </a:xfrm>
          <a:prstGeom prst="rect">
            <a:avLst/>
          </a:prstGeom>
          <a:noFill/>
          <a:ln>
            <a:noFill/>
          </a:ln>
        </p:spPr>
      </p:pic>
      <p:sp>
        <p:nvSpPr>
          <p:cNvPr id="52" name="Google Shape;52;p6"/>
          <p:cNvSpPr/>
          <p:nvPr/>
        </p:nvSpPr>
        <p:spPr>
          <a:xfrm>
            <a:off x="0" y="0"/>
            <a:ext cx="9144000" cy="51435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 name="Google Shape;53;p6"/>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 name="Google Shape;54;p6"/>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Strategic Comparison: AI Implementation Methods</a:t>
            </a:r>
            <a:endParaRPr sz="2862">
              <a:solidFill>
                <a:schemeClr val="dk1"/>
              </a:solidFill>
              <a:latin typeface="Calibri"/>
              <a:ea typeface="Calibri"/>
              <a:cs typeface="Calibri"/>
              <a:sym typeface="Calibri"/>
            </a:endParaRPr>
          </a:p>
        </p:txBody>
      </p:sp>
      <p:sp>
        <p:nvSpPr>
          <p:cNvPr id="55" name="Google Shape;55;p6"/>
          <p:cNvSpPr/>
          <p:nvPr/>
        </p:nvSpPr>
        <p:spPr>
          <a:xfrm>
            <a:off x="1403275" y="1749350"/>
            <a:ext cx="1459500" cy="586800"/>
          </a:xfrm>
          <a:prstGeom prst="rect">
            <a:avLst/>
          </a:prstGeom>
          <a:solidFill>
            <a:srgbClr val="000000"/>
          </a:solidFill>
          <a:ln>
            <a:noFill/>
          </a:ln>
        </p:spPr>
        <p:txBody>
          <a:bodyPr spcFirstLastPara="1" wrap="square" lIns="67375" tIns="33675" rIns="67375" bIns="33675" anchor="t" anchorCtr="0">
            <a:noAutofit/>
          </a:bodyPr>
          <a:lstStyle/>
          <a:p>
            <a:pPr marL="0" marR="0" lvl="0" indent="0" algn="l" rtl="0">
              <a:spcBef>
                <a:spcPts val="0"/>
              </a:spcBef>
              <a:spcAft>
                <a:spcPts val="0"/>
              </a:spcAft>
              <a:buNone/>
            </a:pPr>
            <a:endParaRPr sz="1326">
              <a:solidFill>
                <a:schemeClr val="dk1"/>
              </a:solidFill>
              <a:latin typeface="Calibri"/>
              <a:ea typeface="Calibri"/>
              <a:cs typeface="Calibri"/>
              <a:sym typeface="Calibri"/>
            </a:endParaRPr>
          </a:p>
        </p:txBody>
      </p:sp>
      <p:sp>
        <p:nvSpPr>
          <p:cNvPr id="56" name="Google Shape;56;p6"/>
          <p:cNvSpPr/>
          <p:nvPr/>
        </p:nvSpPr>
        <p:spPr>
          <a:xfrm>
            <a:off x="1403275" y="1749350"/>
            <a:ext cx="1459500" cy="586800"/>
          </a:xfrm>
          <a:prstGeom prst="rect">
            <a:avLst/>
          </a:prstGeom>
          <a:noFill/>
          <a:ln>
            <a:noFill/>
          </a:ln>
        </p:spPr>
        <p:txBody>
          <a:bodyPr spcFirstLastPara="1" wrap="square" lIns="93925" tIns="93925" rIns="93925" bIns="93925" anchor="ctr" anchorCtr="0">
            <a:noAutofit/>
          </a:bodyPr>
          <a:lstStyle/>
          <a:p>
            <a:pPr marL="0" marR="0" lvl="0" indent="0" algn="l" rtl="0">
              <a:lnSpc>
                <a:spcPct val="133422"/>
              </a:lnSpc>
              <a:spcBef>
                <a:spcPts val="0"/>
              </a:spcBef>
              <a:spcAft>
                <a:spcPts val="0"/>
              </a:spcAft>
              <a:buClr>
                <a:srgbClr val="FFFFFF"/>
              </a:buClr>
              <a:buSzPts val="1104"/>
              <a:buFont typeface="Calibri"/>
              <a:buNone/>
            </a:pPr>
            <a:r>
              <a:rPr lang="en-US" sz="1104" b="1">
                <a:solidFill>
                  <a:srgbClr val="FFFFFF"/>
                </a:solidFill>
                <a:latin typeface="Calibri"/>
                <a:ea typeface="Calibri"/>
                <a:cs typeface="Calibri"/>
                <a:sym typeface="Calibri"/>
              </a:rPr>
              <a:t>Method</a:t>
            </a:r>
            <a:endParaRPr sz="1104">
              <a:solidFill>
                <a:schemeClr val="dk1"/>
              </a:solidFill>
              <a:latin typeface="Calibri"/>
              <a:ea typeface="Calibri"/>
              <a:cs typeface="Calibri"/>
              <a:sym typeface="Calibri"/>
            </a:endParaRPr>
          </a:p>
        </p:txBody>
      </p:sp>
      <p:sp>
        <p:nvSpPr>
          <p:cNvPr id="57" name="Google Shape;57;p6"/>
          <p:cNvSpPr/>
          <p:nvPr/>
        </p:nvSpPr>
        <p:spPr>
          <a:xfrm>
            <a:off x="2862920" y="1749350"/>
            <a:ext cx="1238100" cy="586800"/>
          </a:xfrm>
          <a:prstGeom prst="rect">
            <a:avLst/>
          </a:prstGeom>
          <a:solidFill>
            <a:srgbClr val="000000"/>
          </a:solidFill>
          <a:ln>
            <a:noFill/>
          </a:ln>
        </p:spPr>
        <p:txBody>
          <a:bodyPr spcFirstLastPara="1" wrap="square" lIns="67375" tIns="33675" rIns="67375" bIns="33675" anchor="t" anchorCtr="0">
            <a:noAutofit/>
          </a:bodyPr>
          <a:lstStyle/>
          <a:p>
            <a:pPr marL="0" marR="0" lvl="0" indent="0" algn="l" rtl="0">
              <a:spcBef>
                <a:spcPts val="0"/>
              </a:spcBef>
              <a:spcAft>
                <a:spcPts val="0"/>
              </a:spcAft>
              <a:buNone/>
            </a:pPr>
            <a:endParaRPr sz="1326">
              <a:solidFill>
                <a:schemeClr val="dk1"/>
              </a:solidFill>
              <a:latin typeface="Calibri"/>
              <a:ea typeface="Calibri"/>
              <a:cs typeface="Calibri"/>
              <a:sym typeface="Calibri"/>
            </a:endParaRPr>
          </a:p>
        </p:txBody>
      </p:sp>
      <p:sp>
        <p:nvSpPr>
          <p:cNvPr id="58" name="Google Shape;58;p6"/>
          <p:cNvSpPr/>
          <p:nvPr/>
        </p:nvSpPr>
        <p:spPr>
          <a:xfrm>
            <a:off x="2862920" y="1749350"/>
            <a:ext cx="1238100" cy="586800"/>
          </a:xfrm>
          <a:prstGeom prst="rect">
            <a:avLst/>
          </a:prstGeom>
          <a:noFill/>
          <a:ln>
            <a:noFill/>
          </a:ln>
        </p:spPr>
        <p:txBody>
          <a:bodyPr spcFirstLastPara="1" wrap="square" lIns="93925" tIns="93925" rIns="93925" bIns="93925" anchor="ctr" anchorCtr="0">
            <a:noAutofit/>
          </a:bodyPr>
          <a:lstStyle/>
          <a:p>
            <a:pPr marL="0" marR="0" lvl="0" indent="0" algn="l" rtl="0">
              <a:lnSpc>
                <a:spcPct val="133422"/>
              </a:lnSpc>
              <a:spcBef>
                <a:spcPts val="0"/>
              </a:spcBef>
              <a:spcAft>
                <a:spcPts val="0"/>
              </a:spcAft>
              <a:buClr>
                <a:srgbClr val="FFFFFF"/>
              </a:buClr>
              <a:buSzPts val="1104"/>
              <a:buFont typeface="Calibri"/>
              <a:buNone/>
            </a:pPr>
            <a:r>
              <a:rPr lang="en-US" sz="1104" b="1">
                <a:solidFill>
                  <a:srgbClr val="FFFFFF"/>
                </a:solidFill>
                <a:latin typeface="Calibri"/>
                <a:ea typeface="Calibri"/>
                <a:cs typeface="Calibri"/>
                <a:sym typeface="Calibri"/>
              </a:rPr>
              <a:t>What it modifies</a:t>
            </a:r>
            <a:endParaRPr sz="1104">
              <a:solidFill>
                <a:schemeClr val="dk1"/>
              </a:solidFill>
              <a:latin typeface="Calibri"/>
              <a:ea typeface="Calibri"/>
              <a:cs typeface="Calibri"/>
              <a:sym typeface="Calibri"/>
            </a:endParaRPr>
          </a:p>
        </p:txBody>
      </p:sp>
      <p:sp>
        <p:nvSpPr>
          <p:cNvPr id="59" name="Google Shape;59;p6"/>
          <p:cNvSpPr/>
          <p:nvPr/>
        </p:nvSpPr>
        <p:spPr>
          <a:xfrm>
            <a:off x="4101106" y="1749350"/>
            <a:ext cx="1679400" cy="586800"/>
          </a:xfrm>
          <a:prstGeom prst="rect">
            <a:avLst/>
          </a:prstGeom>
          <a:solidFill>
            <a:srgbClr val="000000"/>
          </a:solidFill>
          <a:ln>
            <a:noFill/>
          </a:ln>
        </p:spPr>
        <p:txBody>
          <a:bodyPr spcFirstLastPara="1" wrap="square" lIns="67375" tIns="33675" rIns="67375" bIns="33675" anchor="t" anchorCtr="0">
            <a:noAutofit/>
          </a:bodyPr>
          <a:lstStyle/>
          <a:p>
            <a:pPr marL="0" marR="0" lvl="0" indent="0" algn="l" rtl="0">
              <a:spcBef>
                <a:spcPts val="0"/>
              </a:spcBef>
              <a:spcAft>
                <a:spcPts val="0"/>
              </a:spcAft>
              <a:buNone/>
            </a:pPr>
            <a:endParaRPr sz="1326">
              <a:solidFill>
                <a:schemeClr val="dk1"/>
              </a:solidFill>
              <a:latin typeface="Calibri"/>
              <a:ea typeface="Calibri"/>
              <a:cs typeface="Calibri"/>
              <a:sym typeface="Calibri"/>
            </a:endParaRPr>
          </a:p>
        </p:txBody>
      </p:sp>
      <p:sp>
        <p:nvSpPr>
          <p:cNvPr id="60" name="Google Shape;60;p6"/>
          <p:cNvSpPr/>
          <p:nvPr/>
        </p:nvSpPr>
        <p:spPr>
          <a:xfrm>
            <a:off x="4101106" y="1749350"/>
            <a:ext cx="1679400" cy="586800"/>
          </a:xfrm>
          <a:prstGeom prst="rect">
            <a:avLst/>
          </a:prstGeom>
          <a:noFill/>
          <a:ln>
            <a:noFill/>
          </a:ln>
        </p:spPr>
        <p:txBody>
          <a:bodyPr spcFirstLastPara="1" wrap="square" lIns="93925" tIns="93925" rIns="93925" bIns="93925" anchor="ctr" anchorCtr="0">
            <a:noAutofit/>
          </a:bodyPr>
          <a:lstStyle/>
          <a:p>
            <a:pPr marL="0" marR="0" lvl="0" indent="0" algn="l" rtl="0">
              <a:lnSpc>
                <a:spcPct val="133422"/>
              </a:lnSpc>
              <a:spcBef>
                <a:spcPts val="0"/>
              </a:spcBef>
              <a:spcAft>
                <a:spcPts val="0"/>
              </a:spcAft>
              <a:buClr>
                <a:srgbClr val="FFFFFF"/>
              </a:buClr>
              <a:buSzPts val="1104"/>
              <a:buFont typeface="Calibri"/>
              <a:buNone/>
            </a:pPr>
            <a:r>
              <a:rPr lang="en-US" sz="1104" b="1">
                <a:solidFill>
                  <a:srgbClr val="FFFFFF"/>
                </a:solidFill>
                <a:latin typeface="Calibri"/>
                <a:ea typeface="Calibri"/>
                <a:cs typeface="Calibri"/>
                <a:sym typeface="Calibri"/>
              </a:rPr>
              <a:t>Typical use</a:t>
            </a:r>
            <a:endParaRPr sz="1104">
              <a:solidFill>
                <a:schemeClr val="dk1"/>
              </a:solidFill>
              <a:latin typeface="Calibri"/>
              <a:ea typeface="Calibri"/>
              <a:cs typeface="Calibri"/>
              <a:sym typeface="Calibri"/>
            </a:endParaRPr>
          </a:p>
        </p:txBody>
      </p:sp>
      <p:sp>
        <p:nvSpPr>
          <p:cNvPr id="61" name="Google Shape;61;p6"/>
          <p:cNvSpPr/>
          <p:nvPr/>
        </p:nvSpPr>
        <p:spPr>
          <a:xfrm>
            <a:off x="5780543" y="1749350"/>
            <a:ext cx="1728000" cy="586800"/>
          </a:xfrm>
          <a:prstGeom prst="rect">
            <a:avLst/>
          </a:prstGeom>
          <a:solidFill>
            <a:srgbClr val="000000"/>
          </a:solidFill>
          <a:ln>
            <a:noFill/>
          </a:ln>
        </p:spPr>
        <p:txBody>
          <a:bodyPr spcFirstLastPara="1" wrap="square" lIns="67375" tIns="33675" rIns="67375" bIns="33675" anchor="t" anchorCtr="0">
            <a:noAutofit/>
          </a:bodyPr>
          <a:lstStyle/>
          <a:p>
            <a:pPr marL="0" marR="0" lvl="0" indent="0" algn="l" rtl="0">
              <a:spcBef>
                <a:spcPts val="0"/>
              </a:spcBef>
              <a:spcAft>
                <a:spcPts val="0"/>
              </a:spcAft>
              <a:buNone/>
            </a:pPr>
            <a:endParaRPr sz="1326">
              <a:solidFill>
                <a:schemeClr val="dk1"/>
              </a:solidFill>
              <a:latin typeface="Calibri"/>
              <a:ea typeface="Calibri"/>
              <a:cs typeface="Calibri"/>
              <a:sym typeface="Calibri"/>
            </a:endParaRPr>
          </a:p>
        </p:txBody>
      </p:sp>
      <p:sp>
        <p:nvSpPr>
          <p:cNvPr id="62" name="Google Shape;62;p6"/>
          <p:cNvSpPr/>
          <p:nvPr/>
        </p:nvSpPr>
        <p:spPr>
          <a:xfrm>
            <a:off x="5780543" y="1749350"/>
            <a:ext cx="1728000" cy="586800"/>
          </a:xfrm>
          <a:prstGeom prst="rect">
            <a:avLst/>
          </a:prstGeom>
          <a:noFill/>
          <a:ln>
            <a:noFill/>
          </a:ln>
        </p:spPr>
        <p:txBody>
          <a:bodyPr spcFirstLastPara="1" wrap="square" lIns="93925" tIns="93925" rIns="93925" bIns="93925" anchor="ctr" anchorCtr="0">
            <a:noAutofit/>
          </a:bodyPr>
          <a:lstStyle/>
          <a:p>
            <a:pPr marL="0" marR="0" lvl="0" indent="0" algn="l" rtl="0">
              <a:lnSpc>
                <a:spcPct val="133422"/>
              </a:lnSpc>
              <a:spcBef>
                <a:spcPts val="0"/>
              </a:spcBef>
              <a:spcAft>
                <a:spcPts val="0"/>
              </a:spcAft>
              <a:buClr>
                <a:srgbClr val="FFFFFF"/>
              </a:buClr>
              <a:buSzPts val="1104"/>
              <a:buFont typeface="Calibri"/>
              <a:buNone/>
            </a:pPr>
            <a:r>
              <a:rPr lang="en-US" sz="1104" b="1">
                <a:solidFill>
                  <a:srgbClr val="FFFFFF"/>
                </a:solidFill>
                <a:latin typeface="Calibri"/>
                <a:ea typeface="Calibri"/>
                <a:cs typeface="Calibri"/>
                <a:sym typeface="Calibri"/>
              </a:rPr>
              <a:t>Limitation</a:t>
            </a:r>
            <a:endParaRPr sz="1104">
              <a:solidFill>
                <a:schemeClr val="dk1"/>
              </a:solidFill>
              <a:latin typeface="Calibri"/>
              <a:ea typeface="Calibri"/>
              <a:cs typeface="Calibri"/>
              <a:sym typeface="Calibri"/>
            </a:endParaRPr>
          </a:p>
        </p:txBody>
      </p:sp>
      <p:sp>
        <p:nvSpPr>
          <p:cNvPr id="63" name="Google Shape;63;p6"/>
          <p:cNvSpPr/>
          <p:nvPr/>
        </p:nvSpPr>
        <p:spPr>
          <a:xfrm>
            <a:off x="1403275" y="2336181"/>
            <a:ext cx="1459500" cy="856500"/>
          </a:xfrm>
          <a:prstGeom prst="rect">
            <a:avLst/>
          </a:prstGeom>
          <a:noFill/>
          <a:ln>
            <a:noFill/>
          </a:ln>
        </p:spPr>
        <p:txBody>
          <a:bodyPr spcFirstLastPara="1" wrap="square" lIns="93925" tIns="125275" rIns="93925" bIns="125275" anchor="t" anchorCtr="0">
            <a:noAutofit/>
          </a:bodyPr>
          <a:lstStyle/>
          <a:p>
            <a:pPr marL="0" marR="0" lvl="0" indent="0" algn="l" rtl="0">
              <a:lnSpc>
                <a:spcPct val="133422"/>
              </a:lnSpc>
              <a:spcBef>
                <a:spcPts val="0"/>
              </a:spcBef>
              <a:spcAft>
                <a:spcPts val="0"/>
              </a:spcAft>
              <a:buClr>
                <a:srgbClr val="000000"/>
              </a:buClr>
              <a:buSzPts val="1104"/>
              <a:buFont typeface="Calibri"/>
              <a:buNone/>
            </a:pPr>
            <a:r>
              <a:rPr lang="en-US" sz="1104" b="1">
                <a:solidFill>
                  <a:srgbClr val="000000"/>
                </a:solidFill>
                <a:latin typeface="Calibri"/>
                <a:ea typeface="Calibri"/>
                <a:cs typeface="Calibri"/>
                <a:sym typeface="Calibri"/>
              </a:rPr>
              <a:t>Prompt Engineering</a:t>
            </a:r>
            <a:endParaRPr sz="1104">
              <a:solidFill>
                <a:schemeClr val="dk1"/>
              </a:solidFill>
              <a:latin typeface="Calibri"/>
              <a:ea typeface="Calibri"/>
              <a:cs typeface="Calibri"/>
              <a:sym typeface="Calibri"/>
            </a:endParaRPr>
          </a:p>
        </p:txBody>
      </p:sp>
      <p:sp>
        <p:nvSpPr>
          <p:cNvPr id="64" name="Google Shape;64;p6"/>
          <p:cNvSpPr/>
          <p:nvPr/>
        </p:nvSpPr>
        <p:spPr>
          <a:xfrm>
            <a:off x="2862920" y="2336181"/>
            <a:ext cx="1238100" cy="856500"/>
          </a:xfrm>
          <a:prstGeom prst="rect">
            <a:avLst/>
          </a:prstGeom>
          <a:noFill/>
          <a:ln>
            <a:noFill/>
          </a:ln>
        </p:spPr>
        <p:txBody>
          <a:bodyPr spcFirstLastPara="1" wrap="square" lIns="93925" tIns="125275" rIns="93925" bIns="125275" anchor="t" anchorCtr="0">
            <a:noAutofit/>
          </a:bodyPr>
          <a:lstStyle/>
          <a:p>
            <a:pPr marL="0" marR="0" lvl="0" indent="0" algn="l" rtl="0">
              <a:lnSpc>
                <a:spcPct val="125391"/>
              </a:lnSpc>
              <a:spcBef>
                <a:spcPts val="0"/>
              </a:spcBef>
              <a:spcAft>
                <a:spcPts val="0"/>
              </a:spcAft>
              <a:buClr>
                <a:srgbClr val="333333"/>
              </a:buClr>
              <a:buSzPts val="1175"/>
              <a:buFont typeface="Calibri"/>
              <a:buNone/>
            </a:pPr>
            <a:r>
              <a:rPr lang="en-US" sz="1175">
                <a:solidFill>
                  <a:srgbClr val="333333"/>
                </a:solidFill>
                <a:latin typeface="Calibri"/>
                <a:ea typeface="Calibri"/>
                <a:cs typeface="Calibri"/>
                <a:sym typeface="Calibri"/>
              </a:rPr>
              <a:t>Input text only</a:t>
            </a:r>
            <a:endParaRPr sz="1175">
              <a:solidFill>
                <a:schemeClr val="dk1"/>
              </a:solidFill>
              <a:latin typeface="Calibri"/>
              <a:ea typeface="Calibri"/>
              <a:cs typeface="Calibri"/>
              <a:sym typeface="Calibri"/>
            </a:endParaRPr>
          </a:p>
        </p:txBody>
      </p:sp>
      <p:sp>
        <p:nvSpPr>
          <p:cNvPr id="65" name="Google Shape;65;p6"/>
          <p:cNvSpPr/>
          <p:nvPr/>
        </p:nvSpPr>
        <p:spPr>
          <a:xfrm>
            <a:off x="4101106" y="2336181"/>
            <a:ext cx="1679400" cy="856500"/>
          </a:xfrm>
          <a:prstGeom prst="rect">
            <a:avLst/>
          </a:prstGeom>
          <a:noFill/>
          <a:ln>
            <a:noFill/>
          </a:ln>
        </p:spPr>
        <p:txBody>
          <a:bodyPr spcFirstLastPara="1" wrap="square" lIns="93925" tIns="125275" rIns="93925" bIns="125275" anchor="t" anchorCtr="0">
            <a:noAutofit/>
          </a:bodyPr>
          <a:lstStyle/>
          <a:p>
            <a:pPr marL="0" marR="0" lvl="0" indent="0" algn="l" rtl="0">
              <a:lnSpc>
                <a:spcPct val="125391"/>
              </a:lnSpc>
              <a:spcBef>
                <a:spcPts val="0"/>
              </a:spcBef>
              <a:spcAft>
                <a:spcPts val="0"/>
              </a:spcAft>
              <a:buClr>
                <a:srgbClr val="333333"/>
              </a:buClr>
              <a:buSzPts val="1175"/>
              <a:buFont typeface="Calibri"/>
              <a:buNone/>
            </a:pPr>
            <a:r>
              <a:rPr lang="en-US" sz="1175">
                <a:solidFill>
                  <a:srgbClr val="333333"/>
                </a:solidFill>
                <a:latin typeface="Calibri"/>
                <a:ea typeface="Calibri"/>
                <a:cs typeface="Calibri"/>
                <a:sym typeface="Calibri"/>
              </a:rPr>
              <a:t>Quick adaptation, formatting tasks</a:t>
            </a:r>
            <a:endParaRPr sz="1175">
              <a:solidFill>
                <a:schemeClr val="dk1"/>
              </a:solidFill>
              <a:latin typeface="Calibri"/>
              <a:ea typeface="Calibri"/>
              <a:cs typeface="Calibri"/>
              <a:sym typeface="Calibri"/>
            </a:endParaRPr>
          </a:p>
        </p:txBody>
      </p:sp>
      <p:sp>
        <p:nvSpPr>
          <p:cNvPr id="66" name="Google Shape;66;p6"/>
          <p:cNvSpPr/>
          <p:nvPr/>
        </p:nvSpPr>
        <p:spPr>
          <a:xfrm>
            <a:off x="5780543" y="2336181"/>
            <a:ext cx="1728000" cy="856500"/>
          </a:xfrm>
          <a:prstGeom prst="rect">
            <a:avLst/>
          </a:prstGeom>
          <a:noFill/>
          <a:ln>
            <a:noFill/>
          </a:ln>
        </p:spPr>
        <p:txBody>
          <a:bodyPr spcFirstLastPara="1" wrap="square" lIns="93925" tIns="125275" rIns="93925" bIns="125275" anchor="t" anchorCtr="0">
            <a:noAutofit/>
          </a:bodyPr>
          <a:lstStyle/>
          <a:p>
            <a:pPr marL="0" marR="0" lvl="0" indent="0" algn="l" rtl="0">
              <a:lnSpc>
                <a:spcPct val="125391"/>
              </a:lnSpc>
              <a:spcBef>
                <a:spcPts val="0"/>
              </a:spcBef>
              <a:spcAft>
                <a:spcPts val="0"/>
              </a:spcAft>
              <a:buClr>
                <a:srgbClr val="333333"/>
              </a:buClr>
              <a:buSzPts val="1175"/>
              <a:buFont typeface="Calibri"/>
              <a:buNone/>
            </a:pPr>
            <a:r>
              <a:rPr lang="en-US" sz="1175">
                <a:solidFill>
                  <a:srgbClr val="333333"/>
                </a:solidFill>
                <a:latin typeface="Calibri"/>
                <a:ea typeface="Calibri"/>
                <a:cs typeface="Calibri"/>
                <a:sym typeface="Calibri"/>
              </a:rPr>
              <a:t>Hard to enforce consistency; lacks optimization</a:t>
            </a:r>
            <a:endParaRPr sz="1175">
              <a:solidFill>
                <a:schemeClr val="dk1"/>
              </a:solidFill>
              <a:latin typeface="Calibri"/>
              <a:ea typeface="Calibri"/>
              <a:cs typeface="Calibri"/>
              <a:sym typeface="Calibri"/>
            </a:endParaRPr>
          </a:p>
        </p:txBody>
      </p:sp>
      <p:sp>
        <p:nvSpPr>
          <p:cNvPr id="67" name="Google Shape;67;p6"/>
          <p:cNvSpPr/>
          <p:nvPr/>
        </p:nvSpPr>
        <p:spPr>
          <a:xfrm>
            <a:off x="1403275" y="3192743"/>
            <a:ext cx="1459500" cy="858900"/>
          </a:xfrm>
          <a:prstGeom prst="rect">
            <a:avLst/>
          </a:prstGeom>
          <a:noFill/>
          <a:ln>
            <a:noFill/>
          </a:ln>
        </p:spPr>
        <p:txBody>
          <a:bodyPr spcFirstLastPara="1" wrap="square" lIns="93925" tIns="125275" rIns="93925" bIns="125275" anchor="t" anchorCtr="0">
            <a:noAutofit/>
          </a:bodyPr>
          <a:lstStyle/>
          <a:p>
            <a:pPr marL="0" marR="0" lvl="0" indent="0" algn="l" rtl="0">
              <a:lnSpc>
                <a:spcPct val="133422"/>
              </a:lnSpc>
              <a:spcBef>
                <a:spcPts val="0"/>
              </a:spcBef>
              <a:spcAft>
                <a:spcPts val="0"/>
              </a:spcAft>
              <a:buClr>
                <a:srgbClr val="000000"/>
              </a:buClr>
              <a:buSzPts val="1104"/>
              <a:buFont typeface="Calibri"/>
              <a:buNone/>
            </a:pPr>
            <a:r>
              <a:rPr lang="en-US" sz="1104" b="1">
                <a:solidFill>
                  <a:srgbClr val="000000"/>
                </a:solidFill>
                <a:latin typeface="Calibri"/>
                <a:ea typeface="Calibri"/>
                <a:cs typeface="Calibri"/>
                <a:sym typeface="Calibri"/>
              </a:rPr>
              <a:t>Fine-Tuning</a:t>
            </a:r>
            <a:endParaRPr sz="1104">
              <a:solidFill>
                <a:schemeClr val="dk1"/>
              </a:solidFill>
              <a:latin typeface="Calibri"/>
              <a:ea typeface="Calibri"/>
              <a:cs typeface="Calibri"/>
              <a:sym typeface="Calibri"/>
            </a:endParaRPr>
          </a:p>
        </p:txBody>
      </p:sp>
      <p:sp>
        <p:nvSpPr>
          <p:cNvPr id="68" name="Google Shape;68;p6"/>
          <p:cNvSpPr/>
          <p:nvPr/>
        </p:nvSpPr>
        <p:spPr>
          <a:xfrm>
            <a:off x="2862920" y="3192743"/>
            <a:ext cx="1238100" cy="858900"/>
          </a:xfrm>
          <a:prstGeom prst="rect">
            <a:avLst/>
          </a:prstGeom>
          <a:noFill/>
          <a:ln>
            <a:noFill/>
          </a:ln>
        </p:spPr>
        <p:txBody>
          <a:bodyPr spcFirstLastPara="1" wrap="square" lIns="93925" tIns="125275" rIns="93925" bIns="125275" anchor="t" anchorCtr="0">
            <a:noAutofit/>
          </a:bodyPr>
          <a:lstStyle/>
          <a:p>
            <a:pPr marL="0" marR="0" lvl="0" indent="0" algn="l" rtl="0">
              <a:lnSpc>
                <a:spcPct val="125391"/>
              </a:lnSpc>
              <a:spcBef>
                <a:spcPts val="0"/>
              </a:spcBef>
              <a:spcAft>
                <a:spcPts val="0"/>
              </a:spcAft>
              <a:buClr>
                <a:srgbClr val="333333"/>
              </a:buClr>
              <a:buSzPts val="1175"/>
              <a:buFont typeface="Calibri"/>
              <a:buNone/>
            </a:pPr>
            <a:r>
              <a:rPr lang="en-US" sz="1175">
                <a:solidFill>
                  <a:srgbClr val="333333"/>
                </a:solidFill>
                <a:latin typeface="Calibri"/>
                <a:ea typeface="Calibri"/>
                <a:cs typeface="Calibri"/>
                <a:sym typeface="Calibri"/>
              </a:rPr>
              <a:t>Model weights</a:t>
            </a:r>
            <a:endParaRPr sz="1175">
              <a:solidFill>
                <a:schemeClr val="dk1"/>
              </a:solidFill>
              <a:latin typeface="Calibri"/>
              <a:ea typeface="Calibri"/>
              <a:cs typeface="Calibri"/>
              <a:sym typeface="Calibri"/>
            </a:endParaRPr>
          </a:p>
        </p:txBody>
      </p:sp>
      <p:sp>
        <p:nvSpPr>
          <p:cNvPr id="69" name="Google Shape;69;p6"/>
          <p:cNvSpPr/>
          <p:nvPr/>
        </p:nvSpPr>
        <p:spPr>
          <a:xfrm>
            <a:off x="4101106" y="3192743"/>
            <a:ext cx="1679400" cy="858900"/>
          </a:xfrm>
          <a:prstGeom prst="rect">
            <a:avLst/>
          </a:prstGeom>
          <a:noFill/>
          <a:ln>
            <a:noFill/>
          </a:ln>
        </p:spPr>
        <p:txBody>
          <a:bodyPr spcFirstLastPara="1" wrap="square" lIns="93925" tIns="125275" rIns="93925" bIns="125275" anchor="t" anchorCtr="0">
            <a:noAutofit/>
          </a:bodyPr>
          <a:lstStyle/>
          <a:p>
            <a:pPr marL="0" marR="0" lvl="0" indent="0" algn="l" rtl="0">
              <a:lnSpc>
                <a:spcPct val="125391"/>
              </a:lnSpc>
              <a:spcBef>
                <a:spcPts val="0"/>
              </a:spcBef>
              <a:spcAft>
                <a:spcPts val="0"/>
              </a:spcAft>
              <a:buClr>
                <a:srgbClr val="333333"/>
              </a:buClr>
              <a:buSzPts val="1175"/>
              <a:buFont typeface="Calibri"/>
              <a:buNone/>
            </a:pPr>
            <a:r>
              <a:rPr lang="en-US" sz="1175">
                <a:solidFill>
                  <a:srgbClr val="333333"/>
                </a:solidFill>
                <a:latin typeface="Calibri"/>
                <a:ea typeface="Calibri"/>
                <a:cs typeface="Calibri"/>
                <a:sym typeface="Calibri"/>
              </a:rPr>
              <a:t>Domain language, style, tasks with examples</a:t>
            </a:r>
            <a:endParaRPr sz="1175">
              <a:solidFill>
                <a:schemeClr val="dk1"/>
              </a:solidFill>
              <a:latin typeface="Calibri"/>
              <a:ea typeface="Calibri"/>
              <a:cs typeface="Calibri"/>
              <a:sym typeface="Calibri"/>
            </a:endParaRPr>
          </a:p>
        </p:txBody>
      </p:sp>
      <p:sp>
        <p:nvSpPr>
          <p:cNvPr id="70" name="Google Shape;70;p6"/>
          <p:cNvSpPr/>
          <p:nvPr/>
        </p:nvSpPr>
        <p:spPr>
          <a:xfrm>
            <a:off x="5780543" y="3192743"/>
            <a:ext cx="1728000" cy="858900"/>
          </a:xfrm>
          <a:prstGeom prst="rect">
            <a:avLst/>
          </a:prstGeom>
          <a:noFill/>
          <a:ln>
            <a:noFill/>
          </a:ln>
        </p:spPr>
        <p:txBody>
          <a:bodyPr spcFirstLastPara="1" wrap="square" lIns="93925" tIns="125275" rIns="93925" bIns="125275" anchor="t" anchorCtr="0">
            <a:noAutofit/>
          </a:bodyPr>
          <a:lstStyle/>
          <a:p>
            <a:pPr marL="0" marR="0" lvl="0" indent="0" algn="l" rtl="0">
              <a:lnSpc>
                <a:spcPct val="125391"/>
              </a:lnSpc>
              <a:spcBef>
                <a:spcPts val="0"/>
              </a:spcBef>
              <a:spcAft>
                <a:spcPts val="0"/>
              </a:spcAft>
              <a:buClr>
                <a:srgbClr val="333333"/>
              </a:buClr>
              <a:buSzPts val="1175"/>
              <a:buFont typeface="Calibri"/>
              <a:buNone/>
            </a:pPr>
            <a:r>
              <a:rPr lang="en-US" sz="1175">
                <a:solidFill>
                  <a:srgbClr val="333333"/>
                </a:solidFill>
                <a:latin typeface="Calibri"/>
                <a:ea typeface="Calibri"/>
                <a:cs typeface="Calibri"/>
                <a:sym typeface="Calibri"/>
              </a:rPr>
              <a:t>Expensive, requires data, can overfit</a:t>
            </a:r>
            <a:endParaRPr sz="1175">
              <a:solidFill>
                <a:schemeClr val="dk1"/>
              </a:solidFill>
              <a:latin typeface="Calibri"/>
              <a:ea typeface="Calibri"/>
              <a:cs typeface="Calibri"/>
              <a:sym typeface="Calibri"/>
            </a:endParaRPr>
          </a:p>
        </p:txBody>
      </p:sp>
      <p:sp>
        <p:nvSpPr>
          <p:cNvPr id="71" name="Google Shape;71;p6"/>
          <p:cNvSpPr/>
          <p:nvPr/>
        </p:nvSpPr>
        <p:spPr>
          <a:xfrm>
            <a:off x="1403275" y="4051937"/>
            <a:ext cx="6105300" cy="858900"/>
          </a:xfrm>
          <a:prstGeom prst="rect">
            <a:avLst/>
          </a:prstGeom>
          <a:solidFill>
            <a:srgbClr val="E6EEF7"/>
          </a:solidFill>
          <a:ln>
            <a:noFill/>
          </a:ln>
        </p:spPr>
        <p:txBody>
          <a:bodyPr spcFirstLastPara="1" wrap="square" lIns="67375" tIns="33675" rIns="67375" bIns="33675" anchor="t" anchorCtr="0">
            <a:noAutofit/>
          </a:bodyPr>
          <a:lstStyle/>
          <a:p>
            <a:pPr marL="0" marR="0" lvl="0" indent="0" algn="l" rtl="0">
              <a:spcBef>
                <a:spcPts val="0"/>
              </a:spcBef>
              <a:spcAft>
                <a:spcPts val="0"/>
              </a:spcAft>
              <a:buNone/>
            </a:pPr>
            <a:endParaRPr sz="1326">
              <a:solidFill>
                <a:schemeClr val="dk1"/>
              </a:solidFill>
              <a:latin typeface="Calibri"/>
              <a:ea typeface="Calibri"/>
              <a:cs typeface="Calibri"/>
              <a:sym typeface="Calibri"/>
            </a:endParaRPr>
          </a:p>
        </p:txBody>
      </p:sp>
      <p:sp>
        <p:nvSpPr>
          <p:cNvPr id="72" name="Google Shape;72;p6"/>
          <p:cNvSpPr/>
          <p:nvPr/>
        </p:nvSpPr>
        <p:spPr>
          <a:xfrm>
            <a:off x="1403275" y="4051937"/>
            <a:ext cx="1459500" cy="858900"/>
          </a:xfrm>
          <a:prstGeom prst="rect">
            <a:avLst/>
          </a:prstGeom>
          <a:noFill/>
          <a:ln>
            <a:noFill/>
          </a:ln>
        </p:spPr>
        <p:txBody>
          <a:bodyPr spcFirstLastPara="1" wrap="square" lIns="93925" tIns="125275" rIns="93925" bIns="125275" anchor="t" anchorCtr="0">
            <a:noAutofit/>
          </a:bodyPr>
          <a:lstStyle/>
          <a:p>
            <a:pPr marL="0" marR="0" lvl="0" indent="0" algn="l" rtl="0">
              <a:lnSpc>
                <a:spcPct val="133422"/>
              </a:lnSpc>
              <a:spcBef>
                <a:spcPts val="0"/>
              </a:spcBef>
              <a:spcAft>
                <a:spcPts val="0"/>
              </a:spcAft>
              <a:buClr>
                <a:srgbClr val="0047AB"/>
              </a:buClr>
              <a:buSzPts val="1104"/>
              <a:buFont typeface="Calibri"/>
              <a:buNone/>
            </a:pPr>
            <a:r>
              <a:rPr lang="en-US" sz="1104" b="1">
                <a:solidFill>
                  <a:srgbClr val="0047AB"/>
                </a:solidFill>
                <a:latin typeface="Calibri"/>
                <a:ea typeface="Calibri"/>
                <a:cs typeface="Calibri"/>
                <a:sym typeface="Calibri"/>
              </a:rPr>
              <a:t>Application Layer</a:t>
            </a:r>
            <a:endParaRPr sz="1104">
              <a:solidFill>
                <a:schemeClr val="dk1"/>
              </a:solidFill>
              <a:latin typeface="Calibri"/>
              <a:ea typeface="Calibri"/>
              <a:cs typeface="Calibri"/>
              <a:sym typeface="Calibri"/>
            </a:endParaRPr>
          </a:p>
        </p:txBody>
      </p:sp>
      <p:sp>
        <p:nvSpPr>
          <p:cNvPr id="73" name="Google Shape;73;p6"/>
          <p:cNvSpPr/>
          <p:nvPr/>
        </p:nvSpPr>
        <p:spPr>
          <a:xfrm>
            <a:off x="2862920" y="4051937"/>
            <a:ext cx="1238100" cy="858900"/>
          </a:xfrm>
          <a:prstGeom prst="rect">
            <a:avLst/>
          </a:prstGeom>
          <a:noFill/>
          <a:ln>
            <a:noFill/>
          </a:ln>
        </p:spPr>
        <p:txBody>
          <a:bodyPr spcFirstLastPara="1" wrap="square" lIns="93925" tIns="125275" rIns="93925" bIns="125275" anchor="t" anchorCtr="0">
            <a:noAutofit/>
          </a:bodyPr>
          <a:lstStyle/>
          <a:p>
            <a:pPr marL="0" marR="0" lvl="0" indent="0" algn="l" rtl="0">
              <a:lnSpc>
                <a:spcPct val="133422"/>
              </a:lnSpc>
              <a:spcBef>
                <a:spcPts val="0"/>
              </a:spcBef>
              <a:spcAft>
                <a:spcPts val="0"/>
              </a:spcAft>
              <a:buClr>
                <a:srgbClr val="333333"/>
              </a:buClr>
              <a:buSzPts val="1104"/>
              <a:buFont typeface="Calibri"/>
              <a:buNone/>
            </a:pPr>
            <a:r>
              <a:rPr lang="en-US" sz="1104" b="1">
                <a:solidFill>
                  <a:srgbClr val="333333"/>
                </a:solidFill>
                <a:latin typeface="Calibri"/>
                <a:ea typeface="Calibri"/>
                <a:cs typeface="Calibri"/>
                <a:sym typeface="Calibri"/>
              </a:rPr>
              <a:t>External logic &amp; workflow</a:t>
            </a:r>
            <a:endParaRPr sz="1104">
              <a:solidFill>
                <a:schemeClr val="dk1"/>
              </a:solidFill>
              <a:latin typeface="Calibri"/>
              <a:ea typeface="Calibri"/>
              <a:cs typeface="Calibri"/>
              <a:sym typeface="Calibri"/>
            </a:endParaRPr>
          </a:p>
        </p:txBody>
      </p:sp>
      <p:sp>
        <p:nvSpPr>
          <p:cNvPr id="74" name="Google Shape;74;p6"/>
          <p:cNvSpPr/>
          <p:nvPr/>
        </p:nvSpPr>
        <p:spPr>
          <a:xfrm>
            <a:off x="4101106" y="4051937"/>
            <a:ext cx="1679400" cy="858900"/>
          </a:xfrm>
          <a:prstGeom prst="rect">
            <a:avLst/>
          </a:prstGeom>
          <a:noFill/>
          <a:ln>
            <a:noFill/>
          </a:ln>
        </p:spPr>
        <p:txBody>
          <a:bodyPr spcFirstLastPara="1" wrap="square" lIns="93925" tIns="125275" rIns="93925" bIns="125275" anchor="t" anchorCtr="0">
            <a:noAutofit/>
          </a:bodyPr>
          <a:lstStyle/>
          <a:p>
            <a:pPr marL="0" marR="0" lvl="0" indent="0" algn="l" rtl="0">
              <a:lnSpc>
                <a:spcPct val="133422"/>
              </a:lnSpc>
              <a:spcBef>
                <a:spcPts val="0"/>
              </a:spcBef>
              <a:spcAft>
                <a:spcPts val="0"/>
              </a:spcAft>
              <a:buClr>
                <a:srgbClr val="333333"/>
              </a:buClr>
              <a:buSzPts val="1104"/>
              <a:buFont typeface="Calibri"/>
              <a:buNone/>
            </a:pPr>
            <a:r>
              <a:rPr lang="en-US" sz="1104" b="1">
                <a:solidFill>
                  <a:srgbClr val="333333"/>
                </a:solidFill>
                <a:latin typeface="Calibri"/>
                <a:ea typeface="Calibri"/>
                <a:cs typeface="Calibri"/>
                <a:sym typeface="Calibri"/>
              </a:rPr>
              <a:t>Tasks needing business rules, scoring, selection</a:t>
            </a:r>
            <a:endParaRPr sz="1104">
              <a:solidFill>
                <a:schemeClr val="dk1"/>
              </a:solidFill>
              <a:latin typeface="Calibri"/>
              <a:ea typeface="Calibri"/>
              <a:cs typeface="Calibri"/>
              <a:sym typeface="Calibri"/>
            </a:endParaRPr>
          </a:p>
        </p:txBody>
      </p:sp>
      <p:sp>
        <p:nvSpPr>
          <p:cNvPr id="75" name="Google Shape;75;p6"/>
          <p:cNvSpPr/>
          <p:nvPr/>
        </p:nvSpPr>
        <p:spPr>
          <a:xfrm>
            <a:off x="5780543" y="4051937"/>
            <a:ext cx="1728000" cy="858900"/>
          </a:xfrm>
          <a:prstGeom prst="rect">
            <a:avLst/>
          </a:prstGeom>
          <a:noFill/>
          <a:ln>
            <a:noFill/>
          </a:ln>
        </p:spPr>
        <p:txBody>
          <a:bodyPr spcFirstLastPara="1" wrap="square" lIns="93925" tIns="125275" rIns="93925" bIns="125275" anchor="t" anchorCtr="0">
            <a:noAutofit/>
          </a:bodyPr>
          <a:lstStyle/>
          <a:p>
            <a:pPr marL="0" marR="0" lvl="0" indent="0" algn="l" rtl="0">
              <a:lnSpc>
                <a:spcPct val="133422"/>
              </a:lnSpc>
              <a:spcBef>
                <a:spcPts val="0"/>
              </a:spcBef>
              <a:spcAft>
                <a:spcPts val="0"/>
              </a:spcAft>
              <a:buClr>
                <a:srgbClr val="333333"/>
              </a:buClr>
              <a:buSzPts val="1104"/>
              <a:buFont typeface="Calibri"/>
              <a:buNone/>
            </a:pPr>
            <a:r>
              <a:rPr lang="en-US" sz="1104" b="1">
                <a:solidFill>
                  <a:srgbClr val="333333"/>
                </a:solidFill>
                <a:latin typeface="Calibri"/>
                <a:ea typeface="Calibri"/>
                <a:cs typeface="Calibri"/>
                <a:sym typeface="Calibri"/>
              </a:rPr>
              <a:t>More engineering required up-front</a:t>
            </a:r>
            <a:endParaRPr sz="1104">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7"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82" name="Google Shape;82;p7"/>
          <p:cNvSpPr/>
          <p:nvPr/>
        </p:nvSpPr>
        <p:spPr>
          <a:xfrm>
            <a:off x="0" y="0"/>
            <a:ext cx="9144000" cy="1675209"/>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83;p7"/>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 name="Google Shape;84;p7"/>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Building the Application Layer: A 6-Step Framework</a:t>
            </a:r>
            <a:endParaRPr sz="2862">
              <a:solidFill>
                <a:schemeClr val="dk1"/>
              </a:solidFill>
              <a:latin typeface="Calibri"/>
              <a:ea typeface="Calibri"/>
              <a:cs typeface="Calibri"/>
              <a:sym typeface="Calibri"/>
            </a:endParaRPr>
          </a:p>
        </p:txBody>
      </p:sp>
      <p:sp>
        <p:nvSpPr>
          <p:cNvPr id="85" name="Google Shape;85;p7"/>
          <p:cNvSpPr/>
          <p:nvPr/>
        </p:nvSpPr>
        <p:spPr>
          <a:xfrm>
            <a:off x="428625" y="2110978"/>
            <a:ext cx="2619356"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01</a:t>
            </a:r>
            <a:endParaRPr sz="683">
              <a:solidFill>
                <a:schemeClr val="dk1"/>
              </a:solidFill>
              <a:latin typeface="Calibri"/>
              <a:ea typeface="Calibri"/>
              <a:cs typeface="Calibri"/>
              <a:sym typeface="Calibri"/>
            </a:endParaRPr>
          </a:p>
        </p:txBody>
      </p:sp>
      <p:sp>
        <p:nvSpPr>
          <p:cNvPr id="86" name="Google Shape;86;p7"/>
          <p:cNvSpPr/>
          <p:nvPr/>
        </p:nvSpPr>
        <p:spPr>
          <a:xfrm>
            <a:off x="428625" y="2282428"/>
            <a:ext cx="2619356" cy="188584"/>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Define Objective</a:t>
            </a:r>
            <a:endParaRPr sz="1090">
              <a:solidFill>
                <a:schemeClr val="dk1"/>
              </a:solidFill>
              <a:latin typeface="Calibri"/>
              <a:ea typeface="Calibri"/>
              <a:cs typeface="Calibri"/>
              <a:sym typeface="Calibri"/>
            </a:endParaRPr>
          </a:p>
        </p:txBody>
      </p:sp>
      <p:sp>
        <p:nvSpPr>
          <p:cNvPr id="87" name="Google Shape;87;p7"/>
          <p:cNvSpPr/>
          <p:nvPr/>
        </p:nvSpPr>
        <p:spPr>
          <a:xfrm>
            <a:off x="428625" y="2542449"/>
            <a:ext cx="2619356" cy="707231"/>
          </a:xfrm>
          <a:prstGeom prst="rect">
            <a:avLst/>
          </a:prstGeom>
          <a:noFill/>
          <a:ln>
            <a:noFill/>
          </a:ln>
        </p:spPr>
        <p:txBody>
          <a:bodyPr spcFirstLastPara="1" wrap="square" lIns="0" tIns="0" rIns="0" bIns="0" anchor="t" anchorCtr="0">
            <a:noAutofit/>
          </a:bodyPr>
          <a:lstStyle/>
          <a:p>
            <a:pPr marL="0" marR="0" lvl="0" indent="0" algn="l" rtl="0">
              <a:lnSpc>
                <a:spcPct val="163934"/>
              </a:lnSpc>
              <a:spcBef>
                <a:spcPts val="0"/>
              </a:spcBef>
              <a:spcAft>
                <a:spcPts val="0"/>
              </a:spcAft>
              <a:buClr>
                <a:srgbClr val="333333"/>
              </a:buClr>
              <a:buSzPts val="1159"/>
              <a:buFont typeface="Calibri"/>
              <a:buNone/>
            </a:pPr>
            <a:r>
              <a:rPr lang="en-US" sz="1159" dirty="0">
                <a:solidFill>
                  <a:srgbClr val="333333"/>
                </a:solidFill>
                <a:latin typeface="Calibri"/>
                <a:ea typeface="Calibri"/>
                <a:cs typeface="Calibri"/>
                <a:sym typeface="Calibri"/>
              </a:rPr>
              <a:t>Establish the optimization target (e.g., maximize clicks, conversions, or compliance).</a:t>
            </a:r>
            <a:endParaRPr sz="1159" dirty="0">
              <a:solidFill>
                <a:schemeClr val="dk1"/>
              </a:solidFill>
              <a:latin typeface="Calibri"/>
              <a:ea typeface="Calibri"/>
              <a:cs typeface="Calibri"/>
              <a:sym typeface="Calibri"/>
            </a:endParaRPr>
          </a:p>
        </p:txBody>
      </p:sp>
      <p:sp>
        <p:nvSpPr>
          <p:cNvPr id="88" name="Google Shape;88;p7"/>
          <p:cNvSpPr/>
          <p:nvPr/>
        </p:nvSpPr>
        <p:spPr>
          <a:xfrm>
            <a:off x="3262294" y="2110978"/>
            <a:ext cx="2619384"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02</a:t>
            </a:r>
            <a:endParaRPr sz="683">
              <a:solidFill>
                <a:schemeClr val="dk1"/>
              </a:solidFill>
              <a:latin typeface="Calibri"/>
              <a:ea typeface="Calibri"/>
              <a:cs typeface="Calibri"/>
              <a:sym typeface="Calibri"/>
            </a:endParaRPr>
          </a:p>
        </p:txBody>
      </p:sp>
      <p:sp>
        <p:nvSpPr>
          <p:cNvPr id="89" name="Google Shape;89;p7"/>
          <p:cNvSpPr/>
          <p:nvPr/>
        </p:nvSpPr>
        <p:spPr>
          <a:xfrm>
            <a:off x="3262294" y="2282428"/>
            <a:ext cx="2619384" cy="188584"/>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Structured Templates</a:t>
            </a:r>
            <a:endParaRPr sz="1090">
              <a:solidFill>
                <a:schemeClr val="dk1"/>
              </a:solidFill>
              <a:latin typeface="Calibri"/>
              <a:ea typeface="Calibri"/>
              <a:cs typeface="Calibri"/>
              <a:sym typeface="Calibri"/>
            </a:endParaRPr>
          </a:p>
        </p:txBody>
      </p:sp>
      <p:sp>
        <p:nvSpPr>
          <p:cNvPr id="90" name="Google Shape;90;p7"/>
          <p:cNvSpPr/>
          <p:nvPr/>
        </p:nvSpPr>
        <p:spPr>
          <a:xfrm>
            <a:off x="3262294" y="2542449"/>
            <a:ext cx="2619384" cy="707231"/>
          </a:xfrm>
          <a:prstGeom prst="rect">
            <a:avLst/>
          </a:prstGeom>
          <a:noFill/>
          <a:ln>
            <a:noFill/>
          </a:ln>
        </p:spPr>
        <p:txBody>
          <a:bodyPr spcFirstLastPara="1" wrap="square" lIns="0" tIns="0" rIns="0" bIns="0" anchor="t" anchorCtr="0">
            <a:noAutofit/>
          </a:bodyPr>
          <a:lstStyle/>
          <a:p>
            <a:pPr marL="0" marR="0" lvl="0" indent="0" algn="l" rtl="0">
              <a:lnSpc>
                <a:spcPct val="163934"/>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Build programmatic templates that enforce character limits and keyword rules.</a:t>
            </a:r>
            <a:endParaRPr sz="1159">
              <a:solidFill>
                <a:schemeClr val="dk1"/>
              </a:solidFill>
              <a:latin typeface="Calibri"/>
              <a:ea typeface="Calibri"/>
              <a:cs typeface="Calibri"/>
              <a:sym typeface="Calibri"/>
            </a:endParaRPr>
          </a:p>
        </p:txBody>
      </p:sp>
      <p:sp>
        <p:nvSpPr>
          <p:cNvPr id="91" name="Google Shape;91;p7"/>
          <p:cNvSpPr/>
          <p:nvPr/>
        </p:nvSpPr>
        <p:spPr>
          <a:xfrm>
            <a:off x="6095991" y="2110978"/>
            <a:ext cx="2619356"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03</a:t>
            </a:r>
            <a:endParaRPr sz="683">
              <a:solidFill>
                <a:schemeClr val="dk1"/>
              </a:solidFill>
              <a:latin typeface="Calibri"/>
              <a:ea typeface="Calibri"/>
              <a:cs typeface="Calibri"/>
              <a:sym typeface="Calibri"/>
            </a:endParaRPr>
          </a:p>
        </p:txBody>
      </p:sp>
      <p:sp>
        <p:nvSpPr>
          <p:cNvPr id="92" name="Google Shape;92;p7"/>
          <p:cNvSpPr/>
          <p:nvPr/>
        </p:nvSpPr>
        <p:spPr>
          <a:xfrm>
            <a:off x="6095991" y="2282428"/>
            <a:ext cx="2619356" cy="188584"/>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Generation Workflow</a:t>
            </a:r>
            <a:endParaRPr sz="1090">
              <a:solidFill>
                <a:schemeClr val="dk1"/>
              </a:solidFill>
              <a:latin typeface="Calibri"/>
              <a:ea typeface="Calibri"/>
              <a:cs typeface="Calibri"/>
              <a:sym typeface="Calibri"/>
            </a:endParaRPr>
          </a:p>
        </p:txBody>
      </p:sp>
      <p:sp>
        <p:nvSpPr>
          <p:cNvPr id="93" name="Google Shape;93;p7"/>
          <p:cNvSpPr/>
          <p:nvPr/>
        </p:nvSpPr>
        <p:spPr>
          <a:xfrm>
            <a:off x="6095991" y="2542449"/>
            <a:ext cx="2619356" cy="707231"/>
          </a:xfrm>
          <a:prstGeom prst="rect">
            <a:avLst/>
          </a:prstGeom>
          <a:noFill/>
          <a:ln>
            <a:noFill/>
          </a:ln>
        </p:spPr>
        <p:txBody>
          <a:bodyPr spcFirstLastPara="1" wrap="square" lIns="0" tIns="0" rIns="0" bIns="0" anchor="t" anchorCtr="0">
            <a:noAutofit/>
          </a:bodyPr>
          <a:lstStyle/>
          <a:p>
            <a:pPr marL="0" marR="0" lvl="0" indent="0" algn="l" rtl="0">
              <a:lnSpc>
                <a:spcPct val="163934"/>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Search the output space by generating multiple candidates (N=10-100) per request.</a:t>
            </a:r>
            <a:endParaRPr sz="1159">
              <a:solidFill>
                <a:schemeClr val="dk1"/>
              </a:solidFill>
              <a:latin typeface="Calibri"/>
              <a:ea typeface="Calibri"/>
              <a:cs typeface="Calibri"/>
              <a:sym typeface="Calibri"/>
            </a:endParaRPr>
          </a:p>
        </p:txBody>
      </p:sp>
      <p:sp>
        <p:nvSpPr>
          <p:cNvPr id="94" name="Google Shape;94;p7"/>
          <p:cNvSpPr/>
          <p:nvPr/>
        </p:nvSpPr>
        <p:spPr>
          <a:xfrm>
            <a:off x="428625" y="3816548"/>
            <a:ext cx="2619356"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04</a:t>
            </a:r>
            <a:endParaRPr sz="683">
              <a:solidFill>
                <a:schemeClr val="dk1"/>
              </a:solidFill>
              <a:latin typeface="Calibri"/>
              <a:ea typeface="Calibri"/>
              <a:cs typeface="Calibri"/>
              <a:sym typeface="Calibri"/>
            </a:endParaRPr>
          </a:p>
        </p:txBody>
      </p:sp>
      <p:sp>
        <p:nvSpPr>
          <p:cNvPr id="95" name="Google Shape;95;p7"/>
          <p:cNvSpPr/>
          <p:nvPr/>
        </p:nvSpPr>
        <p:spPr>
          <a:xfrm>
            <a:off x="428625" y="3987998"/>
            <a:ext cx="2619356" cy="188584"/>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Scoring Module</a:t>
            </a:r>
            <a:endParaRPr sz="1090">
              <a:solidFill>
                <a:schemeClr val="dk1"/>
              </a:solidFill>
              <a:latin typeface="Calibri"/>
              <a:ea typeface="Calibri"/>
              <a:cs typeface="Calibri"/>
              <a:sym typeface="Calibri"/>
            </a:endParaRPr>
          </a:p>
        </p:txBody>
      </p:sp>
      <p:sp>
        <p:nvSpPr>
          <p:cNvPr id="96" name="Google Shape;96;p7"/>
          <p:cNvSpPr/>
          <p:nvPr/>
        </p:nvSpPr>
        <p:spPr>
          <a:xfrm>
            <a:off x="428625" y="4248020"/>
            <a:ext cx="2619356" cy="707231"/>
          </a:xfrm>
          <a:prstGeom prst="rect">
            <a:avLst/>
          </a:prstGeom>
          <a:noFill/>
          <a:ln>
            <a:noFill/>
          </a:ln>
        </p:spPr>
        <p:txBody>
          <a:bodyPr spcFirstLastPara="1" wrap="square" lIns="0" tIns="0" rIns="0" bIns="0" anchor="t" anchorCtr="0">
            <a:noAutofit/>
          </a:bodyPr>
          <a:lstStyle/>
          <a:p>
            <a:pPr marL="0" marR="0" lvl="0" indent="0" algn="l" rtl="0">
              <a:lnSpc>
                <a:spcPct val="163934"/>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Evaluate candidates using relevance scoring, predicted CTR, or brand voice classifiers.</a:t>
            </a:r>
            <a:endParaRPr sz="1159">
              <a:solidFill>
                <a:schemeClr val="dk1"/>
              </a:solidFill>
              <a:latin typeface="Calibri"/>
              <a:ea typeface="Calibri"/>
              <a:cs typeface="Calibri"/>
              <a:sym typeface="Calibri"/>
            </a:endParaRPr>
          </a:p>
        </p:txBody>
      </p:sp>
      <p:sp>
        <p:nvSpPr>
          <p:cNvPr id="97" name="Google Shape;97;p7"/>
          <p:cNvSpPr/>
          <p:nvPr/>
        </p:nvSpPr>
        <p:spPr>
          <a:xfrm>
            <a:off x="3262294" y="3816548"/>
            <a:ext cx="2619384"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05</a:t>
            </a:r>
            <a:endParaRPr sz="683">
              <a:solidFill>
                <a:schemeClr val="dk1"/>
              </a:solidFill>
              <a:latin typeface="Calibri"/>
              <a:ea typeface="Calibri"/>
              <a:cs typeface="Calibri"/>
              <a:sym typeface="Calibri"/>
            </a:endParaRPr>
          </a:p>
        </p:txBody>
      </p:sp>
      <p:sp>
        <p:nvSpPr>
          <p:cNvPr id="98" name="Google Shape;98;p7"/>
          <p:cNvSpPr/>
          <p:nvPr/>
        </p:nvSpPr>
        <p:spPr>
          <a:xfrm>
            <a:off x="3262294" y="3987998"/>
            <a:ext cx="2619384" cy="188584"/>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Human-in-the-Loop</a:t>
            </a:r>
            <a:endParaRPr sz="1090">
              <a:solidFill>
                <a:schemeClr val="dk1"/>
              </a:solidFill>
              <a:latin typeface="Calibri"/>
              <a:ea typeface="Calibri"/>
              <a:cs typeface="Calibri"/>
              <a:sym typeface="Calibri"/>
            </a:endParaRPr>
          </a:p>
        </p:txBody>
      </p:sp>
      <p:sp>
        <p:nvSpPr>
          <p:cNvPr id="99" name="Google Shape;99;p7"/>
          <p:cNvSpPr/>
          <p:nvPr/>
        </p:nvSpPr>
        <p:spPr>
          <a:xfrm>
            <a:off x="3262294" y="4248020"/>
            <a:ext cx="2619384" cy="707231"/>
          </a:xfrm>
          <a:prstGeom prst="rect">
            <a:avLst/>
          </a:prstGeom>
          <a:noFill/>
          <a:ln>
            <a:noFill/>
          </a:ln>
        </p:spPr>
        <p:txBody>
          <a:bodyPr spcFirstLastPara="1" wrap="square" lIns="0" tIns="0" rIns="0" bIns="0" anchor="t" anchorCtr="0">
            <a:noAutofit/>
          </a:bodyPr>
          <a:lstStyle/>
          <a:p>
            <a:pPr marL="0" marR="0" lvl="0" indent="0" algn="l" rtl="0">
              <a:lnSpc>
                <a:spcPct val="163934"/>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Incorporate human review for final approval, editing, and strategic feedback.</a:t>
            </a:r>
            <a:endParaRPr sz="1159">
              <a:solidFill>
                <a:schemeClr val="dk1"/>
              </a:solidFill>
              <a:latin typeface="Calibri"/>
              <a:ea typeface="Calibri"/>
              <a:cs typeface="Calibri"/>
              <a:sym typeface="Calibri"/>
            </a:endParaRPr>
          </a:p>
        </p:txBody>
      </p:sp>
      <p:sp>
        <p:nvSpPr>
          <p:cNvPr id="100" name="Google Shape;100;p7"/>
          <p:cNvSpPr/>
          <p:nvPr/>
        </p:nvSpPr>
        <p:spPr>
          <a:xfrm>
            <a:off x="6095991" y="3816548"/>
            <a:ext cx="2619356"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06</a:t>
            </a:r>
            <a:endParaRPr sz="683">
              <a:solidFill>
                <a:schemeClr val="dk1"/>
              </a:solidFill>
              <a:latin typeface="Calibri"/>
              <a:ea typeface="Calibri"/>
              <a:cs typeface="Calibri"/>
              <a:sym typeface="Calibri"/>
            </a:endParaRPr>
          </a:p>
        </p:txBody>
      </p:sp>
      <p:sp>
        <p:nvSpPr>
          <p:cNvPr id="101" name="Google Shape;101;p7"/>
          <p:cNvSpPr/>
          <p:nvPr/>
        </p:nvSpPr>
        <p:spPr>
          <a:xfrm>
            <a:off x="6095991" y="3987998"/>
            <a:ext cx="2619356" cy="188584"/>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Service Deployment</a:t>
            </a:r>
            <a:endParaRPr sz="1090">
              <a:solidFill>
                <a:schemeClr val="dk1"/>
              </a:solidFill>
              <a:latin typeface="Calibri"/>
              <a:ea typeface="Calibri"/>
              <a:cs typeface="Calibri"/>
              <a:sym typeface="Calibri"/>
            </a:endParaRPr>
          </a:p>
        </p:txBody>
      </p:sp>
      <p:sp>
        <p:nvSpPr>
          <p:cNvPr id="102" name="Google Shape;102;p7"/>
          <p:cNvSpPr/>
          <p:nvPr/>
        </p:nvSpPr>
        <p:spPr>
          <a:xfrm>
            <a:off x="6095991" y="4248020"/>
            <a:ext cx="2619356" cy="707231"/>
          </a:xfrm>
          <a:prstGeom prst="rect">
            <a:avLst/>
          </a:prstGeom>
          <a:noFill/>
          <a:ln>
            <a:noFill/>
          </a:ln>
        </p:spPr>
        <p:txBody>
          <a:bodyPr spcFirstLastPara="1" wrap="square" lIns="0" tIns="0" rIns="0" bIns="0" anchor="t" anchorCtr="0">
            <a:noAutofit/>
          </a:bodyPr>
          <a:lstStyle/>
          <a:p>
            <a:pPr marL="0" marR="0" lvl="0" indent="0" algn="l" rtl="0">
              <a:lnSpc>
                <a:spcPct val="163934"/>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Wrap the entire pipeline as a microservice or Python module for enterprise use.</a:t>
            </a:r>
            <a:endParaRPr sz="1159">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8" descr="preencoded.png"/>
          <p:cNvPicPr preferRelativeResize="0"/>
          <p:nvPr/>
        </p:nvPicPr>
        <p:blipFill rotWithShape="1">
          <a:blip r:embed="rId3">
            <a:alphaModFix/>
          </a:blip>
          <a:srcRect/>
          <a:stretch/>
        </p:blipFill>
        <p:spPr>
          <a:xfrm>
            <a:off x="0" y="0"/>
            <a:ext cx="9144002" cy="5143501"/>
          </a:xfrm>
          <a:prstGeom prst="rect">
            <a:avLst/>
          </a:prstGeom>
          <a:noFill/>
          <a:ln>
            <a:noFill/>
          </a:ln>
        </p:spPr>
      </p:pic>
      <p:sp>
        <p:nvSpPr>
          <p:cNvPr id="109" name="Google Shape;109;p8"/>
          <p:cNvSpPr/>
          <p:nvPr/>
        </p:nvSpPr>
        <p:spPr>
          <a:xfrm>
            <a:off x="0" y="0"/>
            <a:ext cx="9144000" cy="1675209"/>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8"/>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 name="Google Shape;111;p8"/>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Steps 1-3: Objective, Templates, and Generation</a:t>
            </a:r>
            <a:endParaRPr sz="2862">
              <a:solidFill>
                <a:schemeClr val="dk1"/>
              </a:solidFill>
              <a:latin typeface="Calibri"/>
              <a:ea typeface="Calibri"/>
              <a:cs typeface="Calibri"/>
              <a:sym typeface="Calibri"/>
            </a:endParaRPr>
          </a:p>
        </p:txBody>
      </p:sp>
      <p:sp>
        <p:nvSpPr>
          <p:cNvPr id="112" name="Google Shape;112;p8"/>
          <p:cNvSpPr/>
          <p:nvPr/>
        </p:nvSpPr>
        <p:spPr>
          <a:xfrm>
            <a:off x="428625" y="2305645"/>
            <a:ext cx="428179"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01</a:t>
            </a:r>
            <a:endParaRPr sz="683">
              <a:solidFill>
                <a:schemeClr val="dk1"/>
              </a:solidFill>
              <a:latin typeface="Calibri"/>
              <a:ea typeface="Calibri"/>
              <a:cs typeface="Calibri"/>
              <a:sym typeface="Calibri"/>
            </a:endParaRPr>
          </a:p>
        </p:txBody>
      </p:sp>
      <p:sp>
        <p:nvSpPr>
          <p:cNvPr id="113" name="Google Shape;113;p8"/>
          <p:cNvSpPr/>
          <p:nvPr/>
        </p:nvSpPr>
        <p:spPr>
          <a:xfrm>
            <a:off x="428625" y="2444948"/>
            <a:ext cx="2571750" cy="220005"/>
          </a:xfrm>
          <a:prstGeom prst="rect">
            <a:avLst/>
          </a:prstGeom>
          <a:noFill/>
          <a:ln>
            <a:noFill/>
          </a:ln>
        </p:spPr>
        <p:txBody>
          <a:bodyPr spcFirstLastPara="1" wrap="square" lIns="0" tIns="0" rIns="0" bIns="0" anchor="t" anchorCtr="0">
            <a:noAutofit/>
          </a:bodyPr>
          <a:lstStyle/>
          <a:p>
            <a:pPr marL="0" marR="0" lvl="0" indent="0" algn="l" rtl="0">
              <a:lnSpc>
                <a:spcPct val="121689"/>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Define the Objective</a:t>
            </a:r>
            <a:endParaRPr sz="1397">
              <a:solidFill>
                <a:schemeClr val="dk1"/>
              </a:solidFill>
              <a:latin typeface="Calibri"/>
              <a:ea typeface="Calibri"/>
              <a:cs typeface="Calibri"/>
              <a:sym typeface="Calibri"/>
            </a:endParaRPr>
          </a:p>
        </p:txBody>
      </p:sp>
      <p:sp>
        <p:nvSpPr>
          <p:cNvPr id="114" name="Google Shape;114;p8"/>
          <p:cNvSpPr/>
          <p:nvPr/>
        </p:nvSpPr>
        <p:spPr>
          <a:xfrm>
            <a:off x="550069" y="2773454"/>
            <a:ext cx="2450306" cy="155377"/>
          </a:xfrm>
          <a:prstGeom prst="rect">
            <a:avLst/>
          </a:prstGeom>
          <a:noFill/>
          <a:ln>
            <a:noFill/>
          </a:ln>
        </p:spPr>
        <p:txBody>
          <a:bodyPr spcFirstLastPara="1" wrap="square" lIns="0" tIns="0" rIns="0" bIns="0" anchor="t" anchorCtr="0">
            <a:noAutofit/>
          </a:bodyPr>
          <a:lstStyle/>
          <a:p>
            <a:pPr marL="0" marR="0" lvl="0" indent="0" algn="l" rtl="0">
              <a:lnSpc>
                <a:spcPct val="140306"/>
              </a:lnSpc>
              <a:spcBef>
                <a:spcPts val="0"/>
              </a:spcBef>
              <a:spcAft>
                <a:spcPts val="0"/>
              </a:spcAft>
              <a:buClr>
                <a:srgbClr val="000000"/>
              </a:buClr>
              <a:buSzPts val="784"/>
              <a:buFont typeface="Calibri"/>
              <a:buNone/>
            </a:pPr>
            <a:r>
              <a:rPr lang="en-US" sz="1100" b="1" dirty="0">
                <a:solidFill>
                  <a:srgbClr val="000000"/>
                </a:solidFill>
                <a:latin typeface="Calibri"/>
                <a:ea typeface="Calibri"/>
                <a:cs typeface="Calibri"/>
                <a:sym typeface="Calibri"/>
              </a:rPr>
              <a:t>Primary Goal</a:t>
            </a:r>
            <a:endParaRPr sz="1100" dirty="0">
              <a:solidFill>
                <a:schemeClr val="dk1"/>
              </a:solidFill>
              <a:latin typeface="Calibri"/>
              <a:ea typeface="Calibri"/>
              <a:cs typeface="Calibri"/>
              <a:sym typeface="Calibri"/>
            </a:endParaRPr>
          </a:p>
        </p:txBody>
      </p:sp>
      <p:sp>
        <p:nvSpPr>
          <p:cNvPr id="115" name="Google Shape;115;p8"/>
          <p:cNvSpPr/>
          <p:nvPr/>
        </p:nvSpPr>
        <p:spPr>
          <a:xfrm>
            <a:off x="550069" y="2963205"/>
            <a:ext cx="2450306" cy="54861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Maximize ad clicks while managing CPC.</a:t>
            </a:r>
            <a:endParaRPr sz="1269">
              <a:solidFill>
                <a:schemeClr val="dk1"/>
              </a:solidFill>
              <a:latin typeface="Calibri"/>
              <a:ea typeface="Calibri"/>
              <a:cs typeface="Calibri"/>
              <a:sym typeface="Calibri"/>
            </a:endParaRPr>
          </a:p>
        </p:txBody>
      </p:sp>
      <p:sp>
        <p:nvSpPr>
          <p:cNvPr id="116" name="Google Shape;116;p8"/>
          <p:cNvSpPr/>
          <p:nvPr/>
        </p:nvSpPr>
        <p:spPr>
          <a:xfrm>
            <a:off x="550069" y="3584604"/>
            <a:ext cx="2450306" cy="155377"/>
          </a:xfrm>
          <a:prstGeom prst="rect">
            <a:avLst/>
          </a:prstGeom>
          <a:noFill/>
          <a:ln>
            <a:noFill/>
          </a:ln>
        </p:spPr>
        <p:txBody>
          <a:bodyPr spcFirstLastPara="1" wrap="square" lIns="0" tIns="0" rIns="0" bIns="0" anchor="t" anchorCtr="0">
            <a:noAutofit/>
          </a:bodyPr>
          <a:lstStyle/>
          <a:p>
            <a:pPr marL="0" marR="0" lvl="0" indent="0" algn="l" rtl="0">
              <a:lnSpc>
                <a:spcPct val="140306"/>
              </a:lnSpc>
              <a:spcBef>
                <a:spcPts val="0"/>
              </a:spcBef>
              <a:spcAft>
                <a:spcPts val="0"/>
              </a:spcAft>
              <a:buClr>
                <a:srgbClr val="000000"/>
              </a:buClr>
              <a:buSzPts val="784"/>
              <a:buFont typeface="Calibri"/>
              <a:buNone/>
            </a:pPr>
            <a:r>
              <a:rPr lang="en-US" sz="1100" b="1" dirty="0">
                <a:solidFill>
                  <a:srgbClr val="000000"/>
                </a:solidFill>
                <a:latin typeface="Calibri"/>
                <a:ea typeface="Calibri"/>
                <a:cs typeface="Calibri"/>
                <a:sym typeface="Calibri"/>
              </a:rPr>
              <a:t>Secondary Goals</a:t>
            </a:r>
            <a:endParaRPr sz="1100" dirty="0">
              <a:solidFill>
                <a:schemeClr val="dk1"/>
              </a:solidFill>
              <a:latin typeface="Calibri"/>
              <a:ea typeface="Calibri"/>
              <a:cs typeface="Calibri"/>
              <a:sym typeface="Calibri"/>
            </a:endParaRPr>
          </a:p>
        </p:txBody>
      </p:sp>
      <p:sp>
        <p:nvSpPr>
          <p:cNvPr id="117" name="Google Shape;117;p8"/>
          <p:cNvSpPr/>
          <p:nvPr/>
        </p:nvSpPr>
        <p:spPr>
          <a:xfrm>
            <a:off x="550069" y="3774356"/>
            <a:ext cx="2450306" cy="54861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Conversion, engagement, or brand tone compliance.</a:t>
            </a:r>
            <a:endParaRPr sz="1269">
              <a:solidFill>
                <a:schemeClr val="dk1"/>
              </a:solidFill>
              <a:latin typeface="Calibri"/>
              <a:ea typeface="Calibri"/>
              <a:cs typeface="Calibri"/>
              <a:sym typeface="Calibri"/>
            </a:endParaRPr>
          </a:p>
        </p:txBody>
      </p:sp>
      <p:sp>
        <p:nvSpPr>
          <p:cNvPr id="118" name="Google Shape;118;p8"/>
          <p:cNvSpPr/>
          <p:nvPr/>
        </p:nvSpPr>
        <p:spPr>
          <a:xfrm>
            <a:off x="3286125" y="2305645"/>
            <a:ext cx="428179"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02</a:t>
            </a:r>
            <a:endParaRPr sz="683">
              <a:solidFill>
                <a:schemeClr val="dk1"/>
              </a:solidFill>
              <a:latin typeface="Calibri"/>
              <a:ea typeface="Calibri"/>
              <a:cs typeface="Calibri"/>
              <a:sym typeface="Calibri"/>
            </a:endParaRPr>
          </a:p>
        </p:txBody>
      </p:sp>
      <p:sp>
        <p:nvSpPr>
          <p:cNvPr id="119" name="Google Shape;119;p8"/>
          <p:cNvSpPr/>
          <p:nvPr/>
        </p:nvSpPr>
        <p:spPr>
          <a:xfrm>
            <a:off x="3286125" y="2444948"/>
            <a:ext cx="2571750" cy="220005"/>
          </a:xfrm>
          <a:prstGeom prst="rect">
            <a:avLst/>
          </a:prstGeom>
          <a:noFill/>
          <a:ln>
            <a:noFill/>
          </a:ln>
        </p:spPr>
        <p:txBody>
          <a:bodyPr spcFirstLastPara="1" wrap="square" lIns="0" tIns="0" rIns="0" bIns="0" anchor="t" anchorCtr="0">
            <a:noAutofit/>
          </a:bodyPr>
          <a:lstStyle/>
          <a:p>
            <a:pPr marL="0" marR="0" lvl="0" indent="0" algn="l" rtl="0">
              <a:lnSpc>
                <a:spcPct val="121689"/>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Structured Templates</a:t>
            </a:r>
            <a:endParaRPr sz="1397">
              <a:solidFill>
                <a:schemeClr val="dk1"/>
              </a:solidFill>
              <a:latin typeface="Calibri"/>
              <a:ea typeface="Calibri"/>
              <a:cs typeface="Calibri"/>
              <a:sym typeface="Calibri"/>
            </a:endParaRPr>
          </a:p>
        </p:txBody>
      </p:sp>
      <p:sp>
        <p:nvSpPr>
          <p:cNvPr id="120" name="Google Shape;120;p8"/>
          <p:cNvSpPr/>
          <p:nvPr/>
        </p:nvSpPr>
        <p:spPr>
          <a:xfrm>
            <a:off x="3286125" y="2807829"/>
            <a:ext cx="2571750" cy="109723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Templates are programmatically assembled based on data and business rules, enforcing:</a:t>
            </a:r>
            <a:endParaRPr sz="1269">
              <a:solidFill>
                <a:schemeClr val="dk1"/>
              </a:solidFill>
              <a:latin typeface="Calibri"/>
              <a:ea typeface="Calibri"/>
              <a:cs typeface="Calibri"/>
              <a:sym typeface="Calibri"/>
            </a:endParaRPr>
          </a:p>
        </p:txBody>
      </p:sp>
      <p:sp>
        <p:nvSpPr>
          <p:cNvPr id="121" name="Google Shape;121;p8"/>
          <p:cNvSpPr/>
          <p:nvPr/>
        </p:nvSpPr>
        <p:spPr>
          <a:xfrm>
            <a:off x="3407569" y="3905064"/>
            <a:ext cx="2450306" cy="54861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Mandatory fields &amp; character limits.</a:t>
            </a:r>
            <a:endParaRPr sz="1269">
              <a:solidFill>
                <a:schemeClr val="dk1"/>
              </a:solidFill>
              <a:latin typeface="Calibri"/>
              <a:ea typeface="Calibri"/>
              <a:cs typeface="Calibri"/>
              <a:sym typeface="Calibri"/>
            </a:endParaRPr>
          </a:p>
        </p:txBody>
      </p:sp>
      <p:sp>
        <p:nvSpPr>
          <p:cNvPr id="122" name="Google Shape;122;p8"/>
          <p:cNvSpPr/>
          <p:nvPr/>
        </p:nvSpPr>
        <p:spPr>
          <a:xfrm>
            <a:off x="3407569" y="4560838"/>
            <a:ext cx="2450306" cy="54861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dirty="0">
                <a:solidFill>
                  <a:srgbClr val="333333"/>
                </a:solidFill>
                <a:latin typeface="Calibri"/>
                <a:ea typeface="Calibri"/>
                <a:cs typeface="Calibri"/>
                <a:sym typeface="Calibri"/>
              </a:rPr>
              <a:t>Keyword insertion rules &amp; SEA constraints.</a:t>
            </a:r>
            <a:endParaRPr sz="1269" dirty="0">
              <a:solidFill>
                <a:schemeClr val="dk1"/>
              </a:solidFill>
              <a:latin typeface="Calibri"/>
              <a:ea typeface="Calibri"/>
              <a:cs typeface="Calibri"/>
              <a:sym typeface="Calibri"/>
            </a:endParaRPr>
          </a:p>
        </p:txBody>
      </p:sp>
      <p:sp>
        <p:nvSpPr>
          <p:cNvPr id="123" name="Google Shape;123;p8"/>
          <p:cNvSpPr/>
          <p:nvPr/>
        </p:nvSpPr>
        <p:spPr>
          <a:xfrm>
            <a:off x="6143625" y="2305645"/>
            <a:ext cx="428179"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03</a:t>
            </a:r>
            <a:endParaRPr sz="683">
              <a:solidFill>
                <a:schemeClr val="dk1"/>
              </a:solidFill>
              <a:latin typeface="Calibri"/>
              <a:ea typeface="Calibri"/>
              <a:cs typeface="Calibri"/>
              <a:sym typeface="Calibri"/>
            </a:endParaRPr>
          </a:p>
        </p:txBody>
      </p:sp>
      <p:sp>
        <p:nvSpPr>
          <p:cNvPr id="124" name="Google Shape;124;p8"/>
          <p:cNvSpPr/>
          <p:nvPr/>
        </p:nvSpPr>
        <p:spPr>
          <a:xfrm>
            <a:off x="6143625" y="2444948"/>
            <a:ext cx="2571750" cy="440010"/>
          </a:xfrm>
          <a:prstGeom prst="rect">
            <a:avLst/>
          </a:prstGeom>
          <a:noFill/>
          <a:ln>
            <a:noFill/>
          </a:ln>
        </p:spPr>
        <p:txBody>
          <a:bodyPr spcFirstLastPara="1" wrap="square" lIns="0" tIns="0" rIns="0" bIns="0" anchor="t" anchorCtr="0">
            <a:noAutofit/>
          </a:bodyPr>
          <a:lstStyle/>
          <a:p>
            <a:pPr marL="0" marR="0" lvl="0" indent="0" algn="l" rtl="0">
              <a:lnSpc>
                <a:spcPct val="121689"/>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Generation Workflow</a:t>
            </a:r>
            <a:endParaRPr sz="1397">
              <a:solidFill>
                <a:schemeClr val="dk1"/>
              </a:solidFill>
              <a:latin typeface="Calibri"/>
              <a:ea typeface="Calibri"/>
              <a:cs typeface="Calibri"/>
              <a:sym typeface="Calibri"/>
            </a:endParaRPr>
          </a:p>
        </p:txBody>
      </p:sp>
      <p:sp>
        <p:nvSpPr>
          <p:cNvPr id="125" name="Google Shape;125;p8"/>
          <p:cNvSpPr/>
          <p:nvPr/>
        </p:nvSpPr>
        <p:spPr>
          <a:xfrm>
            <a:off x="6143625" y="2807829"/>
            <a:ext cx="2571750" cy="54861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dirty="0">
                <a:solidFill>
                  <a:srgbClr val="333333"/>
                </a:solidFill>
                <a:latin typeface="Calibri"/>
                <a:ea typeface="Calibri"/>
                <a:cs typeface="Calibri"/>
                <a:sym typeface="Calibri"/>
              </a:rPr>
              <a:t>Search the output space rather than relying on a single answer:</a:t>
            </a:r>
            <a:endParaRPr sz="1269" dirty="0">
              <a:solidFill>
                <a:schemeClr val="dk1"/>
              </a:solidFill>
              <a:latin typeface="Calibri"/>
              <a:ea typeface="Calibri"/>
              <a:cs typeface="Calibri"/>
              <a:sym typeface="Calibri"/>
            </a:endParaRPr>
          </a:p>
        </p:txBody>
      </p:sp>
      <p:sp>
        <p:nvSpPr>
          <p:cNvPr id="126" name="Google Shape;126;p8"/>
          <p:cNvSpPr/>
          <p:nvPr/>
        </p:nvSpPr>
        <p:spPr>
          <a:xfrm>
            <a:off x="6265069" y="3576451"/>
            <a:ext cx="2450306" cy="54861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Call LLM N times (e.g., 10–100 generations).</a:t>
            </a:r>
            <a:endParaRPr sz="1269">
              <a:solidFill>
                <a:schemeClr val="dk1"/>
              </a:solidFill>
              <a:latin typeface="Calibri"/>
              <a:ea typeface="Calibri"/>
              <a:cs typeface="Calibri"/>
              <a:sym typeface="Calibri"/>
            </a:endParaRPr>
          </a:p>
        </p:txBody>
      </p:sp>
      <p:sp>
        <p:nvSpPr>
          <p:cNvPr id="127" name="Google Shape;127;p8"/>
          <p:cNvSpPr/>
          <p:nvPr/>
        </p:nvSpPr>
        <p:spPr>
          <a:xfrm>
            <a:off x="6265069" y="4232225"/>
            <a:ext cx="2450306" cy="54861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Vary temperature and prompt components.</a:t>
            </a:r>
            <a:endParaRPr sz="1269">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9"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34" name="Google Shape;134;p9"/>
          <p:cNvSpPr/>
          <p:nvPr/>
        </p:nvSpPr>
        <p:spPr>
          <a:xfrm>
            <a:off x="0" y="0"/>
            <a:ext cx="9144000" cy="1675209"/>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9"/>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6" name="Google Shape;136;p9"/>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Steps 4-6: Scoring, Human Controls, and Deployment</a:t>
            </a:r>
            <a:endParaRPr sz="2862">
              <a:solidFill>
                <a:schemeClr val="dk1"/>
              </a:solidFill>
              <a:latin typeface="Calibri"/>
              <a:ea typeface="Calibri"/>
              <a:cs typeface="Calibri"/>
              <a:sym typeface="Calibri"/>
            </a:endParaRPr>
          </a:p>
        </p:txBody>
      </p:sp>
      <p:sp>
        <p:nvSpPr>
          <p:cNvPr id="137" name="Google Shape;137;p9"/>
          <p:cNvSpPr/>
          <p:nvPr/>
        </p:nvSpPr>
        <p:spPr>
          <a:xfrm>
            <a:off x="428625" y="2305645"/>
            <a:ext cx="428179"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04</a:t>
            </a:r>
            <a:endParaRPr sz="683">
              <a:solidFill>
                <a:schemeClr val="dk1"/>
              </a:solidFill>
              <a:latin typeface="Calibri"/>
              <a:ea typeface="Calibri"/>
              <a:cs typeface="Calibri"/>
              <a:sym typeface="Calibri"/>
            </a:endParaRPr>
          </a:p>
        </p:txBody>
      </p:sp>
      <p:sp>
        <p:nvSpPr>
          <p:cNvPr id="138" name="Google Shape;138;p9"/>
          <p:cNvSpPr/>
          <p:nvPr/>
        </p:nvSpPr>
        <p:spPr>
          <a:xfrm>
            <a:off x="428625" y="2444948"/>
            <a:ext cx="2571750" cy="220005"/>
          </a:xfrm>
          <a:prstGeom prst="rect">
            <a:avLst/>
          </a:prstGeom>
          <a:noFill/>
          <a:ln>
            <a:noFill/>
          </a:ln>
        </p:spPr>
        <p:txBody>
          <a:bodyPr spcFirstLastPara="1" wrap="square" lIns="0" tIns="0" rIns="0" bIns="0" anchor="t" anchorCtr="0">
            <a:noAutofit/>
          </a:bodyPr>
          <a:lstStyle/>
          <a:p>
            <a:pPr marL="0" marR="0" lvl="0" indent="0" algn="l" rtl="0">
              <a:lnSpc>
                <a:spcPct val="121689"/>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Scoring &amp; Evaluation</a:t>
            </a:r>
            <a:endParaRPr sz="1397">
              <a:solidFill>
                <a:schemeClr val="dk1"/>
              </a:solidFill>
              <a:latin typeface="Calibri"/>
              <a:ea typeface="Calibri"/>
              <a:cs typeface="Calibri"/>
              <a:sym typeface="Calibri"/>
            </a:endParaRPr>
          </a:p>
        </p:txBody>
      </p:sp>
      <p:sp>
        <p:nvSpPr>
          <p:cNvPr id="139" name="Google Shape;139;p9"/>
          <p:cNvSpPr/>
          <p:nvPr/>
        </p:nvSpPr>
        <p:spPr>
          <a:xfrm>
            <a:off x="428625" y="2807829"/>
            <a:ext cx="2571750" cy="548618"/>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The heart of the layer. Evaluates candidates using:</a:t>
            </a:r>
            <a:endParaRPr sz="1269">
              <a:solidFill>
                <a:schemeClr val="dk1"/>
              </a:solidFill>
              <a:latin typeface="Calibri"/>
              <a:ea typeface="Calibri"/>
              <a:cs typeface="Calibri"/>
              <a:sym typeface="Calibri"/>
            </a:endParaRPr>
          </a:p>
        </p:txBody>
      </p:sp>
      <p:sp>
        <p:nvSpPr>
          <p:cNvPr id="140" name="Google Shape;140;p9"/>
          <p:cNvSpPr/>
          <p:nvPr/>
        </p:nvSpPr>
        <p:spPr>
          <a:xfrm>
            <a:off x="550069" y="3356446"/>
            <a:ext cx="2450306" cy="548618"/>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Relevance scoring &amp; predicted CTR models.</a:t>
            </a:r>
            <a:endParaRPr sz="1269">
              <a:solidFill>
                <a:schemeClr val="dk1"/>
              </a:solidFill>
              <a:latin typeface="Calibri"/>
              <a:ea typeface="Calibri"/>
              <a:cs typeface="Calibri"/>
              <a:sym typeface="Calibri"/>
            </a:endParaRPr>
          </a:p>
        </p:txBody>
      </p:sp>
      <p:sp>
        <p:nvSpPr>
          <p:cNvPr id="141" name="Google Shape;141;p9"/>
          <p:cNvSpPr/>
          <p:nvPr/>
        </p:nvSpPr>
        <p:spPr>
          <a:xfrm>
            <a:off x="550069" y="4012220"/>
            <a:ext cx="2450306" cy="548618"/>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Compliance checks &amp; brand voice classifiers.</a:t>
            </a:r>
            <a:endParaRPr sz="1269">
              <a:solidFill>
                <a:schemeClr val="dk1"/>
              </a:solidFill>
              <a:latin typeface="Calibri"/>
              <a:ea typeface="Calibri"/>
              <a:cs typeface="Calibri"/>
              <a:sym typeface="Calibri"/>
            </a:endParaRPr>
          </a:p>
        </p:txBody>
      </p:sp>
      <p:sp>
        <p:nvSpPr>
          <p:cNvPr id="142" name="Google Shape;142;p9"/>
          <p:cNvSpPr/>
          <p:nvPr/>
        </p:nvSpPr>
        <p:spPr>
          <a:xfrm>
            <a:off x="3286125" y="2305645"/>
            <a:ext cx="428179"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05</a:t>
            </a:r>
            <a:endParaRPr sz="683">
              <a:solidFill>
                <a:schemeClr val="dk1"/>
              </a:solidFill>
              <a:latin typeface="Calibri"/>
              <a:ea typeface="Calibri"/>
              <a:cs typeface="Calibri"/>
              <a:sym typeface="Calibri"/>
            </a:endParaRPr>
          </a:p>
        </p:txBody>
      </p:sp>
      <p:sp>
        <p:nvSpPr>
          <p:cNvPr id="143" name="Google Shape;143;p9"/>
          <p:cNvSpPr/>
          <p:nvPr/>
        </p:nvSpPr>
        <p:spPr>
          <a:xfrm>
            <a:off x="3286125" y="2444948"/>
            <a:ext cx="2571750" cy="220005"/>
          </a:xfrm>
          <a:prstGeom prst="rect">
            <a:avLst/>
          </a:prstGeom>
          <a:noFill/>
          <a:ln>
            <a:noFill/>
          </a:ln>
        </p:spPr>
        <p:txBody>
          <a:bodyPr spcFirstLastPara="1" wrap="square" lIns="0" tIns="0" rIns="0" bIns="0" anchor="t" anchorCtr="0">
            <a:noAutofit/>
          </a:bodyPr>
          <a:lstStyle/>
          <a:p>
            <a:pPr marL="0" marR="0" lvl="0" indent="0" algn="l" rtl="0">
              <a:lnSpc>
                <a:spcPct val="121689"/>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Human-in-the-Loop</a:t>
            </a:r>
            <a:endParaRPr sz="1397">
              <a:solidFill>
                <a:schemeClr val="dk1"/>
              </a:solidFill>
              <a:latin typeface="Calibri"/>
              <a:ea typeface="Calibri"/>
              <a:cs typeface="Calibri"/>
              <a:sym typeface="Calibri"/>
            </a:endParaRPr>
          </a:p>
        </p:txBody>
      </p:sp>
      <p:sp>
        <p:nvSpPr>
          <p:cNvPr id="144" name="Google Shape;144;p9"/>
          <p:cNvSpPr/>
          <p:nvPr/>
        </p:nvSpPr>
        <p:spPr>
          <a:xfrm>
            <a:off x="3286125" y="2807829"/>
            <a:ext cx="2571750" cy="548618"/>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Crucial for marketing, compliance, and safety:</a:t>
            </a:r>
            <a:endParaRPr sz="1269">
              <a:solidFill>
                <a:schemeClr val="dk1"/>
              </a:solidFill>
              <a:latin typeface="Calibri"/>
              <a:ea typeface="Calibri"/>
              <a:cs typeface="Calibri"/>
              <a:sym typeface="Calibri"/>
            </a:endParaRPr>
          </a:p>
        </p:txBody>
      </p:sp>
      <p:sp>
        <p:nvSpPr>
          <p:cNvPr id="145" name="Google Shape;145;p9"/>
          <p:cNvSpPr/>
          <p:nvPr/>
        </p:nvSpPr>
        <p:spPr>
          <a:xfrm>
            <a:off x="3407569" y="3356446"/>
            <a:ext cx="2450306" cy="548618"/>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Approve or edit top-ranked outputs.</a:t>
            </a:r>
            <a:endParaRPr sz="1269">
              <a:solidFill>
                <a:schemeClr val="dk1"/>
              </a:solidFill>
              <a:latin typeface="Calibri"/>
              <a:ea typeface="Calibri"/>
              <a:cs typeface="Calibri"/>
              <a:sym typeface="Calibri"/>
            </a:endParaRPr>
          </a:p>
        </p:txBody>
      </p:sp>
      <p:sp>
        <p:nvSpPr>
          <p:cNvPr id="146" name="Google Shape;146;p9"/>
          <p:cNvSpPr/>
          <p:nvPr/>
        </p:nvSpPr>
        <p:spPr>
          <a:xfrm>
            <a:off x="3407569" y="4012220"/>
            <a:ext cx="2450306" cy="548618"/>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Provide feedback to refine the scoring layer.</a:t>
            </a:r>
            <a:endParaRPr sz="1269">
              <a:solidFill>
                <a:schemeClr val="dk1"/>
              </a:solidFill>
              <a:latin typeface="Calibri"/>
              <a:ea typeface="Calibri"/>
              <a:cs typeface="Calibri"/>
              <a:sym typeface="Calibri"/>
            </a:endParaRPr>
          </a:p>
        </p:txBody>
      </p:sp>
      <p:sp>
        <p:nvSpPr>
          <p:cNvPr id="147" name="Google Shape;147;p9"/>
          <p:cNvSpPr/>
          <p:nvPr/>
        </p:nvSpPr>
        <p:spPr>
          <a:xfrm>
            <a:off x="6143625" y="2305645"/>
            <a:ext cx="428179"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sz="683" b="1">
                <a:solidFill>
                  <a:srgbClr val="FF5F00"/>
                </a:solidFill>
                <a:latin typeface="Calibri"/>
                <a:ea typeface="Calibri"/>
                <a:cs typeface="Calibri"/>
                <a:sym typeface="Calibri"/>
              </a:rPr>
              <a:t>Step 06</a:t>
            </a:r>
            <a:endParaRPr sz="683">
              <a:solidFill>
                <a:schemeClr val="dk1"/>
              </a:solidFill>
              <a:latin typeface="Calibri"/>
              <a:ea typeface="Calibri"/>
              <a:cs typeface="Calibri"/>
              <a:sym typeface="Calibri"/>
            </a:endParaRPr>
          </a:p>
        </p:txBody>
      </p:sp>
      <p:sp>
        <p:nvSpPr>
          <p:cNvPr id="148" name="Google Shape;148;p9"/>
          <p:cNvSpPr/>
          <p:nvPr/>
        </p:nvSpPr>
        <p:spPr>
          <a:xfrm>
            <a:off x="6143625" y="2444948"/>
            <a:ext cx="2571750" cy="220005"/>
          </a:xfrm>
          <a:prstGeom prst="rect">
            <a:avLst/>
          </a:prstGeom>
          <a:noFill/>
          <a:ln>
            <a:noFill/>
          </a:ln>
        </p:spPr>
        <p:txBody>
          <a:bodyPr spcFirstLastPara="1" wrap="square" lIns="0" tIns="0" rIns="0" bIns="0" anchor="t" anchorCtr="0">
            <a:noAutofit/>
          </a:bodyPr>
          <a:lstStyle/>
          <a:p>
            <a:pPr marL="0" marR="0" lvl="0" indent="0" algn="l" rtl="0">
              <a:lnSpc>
                <a:spcPct val="121689"/>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Service Deployment</a:t>
            </a:r>
            <a:endParaRPr sz="1397">
              <a:solidFill>
                <a:schemeClr val="dk1"/>
              </a:solidFill>
              <a:latin typeface="Calibri"/>
              <a:ea typeface="Calibri"/>
              <a:cs typeface="Calibri"/>
              <a:sym typeface="Calibri"/>
            </a:endParaRPr>
          </a:p>
        </p:txBody>
      </p:sp>
      <p:sp>
        <p:nvSpPr>
          <p:cNvPr id="149" name="Google Shape;149;p9"/>
          <p:cNvSpPr/>
          <p:nvPr/>
        </p:nvSpPr>
        <p:spPr>
          <a:xfrm>
            <a:off x="6143625" y="2807829"/>
            <a:ext cx="2571750" cy="548618"/>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Wrap the pipeline as a production-ready service:</a:t>
            </a:r>
            <a:endParaRPr sz="1269">
              <a:solidFill>
                <a:schemeClr val="dk1"/>
              </a:solidFill>
              <a:latin typeface="Calibri"/>
              <a:ea typeface="Calibri"/>
              <a:cs typeface="Calibri"/>
              <a:sym typeface="Calibri"/>
            </a:endParaRPr>
          </a:p>
        </p:txBody>
      </p:sp>
      <p:sp>
        <p:nvSpPr>
          <p:cNvPr id="150" name="Google Shape;150;p9"/>
          <p:cNvSpPr/>
          <p:nvPr/>
        </p:nvSpPr>
        <p:spPr>
          <a:xfrm>
            <a:off x="6265069" y="3356446"/>
            <a:ext cx="2450306" cy="548618"/>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Python module or microservice (FastAPI).</a:t>
            </a:r>
            <a:endParaRPr sz="1269">
              <a:solidFill>
                <a:schemeClr val="dk1"/>
              </a:solidFill>
              <a:latin typeface="Calibri"/>
              <a:ea typeface="Calibri"/>
              <a:cs typeface="Calibri"/>
              <a:sym typeface="Calibri"/>
            </a:endParaRPr>
          </a:p>
        </p:txBody>
      </p:sp>
      <p:sp>
        <p:nvSpPr>
          <p:cNvPr id="151" name="Google Shape;151;p9"/>
          <p:cNvSpPr/>
          <p:nvPr/>
        </p:nvSpPr>
        <p:spPr>
          <a:xfrm>
            <a:off x="6265069" y="4012220"/>
            <a:ext cx="2450306" cy="548618"/>
          </a:xfrm>
          <a:prstGeom prst="rect">
            <a:avLst/>
          </a:prstGeom>
          <a:noFill/>
          <a:ln>
            <a:noFill/>
          </a:ln>
        </p:spPr>
        <p:txBody>
          <a:bodyPr spcFirstLastPara="1" wrap="square" lIns="0" tIns="0" rIns="0" bIns="0" anchor="t" anchorCtr="0">
            <a:noAutofit/>
          </a:bodyPr>
          <a:lstStyle/>
          <a:p>
            <a:pPr marL="0" marR="0" lvl="0" indent="0" algn="l" rtl="0">
              <a:lnSpc>
                <a:spcPct val="173364"/>
              </a:lnSpc>
              <a:spcBef>
                <a:spcPts val="0"/>
              </a:spcBef>
              <a:spcAft>
                <a:spcPts val="0"/>
              </a:spcAft>
              <a:buClr>
                <a:srgbClr val="333333"/>
              </a:buClr>
              <a:buSzPts val="1269"/>
              <a:buFont typeface="Calibri"/>
              <a:buNone/>
            </a:pPr>
            <a:r>
              <a:rPr lang="en-US" sz="1269">
                <a:solidFill>
                  <a:srgbClr val="333333"/>
                </a:solidFill>
                <a:latin typeface="Calibri"/>
                <a:ea typeface="Calibri"/>
                <a:cs typeface="Calibri"/>
                <a:sym typeface="Calibri"/>
              </a:rPr>
              <a:t>Cloud workflow (Azure Functions / AWS Lambda).</a:t>
            </a:r>
            <a:endParaRPr sz="1269">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157" name="Google Shape;157;p10"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58" name="Google Shape;158;p10"/>
          <p:cNvSpPr/>
          <p:nvPr/>
        </p:nvSpPr>
        <p:spPr>
          <a:xfrm>
            <a:off x="0" y="0"/>
            <a:ext cx="9144000" cy="1675209"/>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9" name="Google Shape;159;p10"/>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10"/>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Choosing the Right Architecture: Layer vs. RAG vs. Agents</a:t>
            </a:r>
            <a:endParaRPr sz="2862">
              <a:solidFill>
                <a:schemeClr val="dk1"/>
              </a:solidFill>
              <a:latin typeface="Calibri"/>
              <a:ea typeface="Calibri"/>
              <a:cs typeface="Calibri"/>
              <a:sym typeface="Calibri"/>
            </a:endParaRPr>
          </a:p>
        </p:txBody>
      </p:sp>
      <p:sp>
        <p:nvSpPr>
          <p:cNvPr id="161" name="Google Shape;161;p10"/>
          <p:cNvSpPr/>
          <p:nvPr/>
        </p:nvSpPr>
        <p:spPr>
          <a:xfrm>
            <a:off x="428625" y="1946672"/>
            <a:ext cx="8286750"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Architectural Comparison</a:t>
            </a:r>
            <a:endParaRPr sz="1499">
              <a:solidFill>
                <a:schemeClr val="dk1"/>
              </a:solidFill>
              <a:latin typeface="Calibri"/>
              <a:ea typeface="Calibri"/>
              <a:cs typeface="Calibri"/>
              <a:sym typeface="Calibri"/>
            </a:endParaRPr>
          </a:p>
        </p:txBody>
      </p:sp>
      <p:sp>
        <p:nvSpPr>
          <p:cNvPr id="162" name="Google Shape;162;p10"/>
          <p:cNvSpPr/>
          <p:nvPr/>
        </p:nvSpPr>
        <p:spPr>
          <a:xfrm>
            <a:off x="428625" y="2380655"/>
            <a:ext cx="1312190" cy="385763"/>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3" name="Google Shape;163;p10"/>
          <p:cNvSpPr/>
          <p:nvPr/>
        </p:nvSpPr>
        <p:spPr>
          <a:xfrm>
            <a:off x="428625" y="2380655"/>
            <a:ext cx="1312190" cy="385763"/>
          </a:xfrm>
          <a:prstGeom prst="rect">
            <a:avLst/>
          </a:prstGeom>
          <a:noFill/>
          <a:ln>
            <a:noFill/>
          </a:ln>
        </p:spPr>
        <p:txBody>
          <a:bodyPr spcFirstLastPara="1" wrap="square" lIns="102100" tIns="102100" rIns="102100" bIns="102100" anchor="ctr" anchorCtr="0">
            <a:noAutofit/>
          </a:bodyPr>
          <a:lstStyle/>
          <a:p>
            <a:pPr marL="0" marR="0" lvl="0" indent="0" algn="l" rtl="0">
              <a:lnSpc>
                <a:spcPct val="137614"/>
              </a:lnSpc>
              <a:spcBef>
                <a:spcPts val="0"/>
              </a:spcBef>
              <a:spcAft>
                <a:spcPts val="0"/>
              </a:spcAft>
              <a:buClr>
                <a:srgbClr val="FFFFFF"/>
              </a:buClr>
              <a:buSzPts val="1090"/>
              <a:buFont typeface="Calibri"/>
              <a:buNone/>
            </a:pPr>
            <a:r>
              <a:rPr lang="en-US" sz="1090" b="1">
                <a:solidFill>
                  <a:srgbClr val="FFFFFF"/>
                </a:solidFill>
                <a:latin typeface="Calibri"/>
                <a:ea typeface="Calibri"/>
                <a:cs typeface="Calibri"/>
                <a:sym typeface="Calibri"/>
              </a:rPr>
              <a:t>Feature</a:t>
            </a:r>
            <a:endParaRPr sz="1090">
              <a:solidFill>
                <a:schemeClr val="dk1"/>
              </a:solidFill>
              <a:latin typeface="Calibri"/>
              <a:ea typeface="Calibri"/>
              <a:cs typeface="Calibri"/>
              <a:sym typeface="Calibri"/>
            </a:endParaRPr>
          </a:p>
        </p:txBody>
      </p:sp>
      <p:sp>
        <p:nvSpPr>
          <p:cNvPr id="164" name="Google Shape;164;p10"/>
          <p:cNvSpPr/>
          <p:nvPr/>
        </p:nvSpPr>
        <p:spPr>
          <a:xfrm>
            <a:off x="1740815" y="2380655"/>
            <a:ext cx="2771915" cy="385763"/>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5" name="Google Shape;165;p10"/>
          <p:cNvSpPr/>
          <p:nvPr/>
        </p:nvSpPr>
        <p:spPr>
          <a:xfrm>
            <a:off x="1740815" y="2380655"/>
            <a:ext cx="2771915" cy="385763"/>
          </a:xfrm>
          <a:prstGeom prst="rect">
            <a:avLst/>
          </a:prstGeom>
          <a:noFill/>
          <a:ln>
            <a:noFill/>
          </a:ln>
        </p:spPr>
        <p:txBody>
          <a:bodyPr spcFirstLastPara="1" wrap="square" lIns="102100" tIns="102100" rIns="102100" bIns="102100" anchor="ctr" anchorCtr="0">
            <a:noAutofit/>
          </a:bodyPr>
          <a:lstStyle/>
          <a:p>
            <a:pPr marL="0" marR="0" lvl="0" indent="0" algn="l" rtl="0">
              <a:lnSpc>
                <a:spcPct val="137614"/>
              </a:lnSpc>
              <a:spcBef>
                <a:spcPts val="0"/>
              </a:spcBef>
              <a:spcAft>
                <a:spcPts val="0"/>
              </a:spcAft>
              <a:buClr>
                <a:srgbClr val="FFFFFF"/>
              </a:buClr>
              <a:buSzPts val="1090"/>
              <a:buFont typeface="Calibri"/>
              <a:buNone/>
            </a:pPr>
            <a:r>
              <a:rPr lang="en-US" sz="1090" b="1">
                <a:solidFill>
                  <a:srgbClr val="FFFFFF"/>
                </a:solidFill>
                <a:latin typeface="Calibri"/>
                <a:ea typeface="Calibri"/>
                <a:cs typeface="Calibri"/>
                <a:sym typeface="Calibri"/>
              </a:rPr>
              <a:t>Application Layer</a:t>
            </a:r>
            <a:endParaRPr sz="1090">
              <a:solidFill>
                <a:schemeClr val="dk1"/>
              </a:solidFill>
              <a:latin typeface="Calibri"/>
              <a:ea typeface="Calibri"/>
              <a:cs typeface="Calibri"/>
              <a:sym typeface="Calibri"/>
            </a:endParaRPr>
          </a:p>
        </p:txBody>
      </p:sp>
      <p:sp>
        <p:nvSpPr>
          <p:cNvPr id="166" name="Google Shape;166;p10"/>
          <p:cNvSpPr/>
          <p:nvPr/>
        </p:nvSpPr>
        <p:spPr>
          <a:xfrm>
            <a:off x="4512729" y="2380655"/>
            <a:ext cx="2097165" cy="385763"/>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7" name="Google Shape;167;p10"/>
          <p:cNvSpPr/>
          <p:nvPr/>
        </p:nvSpPr>
        <p:spPr>
          <a:xfrm>
            <a:off x="4512729" y="2380655"/>
            <a:ext cx="2097165" cy="385763"/>
          </a:xfrm>
          <a:prstGeom prst="rect">
            <a:avLst/>
          </a:prstGeom>
          <a:noFill/>
          <a:ln>
            <a:noFill/>
          </a:ln>
        </p:spPr>
        <p:txBody>
          <a:bodyPr spcFirstLastPara="1" wrap="square" lIns="102100" tIns="102100" rIns="102100" bIns="102100" anchor="ctr" anchorCtr="0">
            <a:noAutofit/>
          </a:bodyPr>
          <a:lstStyle/>
          <a:p>
            <a:pPr marL="0" marR="0" lvl="0" indent="0" algn="l" rtl="0">
              <a:lnSpc>
                <a:spcPct val="137614"/>
              </a:lnSpc>
              <a:spcBef>
                <a:spcPts val="0"/>
              </a:spcBef>
              <a:spcAft>
                <a:spcPts val="0"/>
              </a:spcAft>
              <a:buClr>
                <a:srgbClr val="FFFFFF"/>
              </a:buClr>
              <a:buSzPts val="1090"/>
              <a:buFont typeface="Calibri"/>
              <a:buNone/>
            </a:pPr>
            <a:r>
              <a:rPr lang="en-US" sz="1090" b="1">
                <a:solidFill>
                  <a:srgbClr val="FFFFFF"/>
                </a:solidFill>
                <a:latin typeface="Calibri"/>
                <a:ea typeface="Calibri"/>
                <a:cs typeface="Calibri"/>
                <a:sym typeface="Calibri"/>
              </a:rPr>
              <a:t>RAG</a:t>
            </a:r>
            <a:endParaRPr sz="1090">
              <a:solidFill>
                <a:schemeClr val="dk1"/>
              </a:solidFill>
              <a:latin typeface="Calibri"/>
              <a:ea typeface="Calibri"/>
              <a:cs typeface="Calibri"/>
              <a:sym typeface="Calibri"/>
            </a:endParaRPr>
          </a:p>
        </p:txBody>
      </p:sp>
      <p:sp>
        <p:nvSpPr>
          <p:cNvPr id="168" name="Google Shape;168;p10"/>
          <p:cNvSpPr/>
          <p:nvPr/>
        </p:nvSpPr>
        <p:spPr>
          <a:xfrm>
            <a:off x="6609894" y="2380655"/>
            <a:ext cx="2105481" cy="385763"/>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9" name="Google Shape;169;p10"/>
          <p:cNvSpPr/>
          <p:nvPr/>
        </p:nvSpPr>
        <p:spPr>
          <a:xfrm>
            <a:off x="6609894" y="2380655"/>
            <a:ext cx="2105481" cy="385763"/>
          </a:xfrm>
          <a:prstGeom prst="rect">
            <a:avLst/>
          </a:prstGeom>
          <a:noFill/>
          <a:ln>
            <a:noFill/>
          </a:ln>
        </p:spPr>
        <p:txBody>
          <a:bodyPr spcFirstLastPara="1" wrap="square" lIns="102100" tIns="102100" rIns="102100" bIns="102100" anchor="ctr" anchorCtr="0">
            <a:noAutofit/>
          </a:bodyPr>
          <a:lstStyle/>
          <a:p>
            <a:pPr marL="0" marR="0" lvl="0" indent="0" algn="l" rtl="0">
              <a:lnSpc>
                <a:spcPct val="137614"/>
              </a:lnSpc>
              <a:spcBef>
                <a:spcPts val="0"/>
              </a:spcBef>
              <a:spcAft>
                <a:spcPts val="0"/>
              </a:spcAft>
              <a:buClr>
                <a:srgbClr val="FFFFFF"/>
              </a:buClr>
              <a:buSzPts val="1090"/>
              <a:buFont typeface="Calibri"/>
              <a:buNone/>
            </a:pPr>
            <a:r>
              <a:rPr lang="en-US" sz="1090" b="1">
                <a:solidFill>
                  <a:srgbClr val="FFFFFF"/>
                </a:solidFill>
                <a:latin typeface="Calibri"/>
                <a:ea typeface="Calibri"/>
                <a:cs typeface="Calibri"/>
                <a:sym typeface="Calibri"/>
              </a:rPr>
              <a:t>Agents</a:t>
            </a:r>
            <a:endParaRPr sz="1090">
              <a:solidFill>
                <a:schemeClr val="dk1"/>
              </a:solidFill>
              <a:latin typeface="Calibri"/>
              <a:ea typeface="Calibri"/>
              <a:cs typeface="Calibri"/>
              <a:sym typeface="Calibri"/>
            </a:endParaRPr>
          </a:p>
        </p:txBody>
      </p:sp>
      <p:sp>
        <p:nvSpPr>
          <p:cNvPr id="170" name="Google Shape;170;p10"/>
          <p:cNvSpPr/>
          <p:nvPr/>
        </p:nvSpPr>
        <p:spPr>
          <a:xfrm>
            <a:off x="428625" y="2766417"/>
            <a:ext cx="1312190" cy="432197"/>
          </a:xfrm>
          <a:prstGeom prst="rect">
            <a:avLst/>
          </a:prstGeom>
          <a:noFill/>
          <a:ln>
            <a:noFill/>
          </a:ln>
        </p:spPr>
        <p:txBody>
          <a:bodyPr spcFirstLastPara="1" wrap="square" lIns="102100" tIns="127500" rIns="102100" bIns="12750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Main Goal</a:t>
            </a:r>
            <a:endParaRPr sz="1090">
              <a:solidFill>
                <a:schemeClr val="dk1"/>
              </a:solidFill>
              <a:latin typeface="Calibri"/>
              <a:ea typeface="Calibri"/>
              <a:cs typeface="Calibri"/>
              <a:sym typeface="Calibri"/>
            </a:endParaRPr>
          </a:p>
        </p:txBody>
      </p:sp>
      <p:sp>
        <p:nvSpPr>
          <p:cNvPr id="171" name="Google Shape;171;p10"/>
          <p:cNvSpPr/>
          <p:nvPr/>
        </p:nvSpPr>
        <p:spPr>
          <a:xfrm>
            <a:off x="1740815" y="2766417"/>
            <a:ext cx="2771915" cy="432197"/>
          </a:xfrm>
          <a:prstGeom prst="rect">
            <a:avLst/>
          </a:prstGeom>
          <a:solidFill>
            <a:srgbClr val="E6EE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2" name="Google Shape;172;p10"/>
          <p:cNvSpPr/>
          <p:nvPr/>
        </p:nvSpPr>
        <p:spPr>
          <a:xfrm>
            <a:off x="1740815" y="3191470"/>
            <a:ext cx="2771915" cy="7144"/>
          </a:xfrm>
          <a:prstGeom prst="rect">
            <a:avLst/>
          </a:prstGeom>
          <a:solidFill>
            <a:srgbClr val="3333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3" name="Google Shape;173;p10"/>
          <p:cNvSpPr/>
          <p:nvPr/>
        </p:nvSpPr>
        <p:spPr>
          <a:xfrm>
            <a:off x="1740815" y="2766417"/>
            <a:ext cx="2771915" cy="432197"/>
          </a:xfrm>
          <a:prstGeom prst="rect">
            <a:avLst/>
          </a:prstGeom>
          <a:noFill/>
          <a:ln>
            <a:noFill/>
          </a:ln>
        </p:spPr>
        <p:txBody>
          <a:bodyPr spcFirstLastPara="1" wrap="square" lIns="102100" tIns="127500" rIns="102100" bIns="127500" anchor="t" anchorCtr="0">
            <a:noAutofit/>
          </a:bodyPr>
          <a:lstStyle/>
          <a:p>
            <a:pPr marL="0" marR="0" lvl="0" indent="0" algn="l" rtl="0">
              <a:lnSpc>
                <a:spcPct val="137614"/>
              </a:lnSpc>
              <a:spcBef>
                <a:spcPts val="0"/>
              </a:spcBef>
              <a:spcAft>
                <a:spcPts val="0"/>
              </a:spcAft>
              <a:buClr>
                <a:srgbClr val="333333"/>
              </a:buClr>
              <a:buSzPts val="1090"/>
              <a:buFont typeface="Calibri"/>
              <a:buNone/>
            </a:pPr>
            <a:r>
              <a:rPr lang="en-US" sz="1090" b="1">
                <a:solidFill>
                  <a:srgbClr val="333333"/>
                </a:solidFill>
                <a:latin typeface="Calibri"/>
                <a:ea typeface="Calibri"/>
                <a:cs typeface="Calibri"/>
                <a:sym typeface="Calibri"/>
              </a:rPr>
              <a:t>Optimization + Control</a:t>
            </a:r>
            <a:endParaRPr sz="1090">
              <a:solidFill>
                <a:schemeClr val="dk1"/>
              </a:solidFill>
              <a:latin typeface="Calibri"/>
              <a:ea typeface="Calibri"/>
              <a:cs typeface="Calibri"/>
              <a:sym typeface="Calibri"/>
            </a:endParaRPr>
          </a:p>
        </p:txBody>
      </p:sp>
      <p:sp>
        <p:nvSpPr>
          <p:cNvPr id="174" name="Google Shape;174;p10"/>
          <p:cNvSpPr/>
          <p:nvPr/>
        </p:nvSpPr>
        <p:spPr>
          <a:xfrm>
            <a:off x="4512729" y="2766417"/>
            <a:ext cx="2097165" cy="432197"/>
          </a:xfrm>
          <a:prstGeom prst="rect">
            <a:avLst/>
          </a:prstGeom>
          <a:noFill/>
          <a:ln>
            <a:noFill/>
          </a:ln>
        </p:spPr>
        <p:txBody>
          <a:bodyPr spcFirstLastPara="1" wrap="square" lIns="102100" tIns="127500" rIns="102100" bIns="127500" anchor="t"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External Knowledge</a:t>
            </a:r>
            <a:endParaRPr sz="1159">
              <a:solidFill>
                <a:schemeClr val="dk1"/>
              </a:solidFill>
              <a:latin typeface="Calibri"/>
              <a:ea typeface="Calibri"/>
              <a:cs typeface="Calibri"/>
              <a:sym typeface="Calibri"/>
            </a:endParaRPr>
          </a:p>
        </p:txBody>
      </p:sp>
      <p:sp>
        <p:nvSpPr>
          <p:cNvPr id="175" name="Google Shape;175;p10"/>
          <p:cNvSpPr/>
          <p:nvPr/>
        </p:nvSpPr>
        <p:spPr>
          <a:xfrm>
            <a:off x="6609894" y="2766417"/>
            <a:ext cx="2105481" cy="432197"/>
          </a:xfrm>
          <a:prstGeom prst="rect">
            <a:avLst/>
          </a:prstGeom>
          <a:noFill/>
          <a:ln>
            <a:noFill/>
          </a:ln>
        </p:spPr>
        <p:txBody>
          <a:bodyPr spcFirstLastPara="1" wrap="square" lIns="102100" tIns="127500" rIns="102100" bIns="127500" anchor="t"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Action Execution</a:t>
            </a:r>
            <a:endParaRPr sz="1159">
              <a:solidFill>
                <a:schemeClr val="dk1"/>
              </a:solidFill>
              <a:latin typeface="Calibri"/>
              <a:ea typeface="Calibri"/>
              <a:cs typeface="Calibri"/>
              <a:sym typeface="Calibri"/>
            </a:endParaRPr>
          </a:p>
        </p:txBody>
      </p:sp>
      <p:sp>
        <p:nvSpPr>
          <p:cNvPr id="176" name="Google Shape;176;p10"/>
          <p:cNvSpPr/>
          <p:nvPr/>
        </p:nvSpPr>
        <p:spPr>
          <a:xfrm>
            <a:off x="428625" y="3198614"/>
            <a:ext cx="1312190"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Strength</a:t>
            </a:r>
            <a:endParaRPr sz="1090">
              <a:solidFill>
                <a:schemeClr val="dk1"/>
              </a:solidFill>
              <a:latin typeface="Calibri"/>
              <a:ea typeface="Calibri"/>
              <a:cs typeface="Calibri"/>
              <a:sym typeface="Calibri"/>
            </a:endParaRPr>
          </a:p>
        </p:txBody>
      </p:sp>
      <p:sp>
        <p:nvSpPr>
          <p:cNvPr id="177" name="Google Shape;177;p10"/>
          <p:cNvSpPr/>
          <p:nvPr/>
        </p:nvSpPr>
        <p:spPr>
          <a:xfrm>
            <a:off x="1740815" y="3198614"/>
            <a:ext cx="2771915" cy="435769"/>
          </a:xfrm>
          <a:prstGeom prst="rect">
            <a:avLst/>
          </a:prstGeom>
          <a:solidFill>
            <a:srgbClr val="E6EE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8" name="Google Shape;178;p10"/>
          <p:cNvSpPr/>
          <p:nvPr/>
        </p:nvSpPr>
        <p:spPr>
          <a:xfrm>
            <a:off x="1740815" y="3627239"/>
            <a:ext cx="2771915" cy="7144"/>
          </a:xfrm>
          <a:prstGeom prst="rect">
            <a:avLst/>
          </a:prstGeom>
          <a:solidFill>
            <a:srgbClr val="3333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9" name="Google Shape;179;p10"/>
          <p:cNvSpPr/>
          <p:nvPr/>
        </p:nvSpPr>
        <p:spPr>
          <a:xfrm>
            <a:off x="1740815" y="3198614"/>
            <a:ext cx="2771915"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37614"/>
              </a:lnSpc>
              <a:spcBef>
                <a:spcPts val="0"/>
              </a:spcBef>
              <a:spcAft>
                <a:spcPts val="0"/>
              </a:spcAft>
              <a:buClr>
                <a:srgbClr val="333333"/>
              </a:buClr>
              <a:buSzPts val="1090"/>
              <a:buFont typeface="Calibri"/>
              <a:buNone/>
            </a:pPr>
            <a:r>
              <a:rPr lang="en-US" sz="1090" b="1">
                <a:solidFill>
                  <a:srgbClr val="333333"/>
                </a:solidFill>
                <a:latin typeface="Calibri"/>
                <a:ea typeface="Calibri"/>
                <a:cs typeface="Calibri"/>
                <a:sym typeface="Calibri"/>
              </a:rPr>
              <a:t>Consistency, Performance</a:t>
            </a:r>
            <a:endParaRPr sz="1090">
              <a:solidFill>
                <a:schemeClr val="dk1"/>
              </a:solidFill>
              <a:latin typeface="Calibri"/>
              <a:ea typeface="Calibri"/>
              <a:cs typeface="Calibri"/>
              <a:sym typeface="Calibri"/>
            </a:endParaRPr>
          </a:p>
        </p:txBody>
      </p:sp>
      <p:sp>
        <p:nvSpPr>
          <p:cNvPr id="180" name="Google Shape;180;p10"/>
          <p:cNvSpPr/>
          <p:nvPr/>
        </p:nvSpPr>
        <p:spPr>
          <a:xfrm>
            <a:off x="4512729" y="3198614"/>
            <a:ext cx="2097165"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Accuracy, Grounding</a:t>
            </a:r>
            <a:endParaRPr sz="1159">
              <a:solidFill>
                <a:schemeClr val="dk1"/>
              </a:solidFill>
              <a:latin typeface="Calibri"/>
              <a:ea typeface="Calibri"/>
              <a:cs typeface="Calibri"/>
              <a:sym typeface="Calibri"/>
            </a:endParaRPr>
          </a:p>
        </p:txBody>
      </p:sp>
      <p:sp>
        <p:nvSpPr>
          <p:cNvPr id="181" name="Google Shape;181;p10"/>
          <p:cNvSpPr/>
          <p:nvPr/>
        </p:nvSpPr>
        <p:spPr>
          <a:xfrm>
            <a:off x="6609894" y="3198614"/>
            <a:ext cx="2105481"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Multi-step Autonomy</a:t>
            </a:r>
            <a:endParaRPr sz="1159">
              <a:solidFill>
                <a:schemeClr val="dk1"/>
              </a:solidFill>
              <a:latin typeface="Calibri"/>
              <a:ea typeface="Calibri"/>
              <a:cs typeface="Calibri"/>
              <a:sym typeface="Calibri"/>
            </a:endParaRPr>
          </a:p>
        </p:txBody>
      </p:sp>
      <p:sp>
        <p:nvSpPr>
          <p:cNvPr id="182" name="Google Shape;182;p10"/>
          <p:cNvSpPr/>
          <p:nvPr/>
        </p:nvSpPr>
        <p:spPr>
          <a:xfrm>
            <a:off x="428625" y="3634383"/>
            <a:ext cx="1312190"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Output</a:t>
            </a:r>
            <a:endParaRPr sz="1090">
              <a:solidFill>
                <a:schemeClr val="dk1"/>
              </a:solidFill>
              <a:latin typeface="Calibri"/>
              <a:ea typeface="Calibri"/>
              <a:cs typeface="Calibri"/>
              <a:sym typeface="Calibri"/>
            </a:endParaRPr>
          </a:p>
        </p:txBody>
      </p:sp>
      <p:sp>
        <p:nvSpPr>
          <p:cNvPr id="183" name="Google Shape;183;p10"/>
          <p:cNvSpPr/>
          <p:nvPr/>
        </p:nvSpPr>
        <p:spPr>
          <a:xfrm>
            <a:off x="1740815" y="3634383"/>
            <a:ext cx="2771915" cy="435769"/>
          </a:xfrm>
          <a:prstGeom prst="rect">
            <a:avLst/>
          </a:prstGeom>
          <a:solidFill>
            <a:srgbClr val="E6EE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4" name="Google Shape;184;p10"/>
          <p:cNvSpPr/>
          <p:nvPr/>
        </p:nvSpPr>
        <p:spPr>
          <a:xfrm>
            <a:off x="1740815" y="4063008"/>
            <a:ext cx="2771915" cy="7144"/>
          </a:xfrm>
          <a:prstGeom prst="rect">
            <a:avLst/>
          </a:prstGeom>
          <a:solidFill>
            <a:srgbClr val="3333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5" name="Google Shape;185;p10"/>
          <p:cNvSpPr/>
          <p:nvPr/>
        </p:nvSpPr>
        <p:spPr>
          <a:xfrm>
            <a:off x="1740815" y="3634383"/>
            <a:ext cx="2771915"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37614"/>
              </a:lnSpc>
              <a:spcBef>
                <a:spcPts val="0"/>
              </a:spcBef>
              <a:spcAft>
                <a:spcPts val="0"/>
              </a:spcAft>
              <a:buClr>
                <a:srgbClr val="333333"/>
              </a:buClr>
              <a:buSzPts val="1090"/>
              <a:buFont typeface="Calibri"/>
              <a:buNone/>
            </a:pPr>
            <a:r>
              <a:rPr lang="en-US" sz="1090" b="1">
                <a:solidFill>
                  <a:srgbClr val="333333"/>
                </a:solidFill>
                <a:latin typeface="Calibri"/>
                <a:ea typeface="Calibri"/>
                <a:cs typeface="Calibri"/>
                <a:sym typeface="Calibri"/>
              </a:rPr>
              <a:t>Highly Structured</a:t>
            </a:r>
            <a:endParaRPr sz="1090">
              <a:solidFill>
                <a:schemeClr val="dk1"/>
              </a:solidFill>
              <a:latin typeface="Calibri"/>
              <a:ea typeface="Calibri"/>
              <a:cs typeface="Calibri"/>
              <a:sym typeface="Calibri"/>
            </a:endParaRPr>
          </a:p>
        </p:txBody>
      </p:sp>
      <p:sp>
        <p:nvSpPr>
          <p:cNvPr id="186" name="Google Shape;186;p10"/>
          <p:cNvSpPr/>
          <p:nvPr/>
        </p:nvSpPr>
        <p:spPr>
          <a:xfrm>
            <a:off x="4512729" y="3634383"/>
            <a:ext cx="2097165"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Knowledge-informed</a:t>
            </a:r>
            <a:endParaRPr sz="1159">
              <a:solidFill>
                <a:schemeClr val="dk1"/>
              </a:solidFill>
              <a:latin typeface="Calibri"/>
              <a:ea typeface="Calibri"/>
              <a:cs typeface="Calibri"/>
              <a:sym typeface="Calibri"/>
            </a:endParaRPr>
          </a:p>
        </p:txBody>
      </p:sp>
      <p:sp>
        <p:nvSpPr>
          <p:cNvPr id="187" name="Google Shape;187;p10"/>
          <p:cNvSpPr/>
          <p:nvPr/>
        </p:nvSpPr>
        <p:spPr>
          <a:xfrm>
            <a:off x="6609894" y="3634383"/>
            <a:ext cx="2105481"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Actions + Reasoning</a:t>
            </a:r>
            <a:endParaRPr sz="1159">
              <a:solidFill>
                <a:schemeClr val="dk1"/>
              </a:solidFill>
              <a:latin typeface="Calibri"/>
              <a:ea typeface="Calibri"/>
              <a:cs typeface="Calibri"/>
              <a:sym typeface="Calibri"/>
            </a:endParaRPr>
          </a:p>
        </p:txBody>
      </p:sp>
      <p:sp>
        <p:nvSpPr>
          <p:cNvPr id="188" name="Google Shape;188;p10"/>
          <p:cNvSpPr/>
          <p:nvPr/>
        </p:nvSpPr>
        <p:spPr>
          <a:xfrm>
            <a:off x="428625" y="4070152"/>
            <a:ext cx="1312190"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Best For</a:t>
            </a:r>
            <a:endParaRPr sz="1090">
              <a:solidFill>
                <a:schemeClr val="dk1"/>
              </a:solidFill>
              <a:latin typeface="Calibri"/>
              <a:ea typeface="Calibri"/>
              <a:cs typeface="Calibri"/>
              <a:sym typeface="Calibri"/>
            </a:endParaRPr>
          </a:p>
        </p:txBody>
      </p:sp>
      <p:sp>
        <p:nvSpPr>
          <p:cNvPr id="189" name="Google Shape;189;p10"/>
          <p:cNvSpPr/>
          <p:nvPr/>
        </p:nvSpPr>
        <p:spPr>
          <a:xfrm>
            <a:off x="1740815" y="4070152"/>
            <a:ext cx="2771915" cy="435769"/>
          </a:xfrm>
          <a:prstGeom prst="rect">
            <a:avLst/>
          </a:prstGeom>
          <a:solidFill>
            <a:srgbClr val="E6EE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10"/>
          <p:cNvSpPr/>
          <p:nvPr/>
        </p:nvSpPr>
        <p:spPr>
          <a:xfrm>
            <a:off x="1740815" y="4498777"/>
            <a:ext cx="2771915" cy="7144"/>
          </a:xfrm>
          <a:prstGeom prst="rect">
            <a:avLst/>
          </a:prstGeom>
          <a:solidFill>
            <a:srgbClr val="3333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1" name="Google Shape;191;p10"/>
          <p:cNvSpPr/>
          <p:nvPr/>
        </p:nvSpPr>
        <p:spPr>
          <a:xfrm>
            <a:off x="1740815" y="4070152"/>
            <a:ext cx="2771915"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37614"/>
              </a:lnSpc>
              <a:spcBef>
                <a:spcPts val="0"/>
              </a:spcBef>
              <a:spcAft>
                <a:spcPts val="0"/>
              </a:spcAft>
              <a:buClr>
                <a:srgbClr val="333333"/>
              </a:buClr>
              <a:buSzPts val="1090"/>
              <a:buFont typeface="Calibri"/>
              <a:buNone/>
            </a:pPr>
            <a:r>
              <a:rPr lang="en-US" sz="1090" b="1">
                <a:solidFill>
                  <a:srgbClr val="333333"/>
                </a:solidFill>
                <a:latin typeface="Calibri"/>
                <a:ea typeface="Calibri"/>
                <a:cs typeface="Calibri"/>
                <a:sym typeface="Calibri"/>
              </a:rPr>
              <a:t>Marketing, Ads, Compliance</a:t>
            </a:r>
            <a:endParaRPr sz="1090">
              <a:solidFill>
                <a:schemeClr val="dk1"/>
              </a:solidFill>
              <a:latin typeface="Calibri"/>
              <a:ea typeface="Calibri"/>
              <a:cs typeface="Calibri"/>
              <a:sym typeface="Calibri"/>
            </a:endParaRPr>
          </a:p>
        </p:txBody>
      </p:sp>
      <p:sp>
        <p:nvSpPr>
          <p:cNvPr id="192" name="Google Shape;192;p10"/>
          <p:cNvSpPr/>
          <p:nvPr/>
        </p:nvSpPr>
        <p:spPr>
          <a:xfrm>
            <a:off x="4512729" y="4070152"/>
            <a:ext cx="2097165"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Enterprise Knowledge</a:t>
            </a:r>
            <a:endParaRPr sz="1159">
              <a:solidFill>
                <a:schemeClr val="dk1"/>
              </a:solidFill>
              <a:latin typeface="Calibri"/>
              <a:ea typeface="Calibri"/>
              <a:cs typeface="Calibri"/>
              <a:sym typeface="Calibri"/>
            </a:endParaRPr>
          </a:p>
        </p:txBody>
      </p:sp>
      <p:sp>
        <p:nvSpPr>
          <p:cNvPr id="193" name="Google Shape;193;p10"/>
          <p:cNvSpPr/>
          <p:nvPr/>
        </p:nvSpPr>
        <p:spPr>
          <a:xfrm>
            <a:off x="6609894" y="4070152"/>
            <a:ext cx="2105481" cy="435769"/>
          </a:xfrm>
          <a:prstGeom prst="rect">
            <a:avLst/>
          </a:prstGeom>
          <a:noFill/>
          <a:ln>
            <a:noFill/>
          </a:ln>
        </p:spPr>
        <p:txBody>
          <a:bodyPr spcFirstLastPara="1" wrap="square" lIns="102100" tIns="127500" rIns="102100" bIns="127500" anchor="t"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Automation, Research</a:t>
            </a:r>
            <a:endParaRPr sz="1159">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11" descr="preencoded.png"/>
          <p:cNvPicPr preferRelativeResize="0"/>
          <p:nvPr/>
        </p:nvPicPr>
        <p:blipFill rotWithShape="1">
          <a:blip r:embed="rId3">
            <a:alphaModFix/>
          </a:blip>
          <a:srcRect/>
          <a:stretch/>
        </p:blipFill>
        <p:spPr>
          <a:xfrm>
            <a:off x="0" y="-397075"/>
            <a:ext cx="9143998" cy="5540572"/>
          </a:xfrm>
          <a:prstGeom prst="rect">
            <a:avLst/>
          </a:prstGeom>
          <a:noFill/>
          <a:ln>
            <a:noFill/>
          </a:ln>
        </p:spPr>
      </p:pic>
      <p:sp>
        <p:nvSpPr>
          <p:cNvPr id="200" name="Google Shape;200;p11"/>
          <p:cNvSpPr/>
          <p:nvPr/>
        </p:nvSpPr>
        <p:spPr>
          <a:xfrm>
            <a:off x="0" y="0"/>
            <a:ext cx="9144000" cy="1675209"/>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1" name="Google Shape;201;p11"/>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2" name="Google Shape;202;p11"/>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The Mathematics of Control: PPLM Decoding Logic</a:t>
            </a:r>
            <a:endParaRPr sz="2862">
              <a:solidFill>
                <a:schemeClr val="dk1"/>
              </a:solidFill>
              <a:latin typeface="Calibri"/>
              <a:ea typeface="Calibri"/>
              <a:cs typeface="Calibri"/>
              <a:sym typeface="Calibri"/>
            </a:endParaRPr>
          </a:p>
        </p:txBody>
      </p:sp>
      <p:sp>
        <p:nvSpPr>
          <p:cNvPr id="203" name="Google Shape;203;p11"/>
          <p:cNvSpPr/>
          <p:nvPr/>
        </p:nvSpPr>
        <p:spPr>
          <a:xfrm>
            <a:off x="428625" y="2089547"/>
            <a:ext cx="4764881"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Composite Distribution Formula</a:t>
            </a:r>
            <a:endParaRPr sz="1499">
              <a:solidFill>
                <a:schemeClr val="dk1"/>
              </a:solidFill>
              <a:latin typeface="Calibri"/>
              <a:ea typeface="Calibri"/>
              <a:cs typeface="Calibri"/>
              <a:sym typeface="Calibri"/>
            </a:endParaRPr>
          </a:p>
        </p:txBody>
      </p:sp>
      <p:sp>
        <p:nvSpPr>
          <p:cNvPr id="204" name="Google Shape;204;p11"/>
          <p:cNvSpPr/>
          <p:nvPr/>
        </p:nvSpPr>
        <p:spPr>
          <a:xfrm>
            <a:off x="428625" y="3790345"/>
            <a:ext cx="4764881" cy="118865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dirty="0">
                <a:solidFill>
                  <a:srgbClr val="333333"/>
                </a:solidFill>
                <a:latin typeface="Calibri"/>
                <a:ea typeface="Calibri"/>
                <a:cs typeface="Calibri"/>
                <a:sym typeface="Calibri"/>
              </a:rPr>
              <a:t>The PPLM framework modifies the LLM's output by sampling from a composite distribution that balances the base model's fluency with the target keyword integration.</a:t>
            </a:r>
            <a:endParaRPr sz="1377" dirty="0">
              <a:solidFill>
                <a:schemeClr val="dk1"/>
              </a:solidFill>
              <a:latin typeface="Calibri"/>
              <a:ea typeface="Calibri"/>
              <a:cs typeface="Calibri"/>
              <a:sym typeface="Calibri"/>
            </a:endParaRPr>
          </a:p>
        </p:txBody>
      </p:sp>
      <p:sp>
        <p:nvSpPr>
          <p:cNvPr id="205" name="Google Shape;205;p11"/>
          <p:cNvSpPr/>
          <p:nvPr/>
        </p:nvSpPr>
        <p:spPr>
          <a:xfrm>
            <a:off x="5486400" y="1660924"/>
            <a:ext cx="3657600" cy="35535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11"/>
          <p:cNvSpPr/>
          <p:nvPr/>
        </p:nvSpPr>
        <p:spPr>
          <a:xfrm>
            <a:off x="5772150" y="1687835"/>
            <a:ext cx="2943300" cy="3060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47AB"/>
              </a:buClr>
              <a:buSzPts val="1397"/>
              <a:buFont typeface="Calibri"/>
              <a:buNone/>
            </a:pPr>
            <a:r>
              <a:rPr lang="en-US" sz="1000" b="1">
                <a:solidFill>
                  <a:srgbClr val="0047AB"/>
                </a:solidFill>
                <a:latin typeface="Calibri"/>
                <a:ea typeface="Calibri"/>
                <a:cs typeface="Calibri"/>
                <a:sym typeface="Calibri"/>
              </a:rPr>
              <a:t>γ</a:t>
            </a:r>
            <a:r>
              <a:rPr lang="en-US" sz="1000" b="1" baseline="-25000">
                <a:solidFill>
                  <a:srgbClr val="0047AB"/>
                </a:solidFill>
                <a:latin typeface="Calibri"/>
                <a:ea typeface="Calibri"/>
                <a:cs typeface="Calibri"/>
                <a:sym typeface="Calibri"/>
              </a:rPr>
              <a:t>m</a:t>
            </a:r>
            <a:r>
              <a:rPr lang="en-US" sz="1000" b="1">
                <a:solidFill>
                  <a:srgbClr val="0047AB"/>
                </a:solidFill>
                <a:latin typeface="Calibri"/>
                <a:ea typeface="Calibri"/>
                <a:cs typeface="Calibri"/>
                <a:sym typeface="Calibri"/>
              </a:rPr>
              <a:t> (Scaling Factor)</a:t>
            </a:r>
            <a:endParaRPr sz="1000">
              <a:solidFill>
                <a:schemeClr val="dk1"/>
              </a:solidFill>
              <a:latin typeface="Calibri"/>
              <a:ea typeface="Calibri"/>
              <a:cs typeface="Calibri"/>
              <a:sym typeface="Calibri"/>
            </a:endParaRPr>
          </a:p>
        </p:txBody>
      </p:sp>
      <p:sp>
        <p:nvSpPr>
          <p:cNvPr id="207" name="Google Shape;207;p11"/>
          <p:cNvSpPr/>
          <p:nvPr/>
        </p:nvSpPr>
        <p:spPr>
          <a:xfrm>
            <a:off x="5772150" y="2029648"/>
            <a:ext cx="2943300" cy="683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000" dirty="0">
                <a:solidFill>
                  <a:srgbClr val="333333"/>
                </a:solidFill>
                <a:latin typeface="Calibri"/>
                <a:ea typeface="Calibri"/>
                <a:cs typeface="Calibri"/>
                <a:sym typeface="Calibri"/>
              </a:rPr>
              <a:t>A hyperparameter that shifts weight toward the keyword-enriched distribution. Higher values increase keyword density.</a:t>
            </a:r>
            <a:endParaRPr sz="1000" dirty="0">
              <a:solidFill>
                <a:schemeClr val="dk1"/>
              </a:solidFill>
              <a:latin typeface="Calibri"/>
              <a:ea typeface="Calibri"/>
              <a:cs typeface="Calibri"/>
              <a:sym typeface="Calibri"/>
            </a:endParaRPr>
          </a:p>
        </p:txBody>
      </p:sp>
      <p:sp>
        <p:nvSpPr>
          <p:cNvPr id="208" name="Google Shape;208;p11"/>
          <p:cNvSpPr/>
          <p:nvPr/>
        </p:nvSpPr>
        <p:spPr>
          <a:xfrm>
            <a:off x="5772113" y="2748578"/>
            <a:ext cx="2943300" cy="3060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47AB"/>
              </a:buClr>
              <a:buSzPts val="1397"/>
              <a:buFont typeface="Calibri"/>
              <a:buNone/>
            </a:pPr>
            <a:r>
              <a:rPr lang="en-US" sz="1000" b="1">
                <a:solidFill>
                  <a:srgbClr val="0047AB"/>
                </a:solidFill>
                <a:latin typeface="Calibri"/>
                <a:ea typeface="Calibri"/>
                <a:cs typeface="Calibri"/>
                <a:sym typeface="Calibri"/>
              </a:rPr>
              <a:t>p̂</a:t>
            </a:r>
            <a:r>
              <a:rPr lang="en-US" sz="1000" b="1" baseline="-25000">
                <a:solidFill>
                  <a:srgbClr val="0047AB"/>
                </a:solidFill>
                <a:latin typeface="Calibri"/>
                <a:ea typeface="Calibri"/>
                <a:cs typeface="Calibri"/>
                <a:sym typeface="Calibri"/>
              </a:rPr>
              <a:t>t+1</a:t>
            </a:r>
            <a:r>
              <a:rPr lang="en-US" sz="1000" b="1">
                <a:solidFill>
                  <a:srgbClr val="0047AB"/>
                </a:solidFill>
                <a:latin typeface="Calibri"/>
                <a:ea typeface="Calibri"/>
                <a:cs typeface="Calibri"/>
                <a:sym typeface="Calibri"/>
              </a:rPr>
              <a:t> (Modified Dist.)</a:t>
            </a:r>
            <a:endParaRPr sz="1000">
              <a:solidFill>
                <a:schemeClr val="dk1"/>
              </a:solidFill>
              <a:latin typeface="Calibri"/>
              <a:ea typeface="Calibri"/>
              <a:cs typeface="Calibri"/>
              <a:sym typeface="Calibri"/>
            </a:endParaRPr>
          </a:p>
        </p:txBody>
      </p:sp>
      <p:sp>
        <p:nvSpPr>
          <p:cNvPr id="209" name="Google Shape;209;p11"/>
          <p:cNvSpPr/>
          <p:nvPr/>
        </p:nvSpPr>
        <p:spPr>
          <a:xfrm>
            <a:off x="5772150" y="2990744"/>
            <a:ext cx="2943300" cy="51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000">
                <a:solidFill>
                  <a:srgbClr val="333333"/>
                </a:solidFill>
                <a:latin typeface="Calibri"/>
                <a:ea typeface="Calibri"/>
                <a:cs typeface="Calibri"/>
                <a:sym typeface="Calibri"/>
              </a:rPr>
              <a:t>The distribution geared toward integrating sub-keywords from top-10 results and the landing page.</a:t>
            </a:r>
            <a:endParaRPr sz="1000">
              <a:solidFill>
                <a:schemeClr val="dk1"/>
              </a:solidFill>
              <a:latin typeface="Calibri"/>
              <a:ea typeface="Calibri"/>
              <a:cs typeface="Calibri"/>
              <a:sym typeface="Calibri"/>
            </a:endParaRPr>
          </a:p>
        </p:txBody>
      </p:sp>
      <p:sp>
        <p:nvSpPr>
          <p:cNvPr id="210" name="Google Shape;210;p11"/>
          <p:cNvSpPr/>
          <p:nvPr/>
        </p:nvSpPr>
        <p:spPr>
          <a:xfrm>
            <a:off x="5772163" y="3506441"/>
            <a:ext cx="29433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47AB"/>
              </a:buClr>
              <a:buSzPts val="1397"/>
              <a:buFont typeface="Calibri"/>
              <a:buNone/>
            </a:pPr>
            <a:r>
              <a:rPr lang="en-US" sz="1000" b="1">
                <a:solidFill>
                  <a:srgbClr val="0047AB"/>
                </a:solidFill>
                <a:latin typeface="Calibri"/>
                <a:ea typeface="Calibri"/>
                <a:cs typeface="Calibri"/>
                <a:sym typeface="Calibri"/>
              </a:rPr>
              <a:t>β (Normalization)</a:t>
            </a:r>
            <a:endParaRPr sz="1000">
              <a:solidFill>
                <a:schemeClr val="dk1"/>
              </a:solidFill>
              <a:latin typeface="Calibri"/>
              <a:ea typeface="Calibri"/>
              <a:cs typeface="Calibri"/>
              <a:sym typeface="Calibri"/>
            </a:endParaRPr>
          </a:p>
        </p:txBody>
      </p:sp>
      <p:sp>
        <p:nvSpPr>
          <p:cNvPr id="211" name="Google Shape;211;p11"/>
          <p:cNvSpPr/>
          <p:nvPr/>
        </p:nvSpPr>
        <p:spPr>
          <a:xfrm>
            <a:off x="5772163" y="3815408"/>
            <a:ext cx="2943300" cy="12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000">
                <a:solidFill>
                  <a:srgbClr val="333333"/>
                </a:solidFill>
                <a:latin typeface="Calibri"/>
                <a:ea typeface="Calibri"/>
                <a:cs typeface="Calibri"/>
                <a:sym typeface="Calibri"/>
              </a:rPr>
              <a:t>A term ensuring the resulting composite distribution yields a valid probability sum of one.</a:t>
            </a:r>
            <a:endParaRPr sz="1000">
              <a:solidFill>
                <a:schemeClr val="dk1"/>
              </a:solidFill>
              <a:latin typeface="Calibri"/>
              <a:ea typeface="Calibri"/>
              <a:cs typeface="Calibri"/>
              <a:sym typeface="Calibri"/>
            </a:endParaRPr>
          </a:p>
        </p:txBody>
      </p:sp>
      <p:pic>
        <p:nvPicPr>
          <p:cNvPr id="212" name="Google Shape;212;p11"/>
          <p:cNvPicPr preferRelativeResize="0"/>
          <p:nvPr/>
        </p:nvPicPr>
        <p:blipFill rotWithShape="1">
          <a:blip r:embed="rId4">
            <a:alphaModFix/>
          </a:blip>
          <a:srcRect/>
          <a:stretch/>
        </p:blipFill>
        <p:spPr>
          <a:xfrm>
            <a:off x="794795" y="2578368"/>
            <a:ext cx="3891505" cy="101931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12" descr="preencoded.png"/>
          <p:cNvPicPr preferRelativeResize="0"/>
          <p:nvPr/>
        </p:nvPicPr>
        <p:blipFill rotWithShape="1">
          <a:blip r:embed="rId3">
            <a:alphaModFix/>
          </a:blip>
          <a:srcRect/>
          <a:stretch/>
        </p:blipFill>
        <p:spPr>
          <a:xfrm>
            <a:off x="0" y="0"/>
            <a:ext cx="9144002" cy="5143500"/>
          </a:xfrm>
          <a:prstGeom prst="rect">
            <a:avLst/>
          </a:prstGeom>
          <a:noFill/>
          <a:ln>
            <a:noFill/>
          </a:ln>
        </p:spPr>
      </p:pic>
      <p:sp>
        <p:nvSpPr>
          <p:cNvPr id="219" name="Google Shape;219;p12"/>
          <p:cNvSpPr/>
          <p:nvPr/>
        </p:nvSpPr>
        <p:spPr>
          <a:xfrm>
            <a:off x="0" y="0"/>
            <a:ext cx="9144000" cy="1675209"/>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12"/>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1" name="Google Shape;221;p12"/>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Operationalizing Relevance: The CS_ad Formula</a:t>
            </a:r>
            <a:endParaRPr sz="2862">
              <a:solidFill>
                <a:schemeClr val="dk1"/>
              </a:solidFill>
              <a:latin typeface="Calibri"/>
              <a:ea typeface="Calibri"/>
              <a:cs typeface="Calibri"/>
              <a:sym typeface="Calibri"/>
            </a:endParaRPr>
          </a:p>
        </p:txBody>
      </p:sp>
      <p:sp>
        <p:nvSpPr>
          <p:cNvPr id="222" name="Google Shape;222;p12"/>
          <p:cNvSpPr/>
          <p:nvPr/>
        </p:nvSpPr>
        <p:spPr>
          <a:xfrm>
            <a:off x="428625" y="1797652"/>
            <a:ext cx="34347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The Scoring Equation</a:t>
            </a:r>
            <a:endParaRPr sz="1499">
              <a:solidFill>
                <a:schemeClr val="dk1"/>
              </a:solidFill>
              <a:latin typeface="Calibri"/>
              <a:ea typeface="Calibri"/>
              <a:cs typeface="Calibri"/>
              <a:sym typeface="Calibri"/>
            </a:endParaRPr>
          </a:p>
        </p:txBody>
      </p:sp>
      <p:sp>
        <p:nvSpPr>
          <p:cNvPr id="223" name="Google Shape;223;p12"/>
          <p:cNvSpPr/>
          <p:nvPr/>
        </p:nvSpPr>
        <p:spPr>
          <a:xfrm>
            <a:off x="428625" y="2466380"/>
            <a:ext cx="3434832" cy="624979"/>
          </a:xfrm>
          <a:prstGeom prst="rect">
            <a:avLst/>
          </a:prstGeom>
          <a:noFill/>
          <a:ln>
            <a:noFill/>
          </a:ln>
        </p:spPr>
        <p:txBody>
          <a:bodyPr spcFirstLastPara="1" wrap="square" lIns="170050" tIns="170050" rIns="170050" bIns="170050" anchor="t" anchorCtr="0">
            <a:noAutofit/>
          </a:bodyPr>
          <a:lstStyle/>
          <a:p>
            <a:pPr marL="0" marR="0" lvl="0" indent="0" algn="l" rtl="0">
              <a:lnSpc>
                <a:spcPct val="160106"/>
              </a:lnSpc>
              <a:spcBef>
                <a:spcPts val="0"/>
              </a:spcBef>
              <a:spcAft>
                <a:spcPts val="0"/>
              </a:spcAft>
              <a:buClr>
                <a:schemeClr val="dk1"/>
              </a:buClr>
              <a:buSzPts val="1499"/>
              <a:buFont typeface="Calibri"/>
              <a:buNone/>
            </a:pPr>
            <a:endParaRPr sz="1499">
              <a:solidFill>
                <a:schemeClr val="dk1"/>
              </a:solidFill>
              <a:latin typeface="Calibri"/>
              <a:ea typeface="Calibri"/>
              <a:cs typeface="Calibri"/>
              <a:sym typeface="Calibri"/>
            </a:endParaRPr>
          </a:p>
        </p:txBody>
      </p:sp>
      <p:sp>
        <p:nvSpPr>
          <p:cNvPr id="224" name="Google Shape;224;p12"/>
          <p:cNvSpPr/>
          <p:nvPr/>
        </p:nvSpPr>
        <p:spPr>
          <a:xfrm>
            <a:off x="180637" y="3331659"/>
            <a:ext cx="3434700" cy="1400100"/>
          </a:xfrm>
          <a:prstGeom prst="rect">
            <a:avLst/>
          </a:prstGeom>
          <a:noFill/>
          <a:ln>
            <a:noFill/>
          </a:ln>
        </p:spPr>
        <p:txBody>
          <a:bodyPr spcFirstLastPara="1" wrap="square" lIns="0" tIns="0" rIns="0" bIns="0" anchor="t" anchorCtr="0">
            <a:noAutofit/>
          </a:bodyPr>
          <a:lstStyle/>
          <a:p>
            <a:pPr marL="0" marR="0" lvl="0" indent="0" algn="l" rtl="0">
              <a:lnSpc>
                <a:spcPct val="169278"/>
              </a:lnSpc>
              <a:spcBef>
                <a:spcPts val="0"/>
              </a:spcBef>
              <a:spcAft>
                <a:spcPts val="0"/>
              </a:spcAft>
              <a:buClr>
                <a:srgbClr val="333333"/>
              </a:buClr>
              <a:buSzPts val="1595"/>
              <a:buFont typeface="Calibri"/>
              <a:buNone/>
            </a:pPr>
            <a:r>
              <a:rPr lang="en-US" sz="1595" dirty="0">
                <a:solidFill>
                  <a:srgbClr val="333333"/>
                </a:solidFill>
                <a:latin typeface="Calibri"/>
                <a:ea typeface="Calibri"/>
                <a:cs typeface="Calibri"/>
                <a:sym typeface="Calibri"/>
              </a:rPr>
              <a:t>The Content Score (</a:t>
            </a:r>
            <a:r>
              <a:rPr lang="en-US" sz="1595" dirty="0" err="1">
                <a:solidFill>
                  <a:srgbClr val="333333"/>
                </a:solidFill>
                <a:latin typeface="Calibri"/>
                <a:ea typeface="Calibri"/>
                <a:cs typeface="Calibri"/>
                <a:sym typeface="Calibri"/>
              </a:rPr>
              <a:t>CS</a:t>
            </a:r>
            <a:r>
              <a:rPr lang="en-US" sz="1323" baseline="-25000" dirty="0" err="1">
                <a:solidFill>
                  <a:srgbClr val="333333"/>
                </a:solidFill>
                <a:latin typeface="Calibri"/>
                <a:ea typeface="Calibri"/>
                <a:cs typeface="Calibri"/>
                <a:sym typeface="Calibri"/>
              </a:rPr>
              <a:t>ad</a:t>
            </a:r>
            <a:r>
              <a:rPr lang="en-US" sz="1595" dirty="0">
                <a:solidFill>
                  <a:srgbClr val="333333"/>
                </a:solidFill>
                <a:latin typeface="Calibri"/>
                <a:ea typeface="Calibri"/>
                <a:cs typeface="Calibri"/>
                <a:sym typeface="Calibri"/>
              </a:rPr>
              <a:t>) provides a multi-dimensional measure of an ad's alignment with the search engine's relevance criteria.</a:t>
            </a:r>
            <a:endParaRPr sz="1595" dirty="0">
              <a:solidFill>
                <a:schemeClr val="dk1"/>
              </a:solidFill>
              <a:latin typeface="Calibri"/>
              <a:ea typeface="Calibri"/>
              <a:cs typeface="Calibri"/>
              <a:sym typeface="Calibri"/>
            </a:endParaRPr>
          </a:p>
        </p:txBody>
      </p:sp>
      <p:sp>
        <p:nvSpPr>
          <p:cNvPr id="225" name="Google Shape;225;p12"/>
          <p:cNvSpPr/>
          <p:nvPr/>
        </p:nvSpPr>
        <p:spPr>
          <a:xfrm>
            <a:off x="4156350" y="1660924"/>
            <a:ext cx="4987500" cy="34827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6" name="Google Shape;226;p12"/>
          <p:cNvSpPr/>
          <p:nvPr/>
        </p:nvSpPr>
        <p:spPr>
          <a:xfrm>
            <a:off x="4442101" y="1797652"/>
            <a:ext cx="42732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Component Breakdown</a:t>
            </a:r>
            <a:endParaRPr sz="1499">
              <a:solidFill>
                <a:schemeClr val="dk1"/>
              </a:solidFill>
              <a:latin typeface="Calibri"/>
              <a:ea typeface="Calibri"/>
              <a:cs typeface="Calibri"/>
              <a:sym typeface="Calibri"/>
            </a:endParaRPr>
          </a:p>
        </p:txBody>
      </p:sp>
      <p:sp>
        <p:nvSpPr>
          <p:cNvPr id="227" name="Google Shape;227;p12"/>
          <p:cNvSpPr/>
          <p:nvPr/>
        </p:nvSpPr>
        <p:spPr>
          <a:xfrm>
            <a:off x="4442101" y="2146600"/>
            <a:ext cx="4273200" cy="281700"/>
          </a:xfrm>
          <a:prstGeom prst="rect">
            <a:avLst/>
          </a:prstGeom>
          <a:noFill/>
          <a:ln>
            <a:noFill/>
          </a:ln>
        </p:spPr>
        <p:txBody>
          <a:bodyPr spcFirstLastPara="1" wrap="square" lIns="0" tIns="0" rIns="0" bIns="0" anchor="t" anchorCtr="0">
            <a:noAutofit/>
          </a:bodyPr>
          <a:lstStyle/>
          <a:p>
            <a:pPr marL="0" marR="0" lvl="0" indent="0" algn="l" rtl="0">
              <a:lnSpc>
                <a:spcPct val="138996"/>
              </a:lnSpc>
              <a:spcBef>
                <a:spcPts val="0"/>
              </a:spcBef>
              <a:spcAft>
                <a:spcPts val="0"/>
              </a:spcAft>
              <a:buClr>
                <a:srgbClr val="0047AB"/>
              </a:buClr>
              <a:buSzPts val="1295"/>
              <a:buFont typeface="Calibri"/>
              <a:buNone/>
            </a:pPr>
            <a:r>
              <a:rPr lang="en-US" sz="1295" b="1">
                <a:solidFill>
                  <a:srgbClr val="0047AB"/>
                </a:solidFill>
                <a:latin typeface="Calibri"/>
                <a:ea typeface="Calibri"/>
                <a:cs typeface="Calibri"/>
                <a:sym typeface="Calibri"/>
              </a:rPr>
              <a:t>sim_t10</a:t>
            </a:r>
            <a:r>
              <a:rPr lang="en-US" sz="1073" b="1" baseline="-25000">
                <a:solidFill>
                  <a:srgbClr val="0047AB"/>
                </a:solidFill>
                <a:latin typeface="Calibri"/>
                <a:ea typeface="Calibri"/>
                <a:cs typeface="Calibri"/>
                <a:sym typeface="Calibri"/>
              </a:rPr>
              <a:t>ad</a:t>
            </a:r>
            <a:r>
              <a:rPr lang="en-US" sz="1295" b="1">
                <a:solidFill>
                  <a:srgbClr val="0047AB"/>
                </a:solidFill>
                <a:latin typeface="Calibri"/>
                <a:ea typeface="Calibri"/>
                <a:cs typeface="Calibri"/>
                <a:sym typeface="Calibri"/>
              </a:rPr>
              <a:t> &amp; sim_LP</a:t>
            </a:r>
            <a:r>
              <a:rPr lang="en-US" sz="1073" b="1" baseline="-25000">
                <a:solidFill>
                  <a:srgbClr val="0047AB"/>
                </a:solidFill>
                <a:latin typeface="Calibri"/>
                <a:ea typeface="Calibri"/>
                <a:cs typeface="Calibri"/>
                <a:sym typeface="Calibri"/>
              </a:rPr>
              <a:t>ad</a:t>
            </a:r>
            <a:endParaRPr sz="1295">
              <a:solidFill>
                <a:schemeClr val="dk1"/>
              </a:solidFill>
              <a:latin typeface="Calibri"/>
              <a:ea typeface="Calibri"/>
              <a:cs typeface="Calibri"/>
              <a:sym typeface="Calibri"/>
            </a:endParaRPr>
          </a:p>
        </p:txBody>
      </p:sp>
      <p:sp>
        <p:nvSpPr>
          <p:cNvPr id="228" name="Google Shape;228;p12"/>
          <p:cNvSpPr/>
          <p:nvPr/>
        </p:nvSpPr>
        <p:spPr>
          <a:xfrm>
            <a:off x="4442101" y="2449847"/>
            <a:ext cx="4273200" cy="44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Semantic fit (cosine similarity) between the ad copy and the top 10 organic results / landing page.</a:t>
            </a:r>
            <a:endParaRPr sz="1159">
              <a:solidFill>
                <a:schemeClr val="dk1"/>
              </a:solidFill>
              <a:latin typeface="Calibri"/>
              <a:ea typeface="Calibri"/>
              <a:cs typeface="Calibri"/>
              <a:sym typeface="Calibri"/>
            </a:endParaRPr>
          </a:p>
        </p:txBody>
      </p:sp>
      <p:sp>
        <p:nvSpPr>
          <p:cNvPr id="229" name="Google Shape;229;p12"/>
          <p:cNvSpPr/>
          <p:nvPr/>
        </p:nvSpPr>
        <p:spPr>
          <a:xfrm>
            <a:off x="4442101" y="3009151"/>
            <a:ext cx="4273200" cy="281700"/>
          </a:xfrm>
          <a:prstGeom prst="rect">
            <a:avLst/>
          </a:prstGeom>
          <a:noFill/>
          <a:ln>
            <a:noFill/>
          </a:ln>
        </p:spPr>
        <p:txBody>
          <a:bodyPr spcFirstLastPara="1" wrap="square" lIns="0" tIns="0" rIns="0" bIns="0" anchor="t" anchorCtr="0">
            <a:noAutofit/>
          </a:bodyPr>
          <a:lstStyle/>
          <a:p>
            <a:pPr marL="0" marR="0" lvl="0" indent="0" algn="l" rtl="0">
              <a:lnSpc>
                <a:spcPct val="138996"/>
              </a:lnSpc>
              <a:spcBef>
                <a:spcPts val="0"/>
              </a:spcBef>
              <a:spcAft>
                <a:spcPts val="0"/>
              </a:spcAft>
              <a:buClr>
                <a:srgbClr val="0047AB"/>
              </a:buClr>
              <a:buSzPts val="1295"/>
              <a:buFont typeface="Calibri"/>
              <a:buNone/>
            </a:pPr>
            <a:r>
              <a:rPr lang="en-US" sz="1295" b="1">
                <a:solidFill>
                  <a:srgbClr val="0047AB"/>
                </a:solidFill>
                <a:latin typeface="Calibri"/>
                <a:ea typeface="Calibri"/>
                <a:cs typeface="Calibri"/>
                <a:sym typeface="Calibri"/>
              </a:rPr>
              <a:t>KW_f10</a:t>
            </a:r>
            <a:r>
              <a:rPr lang="en-US" sz="1073" b="1" baseline="-25000">
                <a:solidFill>
                  <a:srgbClr val="0047AB"/>
                </a:solidFill>
                <a:latin typeface="Calibri"/>
                <a:ea typeface="Calibri"/>
                <a:cs typeface="Calibri"/>
                <a:sym typeface="Calibri"/>
              </a:rPr>
              <a:t>ad</a:t>
            </a:r>
            <a:r>
              <a:rPr lang="en-US" sz="1295" b="1">
                <a:solidFill>
                  <a:srgbClr val="0047AB"/>
                </a:solidFill>
                <a:latin typeface="Calibri"/>
                <a:ea typeface="Calibri"/>
                <a:cs typeface="Calibri"/>
                <a:sym typeface="Calibri"/>
              </a:rPr>
              <a:t> &amp; KW_LP</a:t>
            </a:r>
            <a:r>
              <a:rPr lang="en-US" sz="1073" b="1" baseline="-25000">
                <a:solidFill>
                  <a:srgbClr val="0047AB"/>
                </a:solidFill>
                <a:latin typeface="Calibri"/>
                <a:ea typeface="Calibri"/>
                <a:cs typeface="Calibri"/>
                <a:sym typeface="Calibri"/>
              </a:rPr>
              <a:t>ad</a:t>
            </a:r>
            <a:endParaRPr sz="1295">
              <a:solidFill>
                <a:schemeClr val="dk1"/>
              </a:solidFill>
              <a:latin typeface="Calibri"/>
              <a:ea typeface="Calibri"/>
              <a:cs typeface="Calibri"/>
              <a:sym typeface="Calibri"/>
            </a:endParaRPr>
          </a:p>
        </p:txBody>
      </p:sp>
      <p:sp>
        <p:nvSpPr>
          <p:cNvPr id="230" name="Google Shape;230;p12"/>
          <p:cNvSpPr/>
          <p:nvPr/>
        </p:nvSpPr>
        <p:spPr>
          <a:xfrm>
            <a:off x="4442101" y="3312398"/>
            <a:ext cx="4273200" cy="44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Proportion of sub-keywords from the top 10 results and landing page integrated into the ad.</a:t>
            </a:r>
            <a:endParaRPr sz="1159">
              <a:solidFill>
                <a:schemeClr val="dk1"/>
              </a:solidFill>
              <a:latin typeface="Calibri"/>
              <a:ea typeface="Calibri"/>
              <a:cs typeface="Calibri"/>
              <a:sym typeface="Calibri"/>
            </a:endParaRPr>
          </a:p>
        </p:txBody>
      </p:sp>
      <p:sp>
        <p:nvSpPr>
          <p:cNvPr id="231" name="Google Shape;231;p12"/>
          <p:cNvSpPr/>
          <p:nvPr/>
        </p:nvSpPr>
        <p:spPr>
          <a:xfrm>
            <a:off x="4442101" y="3825612"/>
            <a:ext cx="4273200" cy="281700"/>
          </a:xfrm>
          <a:prstGeom prst="rect">
            <a:avLst/>
          </a:prstGeom>
          <a:noFill/>
          <a:ln>
            <a:noFill/>
          </a:ln>
        </p:spPr>
        <p:txBody>
          <a:bodyPr spcFirstLastPara="1" wrap="square" lIns="0" tIns="0" rIns="0" bIns="0" anchor="t" anchorCtr="0">
            <a:noAutofit/>
          </a:bodyPr>
          <a:lstStyle/>
          <a:p>
            <a:pPr marL="0" marR="0" lvl="0" indent="0" algn="l" rtl="0">
              <a:lnSpc>
                <a:spcPct val="138996"/>
              </a:lnSpc>
              <a:spcBef>
                <a:spcPts val="0"/>
              </a:spcBef>
              <a:spcAft>
                <a:spcPts val="0"/>
              </a:spcAft>
              <a:buClr>
                <a:srgbClr val="0047AB"/>
              </a:buClr>
              <a:buSzPts val="1295"/>
              <a:buFont typeface="Calibri"/>
              <a:buNone/>
            </a:pPr>
            <a:r>
              <a:rPr lang="en-US" sz="1295" b="1">
                <a:solidFill>
                  <a:srgbClr val="0047AB"/>
                </a:solidFill>
                <a:latin typeface="Calibri"/>
                <a:ea typeface="Calibri"/>
                <a:cs typeface="Calibri"/>
                <a:sym typeface="Calibri"/>
              </a:rPr>
              <a:t>KW_main</a:t>
            </a:r>
            <a:r>
              <a:rPr lang="en-US" sz="1073" b="1" baseline="-25000">
                <a:solidFill>
                  <a:srgbClr val="0047AB"/>
                </a:solidFill>
                <a:latin typeface="Calibri"/>
                <a:ea typeface="Calibri"/>
                <a:cs typeface="Calibri"/>
                <a:sym typeface="Calibri"/>
              </a:rPr>
              <a:t>ad</a:t>
            </a:r>
            <a:endParaRPr sz="1295">
              <a:solidFill>
                <a:schemeClr val="dk1"/>
              </a:solidFill>
              <a:latin typeface="Calibri"/>
              <a:ea typeface="Calibri"/>
              <a:cs typeface="Calibri"/>
              <a:sym typeface="Calibri"/>
            </a:endParaRPr>
          </a:p>
        </p:txBody>
      </p:sp>
      <p:sp>
        <p:nvSpPr>
          <p:cNvPr id="232" name="Google Shape;232;p12"/>
          <p:cNvSpPr/>
          <p:nvPr/>
        </p:nvSpPr>
        <p:spPr>
          <a:xfrm>
            <a:off x="4442101" y="4128858"/>
            <a:ext cx="4273200" cy="44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Binary indicator of whether the focal keyword is present in the ad copy.</a:t>
            </a:r>
            <a:endParaRPr sz="1159">
              <a:solidFill>
                <a:schemeClr val="dk1"/>
              </a:solidFill>
              <a:latin typeface="Calibri"/>
              <a:ea typeface="Calibri"/>
              <a:cs typeface="Calibri"/>
              <a:sym typeface="Calibri"/>
            </a:endParaRPr>
          </a:p>
        </p:txBody>
      </p:sp>
      <p:sp>
        <p:nvSpPr>
          <p:cNvPr id="233" name="Google Shape;233;p12"/>
          <p:cNvSpPr/>
          <p:nvPr/>
        </p:nvSpPr>
        <p:spPr>
          <a:xfrm>
            <a:off x="4442101" y="4334816"/>
            <a:ext cx="4273200" cy="281700"/>
          </a:xfrm>
          <a:prstGeom prst="rect">
            <a:avLst/>
          </a:prstGeom>
          <a:noFill/>
          <a:ln>
            <a:noFill/>
          </a:ln>
        </p:spPr>
        <p:txBody>
          <a:bodyPr spcFirstLastPara="1" wrap="square" lIns="0" tIns="0" rIns="0" bIns="0" anchor="t" anchorCtr="0">
            <a:noAutofit/>
          </a:bodyPr>
          <a:lstStyle/>
          <a:p>
            <a:pPr marL="0" marR="0" lvl="0" indent="0" algn="l" rtl="0">
              <a:lnSpc>
                <a:spcPct val="138996"/>
              </a:lnSpc>
              <a:spcBef>
                <a:spcPts val="0"/>
              </a:spcBef>
              <a:spcAft>
                <a:spcPts val="0"/>
              </a:spcAft>
              <a:buClr>
                <a:srgbClr val="0047AB"/>
              </a:buClr>
              <a:buSzPts val="1295"/>
              <a:buFont typeface="Calibri"/>
              <a:buNone/>
            </a:pPr>
            <a:r>
              <a:rPr lang="en-US" sz="1295" b="1">
                <a:solidFill>
                  <a:srgbClr val="0047AB"/>
                </a:solidFill>
                <a:latin typeface="Calibri"/>
                <a:ea typeface="Calibri"/>
                <a:cs typeface="Calibri"/>
                <a:sym typeface="Calibri"/>
              </a:rPr>
              <a:t>l</a:t>
            </a:r>
            <a:r>
              <a:rPr lang="en-US" sz="1073" b="1" baseline="-25000">
                <a:solidFill>
                  <a:srgbClr val="0047AB"/>
                </a:solidFill>
                <a:latin typeface="Calibri"/>
                <a:ea typeface="Calibri"/>
                <a:cs typeface="Calibri"/>
                <a:sym typeface="Calibri"/>
              </a:rPr>
              <a:t>10</a:t>
            </a:r>
            <a:r>
              <a:rPr lang="en-US" sz="1295" b="1">
                <a:solidFill>
                  <a:srgbClr val="0047AB"/>
                </a:solidFill>
                <a:latin typeface="Calibri"/>
                <a:ea typeface="Calibri"/>
                <a:cs typeface="Calibri"/>
                <a:sym typeface="Calibri"/>
              </a:rPr>
              <a:t> &amp; l</a:t>
            </a:r>
            <a:r>
              <a:rPr lang="en-US" sz="1073" b="1" baseline="-25000">
                <a:solidFill>
                  <a:srgbClr val="0047AB"/>
                </a:solidFill>
                <a:latin typeface="Calibri"/>
                <a:ea typeface="Calibri"/>
                <a:cs typeface="Calibri"/>
                <a:sym typeface="Calibri"/>
              </a:rPr>
              <a:t>LP</a:t>
            </a:r>
            <a:r>
              <a:rPr lang="en-US" sz="1295" b="1">
                <a:solidFill>
                  <a:srgbClr val="0047AB"/>
                </a:solidFill>
                <a:latin typeface="Calibri"/>
                <a:ea typeface="Calibri"/>
                <a:cs typeface="Calibri"/>
                <a:sym typeface="Calibri"/>
              </a:rPr>
              <a:t> (Focus Parameters)</a:t>
            </a:r>
            <a:endParaRPr sz="1295">
              <a:solidFill>
                <a:schemeClr val="dk1"/>
              </a:solidFill>
              <a:latin typeface="Calibri"/>
              <a:ea typeface="Calibri"/>
              <a:cs typeface="Calibri"/>
              <a:sym typeface="Calibri"/>
            </a:endParaRPr>
          </a:p>
        </p:txBody>
      </p:sp>
      <p:sp>
        <p:nvSpPr>
          <p:cNvPr id="234" name="Google Shape;234;p12"/>
          <p:cNvSpPr/>
          <p:nvPr/>
        </p:nvSpPr>
        <p:spPr>
          <a:xfrm>
            <a:off x="4442101" y="4638062"/>
            <a:ext cx="4273200" cy="44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159"/>
              <a:buFont typeface="Calibri"/>
              <a:buNone/>
            </a:pPr>
            <a:r>
              <a:rPr lang="en-US" sz="1159" dirty="0">
                <a:solidFill>
                  <a:srgbClr val="333333"/>
                </a:solidFill>
                <a:latin typeface="Calibri"/>
                <a:ea typeface="Calibri"/>
                <a:cs typeface="Calibri"/>
                <a:sym typeface="Calibri"/>
              </a:rPr>
              <a:t>Logistic transformations that weight the importance of organic results vs. landing page consistency.</a:t>
            </a:r>
            <a:endParaRPr sz="1159" dirty="0">
              <a:solidFill>
                <a:schemeClr val="dk1"/>
              </a:solidFill>
              <a:latin typeface="Calibri"/>
              <a:ea typeface="Calibri"/>
              <a:cs typeface="Calibri"/>
              <a:sym typeface="Calibri"/>
            </a:endParaRPr>
          </a:p>
        </p:txBody>
      </p:sp>
      <p:pic>
        <p:nvPicPr>
          <p:cNvPr id="235" name="Google Shape;235;p12"/>
          <p:cNvPicPr preferRelativeResize="0"/>
          <p:nvPr/>
        </p:nvPicPr>
        <p:blipFill rotWithShape="1">
          <a:blip r:embed="rId4">
            <a:alphaModFix/>
          </a:blip>
          <a:srcRect/>
          <a:stretch/>
        </p:blipFill>
        <p:spPr>
          <a:xfrm>
            <a:off x="180637" y="2415580"/>
            <a:ext cx="3930691" cy="50433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pic>
        <p:nvPicPr>
          <p:cNvPr id="241" name="Google Shape;241;p13" descr="preencoded.png"/>
          <p:cNvPicPr preferRelativeResize="0"/>
          <p:nvPr/>
        </p:nvPicPr>
        <p:blipFill rotWithShape="1">
          <a:blip r:embed="rId3">
            <a:alphaModFix/>
          </a:blip>
          <a:srcRect/>
          <a:stretch/>
        </p:blipFill>
        <p:spPr>
          <a:xfrm>
            <a:off x="0" y="0"/>
            <a:ext cx="9144002" cy="5143502"/>
          </a:xfrm>
          <a:prstGeom prst="rect">
            <a:avLst/>
          </a:prstGeom>
          <a:noFill/>
          <a:ln>
            <a:noFill/>
          </a:ln>
        </p:spPr>
      </p:pic>
      <p:sp>
        <p:nvSpPr>
          <p:cNvPr id="242" name="Google Shape;242;p13"/>
          <p:cNvSpPr/>
          <p:nvPr/>
        </p:nvSpPr>
        <p:spPr>
          <a:xfrm>
            <a:off x="0" y="0"/>
            <a:ext cx="9144000" cy="1675209"/>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3" name="Google Shape;243;p13"/>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4" name="Google Shape;244;p13"/>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Predictive CPC Modeling: Balancing Performance and Cost</a:t>
            </a:r>
            <a:endParaRPr sz="2862">
              <a:solidFill>
                <a:schemeClr val="dk1"/>
              </a:solidFill>
              <a:latin typeface="Calibri"/>
              <a:ea typeface="Calibri"/>
              <a:cs typeface="Calibri"/>
              <a:sym typeface="Calibri"/>
            </a:endParaRPr>
          </a:p>
        </p:txBody>
      </p:sp>
      <p:sp>
        <p:nvSpPr>
          <p:cNvPr id="245" name="Google Shape;245;p13"/>
          <p:cNvSpPr/>
          <p:nvPr/>
        </p:nvSpPr>
        <p:spPr>
          <a:xfrm>
            <a:off x="428625" y="2089547"/>
            <a:ext cx="4307681"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The Selection Layer</a:t>
            </a:r>
            <a:endParaRPr sz="1499">
              <a:solidFill>
                <a:schemeClr val="dk1"/>
              </a:solidFill>
              <a:latin typeface="Calibri"/>
              <a:ea typeface="Calibri"/>
              <a:cs typeface="Calibri"/>
              <a:sym typeface="Calibri"/>
            </a:endParaRPr>
          </a:p>
        </p:txBody>
      </p:sp>
      <p:sp>
        <p:nvSpPr>
          <p:cNvPr id="246" name="Google Shape;246;p13"/>
          <p:cNvSpPr/>
          <p:nvPr/>
        </p:nvSpPr>
        <p:spPr>
          <a:xfrm>
            <a:off x="428625" y="2523530"/>
            <a:ext cx="4307681" cy="2077045"/>
          </a:xfrm>
          <a:prstGeom prst="rect">
            <a:avLst/>
          </a:prstGeom>
          <a:solidFill>
            <a:srgbClr val="0047A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13"/>
          <p:cNvSpPr/>
          <p:nvPr/>
        </p:nvSpPr>
        <p:spPr>
          <a:xfrm>
            <a:off x="642938" y="2737842"/>
            <a:ext cx="3879056"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FFFF"/>
              </a:buClr>
              <a:buSzPts val="1499"/>
              <a:buFont typeface="Calibri"/>
              <a:buNone/>
            </a:pPr>
            <a:r>
              <a:rPr lang="en-US" sz="1499" b="1">
                <a:solidFill>
                  <a:srgbClr val="FFFFFF"/>
                </a:solidFill>
                <a:latin typeface="Calibri"/>
                <a:ea typeface="Calibri"/>
                <a:cs typeface="Calibri"/>
                <a:sym typeface="Calibri"/>
              </a:rPr>
              <a:t>Random Forest Regressor</a:t>
            </a:r>
            <a:endParaRPr sz="1499">
              <a:solidFill>
                <a:schemeClr val="dk1"/>
              </a:solidFill>
              <a:latin typeface="Calibri"/>
              <a:ea typeface="Calibri"/>
              <a:cs typeface="Calibri"/>
              <a:sym typeface="Calibri"/>
            </a:endParaRPr>
          </a:p>
        </p:txBody>
      </p:sp>
      <p:sp>
        <p:nvSpPr>
          <p:cNvPr id="248" name="Google Shape;248;p13"/>
          <p:cNvSpPr/>
          <p:nvPr/>
        </p:nvSpPr>
        <p:spPr>
          <a:xfrm>
            <a:off x="642938" y="3100388"/>
            <a:ext cx="3879056" cy="1285875"/>
          </a:xfrm>
          <a:prstGeom prst="rect">
            <a:avLst/>
          </a:prstGeom>
          <a:noFill/>
          <a:ln>
            <a:noFill/>
          </a:ln>
        </p:spPr>
        <p:txBody>
          <a:bodyPr spcFirstLastPara="1" wrap="square" lIns="0" tIns="0" rIns="0" bIns="0" anchor="t" anchorCtr="0">
            <a:noAutofit/>
          </a:bodyPr>
          <a:lstStyle/>
          <a:p>
            <a:pPr marL="0" marR="0" lvl="0" indent="0" algn="l" rtl="0">
              <a:lnSpc>
                <a:spcPct val="156739"/>
              </a:lnSpc>
              <a:spcBef>
                <a:spcPts val="0"/>
              </a:spcBef>
              <a:spcAft>
                <a:spcPts val="0"/>
              </a:spcAft>
              <a:buClr>
                <a:srgbClr val="FFFFFF"/>
              </a:buClr>
              <a:buSzPts val="1595"/>
              <a:buFont typeface="Calibri"/>
              <a:buNone/>
            </a:pPr>
            <a:r>
              <a:rPr lang="en-US" sz="1595">
                <a:solidFill>
                  <a:srgbClr val="FFFFFF"/>
                </a:solidFill>
                <a:latin typeface="Calibri"/>
                <a:ea typeface="Calibri"/>
                <a:cs typeface="Calibri"/>
                <a:sym typeface="Calibri"/>
              </a:rPr>
              <a:t>A predictive model trained on historical campaign data to estimate the expected Cost-Per-Click (CPC) for any generated ad copy.</a:t>
            </a:r>
            <a:endParaRPr sz="1595">
              <a:solidFill>
                <a:schemeClr val="dk1"/>
              </a:solidFill>
              <a:latin typeface="Calibri"/>
              <a:ea typeface="Calibri"/>
              <a:cs typeface="Calibri"/>
              <a:sym typeface="Calibri"/>
            </a:endParaRPr>
          </a:p>
        </p:txBody>
      </p:sp>
      <p:sp>
        <p:nvSpPr>
          <p:cNvPr id="249" name="Google Shape;249;p13"/>
          <p:cNvSpPr/>
          <p:nvPr/>
        </p:nvSpPr>
        <p:spPr>
          <a:xfrm>
            <a:off x="5029200" y="1660924"/>
            <a:ext cx="4114800" cy="34827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0" name="Google Shape;250;p13"/>
          <p:cNvSpPr/>
          <p:nvPr/>
        </p:nvSpPr>
        <p:spPr>
          <a:xfrm>
            <a:off x="5314950" y="2089547"/>
            <a:ext cx="3400425"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Model Performance</a:t>
            </a:r>
            <a:endParaRPr sz="1499">
              <a:solidFill>
                <a:schemeClr val="dk1"/>
              </a:solidFill>
              <a:latin typeface="Calibri"/>
              <a:ea typeface="Calibri"/>
              <a:cs typeface="Calibri"/>
              <a:sym typeface="Calibri"/>
            </a:endParaRPr>
          </a:p>
        </p:txBody>
      </p:sp>
      <p:sp>
        <p:nvSpPr>
          <p:cNvPr id="251" name="Google Shape;251;p13"/>
          <p:cNvSpPr/>
          <p:nvPr/>
        </p:nvSpPr>
        <p:spPr>
          <a:xfrm>
            <a:off x="5314950" y="2644973"/>
            <a:ext cx="3400425" cy="350044"/>
          </a:xfrm>
          <a:prstGeom prst="rect">
            <a:avLst/>
          </a:prstGeom>
          <a:noFill/>
          <a:ln>
            <a:noFill/>
          </a:ln>
        </p:spPr>
        <p:txBody>
          <a:bodyPr spcFirstLastPara="1" wrap="square" lIns="0" tIns="0" rIns="0" bIns="0" anchor="t" anchorCtr="0">
            <a:noAutofit/>
          </a:bodyPr>
          <a:lstStyle/>
          <a:p>
            <a:pPr marL="0" marR="0" lvl="0" indent="0" algn="l" rtl="0">
              <a:lnSpc>
                <a:spcPct val="132743"/>
              </a:lnSpc>
              <a:spcBef>
                <a:spcPts val="0"/>
              </a:spcBef>
              <a:spcAft>
                <a:spcPts val="0"/>
              </a:spcAft>
              <a:buClr>
                <a:srgbClr val="0047AB"/>
              </a:buClr>
              <a:buSzPts val="1808"/>
              <a:buFont typeface="Calibri"/>
              <a:buNone/>
            </a:pPr>
            <a:r>
              <a:rPr lang="en-US" sz="1808" b="1">
                <a:solidFill>
                  <a:srgbClr val="0047AB"/>
                </a:solidFill>
                <a:latin typeface="Calibri"/>
                <a:ea typeface="Calibri"/>
                <a:cs typeface="Calibri"/>
                <a:sym typeface="Calibri"/>
              </a:rPr>
              <a:t>€0.35</a:t>
            </a:r>
            <a:endParaRPr sz="1808">
              <a:solidFill>
                <a:schemeClr val="dk1"/>
              </a:solidFill>
              <a:latin typeface="Calibri"/>
              <a:ea typeface="Calibri"/>
              <a:cs typeface="Calibri"/>
              <a:sym typeface="Calibri"/>
            </a:endParaRPr>
          </a:p>
        </p:txBody>
      </p:sp>
      <p:sp>
        <p:nvSpPr>
          <p:cNvPr id="252" name="Google Shape;252;p13"/>
          <p:cNvSpPr/>
          <p:nvPr/>
        </p:nvSpPr>
        <p:spPr>
          <a:xfrm>
            <a:off x="5314950" y="2995017"/>
            <a:ext cx="3400425" cy="582216"/>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333333"/>
              </a:buClr>
              <a:buSzPts val="1499"/>
              <a:buFont typeface="Calibri"/>
              <a:buNone/>
            </a:pPr>
            <a:r>
              <a:rPr lang="en-US" sz="1499" b="1">
                <a:solidFill>
                  <a:srgbClr val="333333"/>
                </a:solidFill>
                <a:latin typeface="Calibri"/>
                <a:ea typeface="Calibri"/>
                <a:cs typeface="Calibri"/>
                <a:sym typeface="Calibri"/>
              </a:rPr>
              <a:t>Average Prediction Error (RMSE)</a:t>
            </a:r>
            <a:endParaRPr sz="1499">
              <a:solidFill>
                <a:schemeClr val="dk1"/>
              </a:solidFill>
              <a:latin typeface="Calibri"/>
              <a:ea typeface="Calibri"/>
              <a:cs typeface="Calibri"/>
              <a:sym typeface="Calibri"/>
            </a:endParaRPr>
          </a:p>
        </p:txBody>
      </p:sp>
      <p:sp>
        <p:nvSpPr>
          <p:cNvPr id="253" name="Google Shape;253;p13"/>
          <p:cNvSpPr/>
          <p:nvPr/>
        </p:nvSpPr>
        <p:spPr>
          <a:xfrm>
            <a:off x="5314950" y="3370294"/>
            <a:ext cx="3400500" cy="350100"/>
          </a:xfrm>
          <a:prstGeom prst="rect">
            <a:avLst/>
          </a:prstGeom>
          <a:noFill/>
          <a:ln>
            <a:noFill/>
          </a:ln>
        </p:spPr>
        <p:txBody>
          <a:bodyPr spcFirstLastPara="1" wrap="square" lIns="0" tIns="0" rIns="0" bIns="0" anchor="t" anchorCtr="0">
            <a:noAutofit/>
          </a:bodyPr>
          <a:lstStyle/>
          <a:p>
            <a:pPr marL="0" marR="0" lvl="0" indent="0" algn="l" rtl="0">
              <a:lnSpc>
                <a:spcPct val="132743"/>
              </a:lnSpc>
              <a:spcBef>
                <a:spcPts val="0"/>
              </a:spcBef>
              <a:spcAft>
                <a:spcPts val="0"/>
              </a:spcAft>
              <a:buClr>
                <a:srgbClr val="0047AB"/>
              </a:buClr>
              <a:buSzPts val="1808"/>
              <a:buFont typeface="Calibri"/>
              <a:buNone/>
            </a:pPr>
            <a:r>
              <a:rPr lang="en-US" sz="1808" b="1">
                <a:solidFill>
                  <a:srgbClr val="0047AB"/>
                </a:solidFill>
                <a:latin typeface="Calibri"/>
                <a:ea typeface="Calibri"/>
                <a:cs typeface="Calibri"/>
                <a:sym typeface="Calibri"/>
              </a:rPr>
              <a:t>0.849</a:t>
            </a:r>
            <a:endParaRPr sz="1808">
              <a:solidFill>
                <a:schemeClr val="dk1"/>
              </a:solidFill>
              <a:latin typeface="Calibri"/>
              <a:ea typeface="Calibri"/>
              <a:cs typeface="Calibri"/>
              <a:sym typeface="Calibri"/>
            </a:endParaRPr>
          </a:p>
        </p:txBody>
      </p:sp>
      <p:sp>
        <p:nvSpPr>
          <p:cNvPr id="254" name="Google Shape;254;p13"/>
          <p:cNvSpPr/>
          <p:nvPr/>
        </p:nvSpPr>
        <p:spPr>
          <a:xfrm>
            <a:off x="5314950" y="3720338"/>
            <a:ext cx="3400500" cy="3267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333333"/>
              </a:buClr>
              <a:buSzPts val="1499"/>
              <a:buFont typeface="Calibri"/>
              <a:buNone/>
            </a:pPr>
            <a:r>
              <a:rPr lang="en-US" sz="1499" b="1">
                <a:solidFill>
                  <a:srgbClr val="333333"/>
                </a:solidFill>
                <a:latin typeface="Calibri"/>
                <a:ea typeface="Calibri"/>
                <a:cs typeface="Calibri"/>
                <a:sym typeface="Calibri"/>
              </a:rPr>
              <a:t>R-Squared (R</a:t>
            </a:r>
            <a:r>
              <a:rPr lang="en-US" sz="1244" b="1" baseline="30000">
                <a:solidFill>
                  <a:srgbClr val="333333"/>
                </a:solidFill>
                <a:latin typeface="Calibri"/>
                <a:ea typeface="Calibri"/>
                <a:cs typeface="Calibri"/>
                <a:sym typeface="Calibri"/>
              </a:rPr>
              <a:t>2</a:t>
            </a:r>
            <a:r>
              <a:rPr lang="en-US" sz="1499" b="1">
                <a:solidFill>
                  <a:srgbClr val="333333"/>
                </a:solidFill>
                <a:latin typeface="Calibri"/>
                <a:ea typeface="Calibri"/>
                <a:cs typeface="Calibri"/>
                <a:sym typeface="Calibri"/>
              </a:rPr>
              <a:t>)</a:t>
            </a:r>
            <a:endParaRPr sz="1499">
              <a:solidFill>
                <a:schemeClr val="dk1"/>
              </a:solidFill>
              <a:latin typeface="Calibri"/>
              <a:ea typeface="Calibri"/>
              <a:cs typeface="Calibri"/>
              <a:sym typeface="Calibri"/>
            </a:endParaRPr>
          </a:p>
        </p:txBody>
      </p:sp>
      <p:sp>
        <p:nvSpPr>
          <p:cNvPr id="255" name="Google Shape;255;p13"/>
          <p:cNvSpPr/>
          <p:nvPr/>
        </p:nvSpPr>
        <p:spPr>
          <a:xfrm>
            <a:off x="5147099" y="4095675"/>
            <a:ext cx="3879000" cy="953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200" dirty="0">
                <a:solidFill>
                  <a:srgbClr val="333333"/>
                </a:solidFill>
                <a:latin typeface="Calibri"/>
                <a:ea typeface="Calibri"/>
                <a:cs typeface="Calibri"/>
                <a:sym typeface="Calibri"/>
              </a:rPr>
              <a:t>By using the Content Score (</a:t>
            </a:r>
            <a:r>
              <a:rPr lang="en-US" sz="1200" dirty="0" err="1">
                <a:solidFill>
                  <a:srgbClr val="333333"/>
                </a:solidFill>
                <a:latin typeface="Calibri"/>
                <a:ea typeface="Calibri"/>
                <a:cs typeface="Calibri"/>
                <a:sym typeface="Calibri"/>
              </a:rPr>
              <a:t>CS</a:t>
            </a:r>
            <a:r>
              <a:rPr lang="en-US" sz="1200" baseline="-25000" dirty="0" err="1">
                <a:solidFill>
                  <a:srgbClr val="333333"/>
                </a:solidFill>
                <a:latin typeface="Calibri"/>
                <a:ea typeface="Calibri"/>
                <a:cs typeface="Calibri"/>
                <a:sym typeface="Calibri"/>
              </a:rPr>
              <a:t>ad</a:t>
            </a:r>
            <a:r>
              <a:rPr lang="en-US" sz="1200" dirty="0">
                <a:solidFill>
                  <a:srgbClr val="333333"/>
                </a:solidFill>
                <a:latin typeface="Calibri"/>
                <a:ea typeface="Calibri"/>
                <a:cs typeface="Calibri"/>
                <a:sym typeface="Calibri"/>
              </a:rPr>
              <a:t>) as a primary predictor, the model enables managers to select ads that maximize visibility while adhering to budget constraints.</a:t>
            </a:r>
            <a:endParaRPr sz="1200" dirty="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pic>
        <p:nvPicPr>
          <p:cNvPr id="261" name="Google Shape;261;p14" descr="preencoded.png"/>
          <p:cNvPicPr preferRelativeResize="0"/>
          <p:nvPr/>
        </p:nvPicPr>
        <p:blipFill rotWithShape="1">
          <a:blip r:embed="rId3">
            <a:alphaModFix/>
          </a:blip>
          <a:srcRect/>
          <a:stretch/>
        </p:blipFill>
        <p:spPr>
          <a:xfrm>
            <a:off x="0" y="0"/>
            <a:ext cx="9144002" cy="5143499"/>
          </a:xfrm>
          <a:prstGeom prst="rect">
            <a:avLst/>
          </a:prstGeom>
          <a:noFill/>
          <a:ln>
            <a:noFill/>
          </a:ln>
        </p:spPr>
      </p:pic>
      <p:sp>
        <p:nvSpPr>
          <p:cNvPr id="262" name="Google Shape;262;p14"/>
          <p:cNvSpPr/>
          <p:nvPr/>
        </p:nvSpPr>
        <p:spPr>
          <a:xfrm>
            <a:off x="0" y="0"/>
            <a:ext cx="9144000" cy="1675209"/>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3" name="Google Shape;263;p14"/>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4" name="Google Shape;264;p14"/>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Core Research Questions and Contributions</a:t>
            </a:r>
            <a:endParaRPr sz="2862">
              <a:solidFill>
                <a:schemeClr val="dk1"/>
              </a:solidFill>
              <a:latin typeface="Calibri"/>
              <a:ea typeface="Calibri"/>
              <a:cs typeface="Calibri"/>
              <a:sym typeface="Calibri"/>
            </a:endParaRPr>
          </a:p>
        </p:txBody>
      </p:sp>
      <p:sp>
        <p:nvSpPr>
          <p:cNvPr id="265" name="Google Shape;265;p14"/>
          <p:cNvSpPr/>
          <p:nvPr/>
        </p:nvSpPr>
        <p:spPr>
          <a:xfrm>
            <a:off x="428625" y="1946672"/>
            <a:ext cx="3850481"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Research Questions</a:t>
            </a:r>
            <a:endParaRPr sz="1499">
              <a:solidFill>
                <a:schemeClr val="dk1"/>
              </a:solidFill>
              <a:latin typeface="Calibri"/>
              <a:ea typeface="Calibri"/>
              <a:cs typeface="Calibri"/>
              <a:sym typeface="Calibri"/>
            </a:endParaRPr>
          </a:p>
        </p:txBody>
      </p:sp>
      <p:sp>
        <p:nvSpPr>
          <p:cNvPr id="266" name="Google Shape;266;p14"/>
          <p:cNvSpPr/>
          <p:nvPr/>
        </p:nvSpPr>
        <p:spPr>
          <a:xfrm>
            <a:off x="428625" y="2380655"/>
            <a:ext cx="3850481"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47AB"/>
              </a:buClr>
              <a:buSzPts val="1499"/>
              <a:buFont typeface="Calibri"/>
              <a:buNone/>
            </a:pPr>
            <a:r>
              <a:rPr lang="en-US" sz="1499" b="1">
                <a:solidFill>
                  <a:srgbClr val="0047AB"/>
                </a:solidFill>
                <a:latin typeface="Calibri"/>
                <a:ea typeface="Calibri"/>
                <a:cs typeface="Calibri"/>
                <a:sym typeface="Calibri"/>
              </a:rPr>
              <a:t>RQ1</a:t>
            </a:r>
            <a:endParaRPr sz="1499">
              <a:solidFill>
                <a:schemeClr val="dk1"/>
              </a:solidFill>
              <a:latin typeface="Calibri"/>
              <a:ea typeface="Calibri"/>
              <a:cs typeface="Calibri"/>
              <a:sym typeface="Calibri"/>
            </a:endParaRPr>
          </a:p>
        </p:txBody>
      </p:sp>
      <p:sp>
        <p:nvSpPr>
          <p:cNvPr id="267" name="Google Shape;267;p14"/>
          <p:cNvSpPr/>
          <p:nvPr/>
        </p:nvSpPr>
        <p:spPr>
          <a:xfrm>
            <a:off x="428625" y="2707481"/>
            <a:ext cx="3850481" cy="7694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1200" b="1">
                <a:solidFill>
                  <a:srgbClr val="000000"/>
                </a:solidFill>
                <a:latin typeface="Calibri"/>
                <a:ea typeface="Calibri"/>
                <a:cs typeface="Calibri"/>
                <a:sym typeface="Calibri"/>
              </a:rPr>
              <a:t>How can an LLM application layer be designed to align specifically with search engine requirements?</a:t>
            </a:r>
            <a:endParaRPr sz="1200">
              <a:solidFill>
                <a:schemeClr val="dk1"/>
              </a:solidFill>
              <a:latin typeface="Calibri"/>
              <a:ea typeface="Calibri"/>
              <a:cs typeface="Calibri"/>
              <a:sym typeface="Calibri"/>
            </a:endParaRPr>
          </a:p>
        </p:txBody>
      </p:sp>
      <p:sp>
        <p:nvSpPr>
          <p:cNvPr id="268" name="Google Shape;268;p14"/>
          <p:cNvSpPr/>
          <p:nvPr/>
        </p:nvSpPr>
        <p:spPr>
          <a:xfrm>
            <a:off x="428625" y="3207969"/>
            <a:ext cx="38505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47AB"/>
              </a:buClr>
              <a:buSzPts val="1499"/>
              <a:buFont typeface="Calibri"/>
              <a:buNone/>
            </a:pPr>
            <a:r>
              <a:rPr lang="en-US" sz="1499" b="1">
                <a:solidFill>
                  <a:srgbClr val="0047AB"/>
                </a:solidFill>
                <a:latin typeface="Calibri"/>
                <a:ea typeface="Calibri"/>
                <a:cs typeface="Calibri"/>
                <a:sym typeface="Calibri"/>
              </a:rPr>
              <a:t>RQ2</a:t>
            </a:r>
            <a:endParaRPr sz="1499">
              <a:solidFill>
                <a:schemeClr val="dk1"/>
              </a:solidFill>
              <a:latin typeface="Calibri"/>
              <a:ea typeface="Calibri"/>
              <a:cs typeface="Calibri"/>
              <a:sym typeface="Calibri"/>
            </a:endParaRPr>
          </a:p>
        </p:txBody>
      </p:sp>
      <p:sp>
        <p:nvSpPr>
          <p:cNvPr id="269" name="Google Shape;269;p14"/>
          <p:cNvSpPr/>
          <p:nvPr/>
        </p:nvSpPr>
        <p:spPr>
          <a:xfrm>
            <a:off x="428625" y="3534795"/>
            <a:ext cx="3850500" cy="769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1200" b="1">
                <a:solidFill>
                  <a:srgbClr val="000000"/>
                </a:solidFill>
                <a:latin typeface="Calibri"/>
                <a:ea typeface="Calibri"/>
                <a:cs typeface="Calibri"/>
                <a:sym typeface="Calibri"/>
              </a:rPr>
              <a:t>Does a tailored approach outperform both human experts and frontier models like GPT-4?</a:t>
            </a:r>
            <a:endParaRPr sz="1200">
              <a:solidFill>
                <a:schemeClr val="dk1"/>
              </a:solidFill>
              <a:latin typeface="Calibri"/>
              <a:ea typeface="Calibri"/>
              <a:cs typeface="Calibri"/>
              <a:sym typeface="Calibri"/>
            </a:endParaRPr>
          </a:p>
        </p:txBody>
      </p:sp>
      <p:sp>
        <p:nvSpPr>
          <p:cNvPr id="270" name="Google Shape;270;p14"/>
          <p:cNvSpPr/>
          <p:nvPr/>
        </p:nvSpPr>
        <p:spPr>
          <a:xfrm>
            <a:off x="428625" y="4070561"/>
            <a:ext cx="38505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47AB"/>
              </a:buClr>
              <a:buSzPts val="1499"/>
              <a:buFont typeface="Calibri"/>
              <a:buNone/>
            </a:pPr>
            <a:r>
              <a:rPr lang="en-US" sz="1499" b="1">
                <a:solidFill>
                  <a:srgbClr val="0047AB"/>
                </a:solidFill>
                <a:latin typeface="Calibri"/>
                <a:ea typeface="Calibri"/>
                <a:cs typeface="Calibri"/>
                <a:sym typeface="Calibri"/>
              </a:rPr>
              <a:t>RQ3</a:t>
            </a:r>
            <a:endParaRPr sz="1499">
              <a:solidFill>
                <a:schemeClr val="dk1"/>
              </a:solidFill>
              <a:latin typeface="Calibri"/>
              <a:ea typeface="Calibri"/>
              <a:cs typeface="Calibri"/>
              <a:sym typeface="Calibri"/>
            </a:endParaRPr>
          </a:p>
        </p:txBody>
      </p:sp>
      <p:sp>
        <p:nvSpPr>
          <p:cNvPr id="271" name="Google Shape;271;p14"/>
          <p:cNvSpPr/>
          <p:nvPr/>
        </p:nvSpPr>
        <p:spPr>
          <a:xfrm>
            <a:off x="428625" y="4397387"/>
            <a:ext cx="3850500" cy="769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1200" b="1">
                <a:solidFill>
                  <a:srgbClr val="000000"/>
                </a:solidFill>
                <a:latin typeface="Calibri"/>
                <a:ea typeface="Calibri"/>
                <a:cs typeface="Calibri"/>
                <a:sym typeface="Calibri"/>
              </a:rPr>
              <a:t>How can managers navigate the inherent trade-off between ad visibility and cost?</a:t>
            </a:r>
            <a:endParaRPr sz="1200">
              <a:solidFill>
                <a:schemeClr val="dk1"/>
              </a:solidFill>
              <a:latin typeface="Calibri"/>
              <a:ea typeface="Calibri"/>
              <a:cs typeface="Calibri"/>
              <a:sym typeface="Calibri"/>
            </a:endParaRPr>
          </a:p>
        </p:txBody>
      </p:sp>
      <p:sp>
        <p:nvSpPr>
          <p:cNvPr id="272" name="Google Shape;272;p14"/>
          <p:cNvSpPr/>
          <p:nvPr/>
        </p:nvSpPr>
        <p:spPr>
          <a:xfrm>
            <a:off x="4572000" y="1660924"/>
            <a:ext cx="4572000" cy="35058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3" name="Google Shape;273;p14"/>
          <p:cNvSpPr/>
          <p:nvPr/>
        </p:nvSpPr>
        <p:spPr>
          <a:xfrm>
            <a:off x="4857750" y="1946672"/>
            <a:ext cx="3857625"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Key Contributions</a:t>
            </a:r>
            <a:endParaRPr sz="1499">
              <a:solidFill>
                <a:schemeClr val="dk1"/>
              </a:solidFill>
              <a:latin typeface="Calibri"/>
              <a:ea typeface="Calibri"/>
              <a:cs typeface="Calibri"/>
              <a:sym typeface="Calibri"/>
            </a:endParaRPr>
          </a:p>
        </p:txBody>
      </p:sp>
      <p:sp>
        <p:nvSpPr>
          <p:cNvPr id="274" name="Google Shape;274;p14"/>
          <p:cNvSpPr/>
          <p:nvPr/>
        </p:nvSpPr>
        <p:spPr>
          <a:xfrm>
            <a:off x="4857750" y="2502098"/>
            <a:ext cx="3857625" cy="214313"/>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Tailored Workflow</a:t>
            </a:r>
            <a:endParaRPr sz="1090">
              <a:solidFill>
                <a:schemeClr val="dk1"/>
              </a:solidFill>
              <a:latin typeface="Calibri"/>
              <a:ea typeface="Calibri"/>
              <a:cs typeface="Calibri"/>
              <a:sym typeface="Calibri"/>
            </a:endParaRPr>
          </a:p>
        </p:txBody>
      </p:sp>
      <p:sp>
        <p:nvSpPr>
          <p:cNvPr id="275" name="Google Shape;275;p14"/>
          <p:cNvSpPr/>
          <p:nvPr/>
        </p:nvSpPr>
        <p:spPr>
          <a:xfrm>
            <a:off x="4857750" y="2787848"/>
            <a:ext cx="3857625" cy="96440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200" dirty="0">
                <a:solidFill>
                  <a:srgbClr val="333333"/>
                </a:solidFill>
                <a:latin typeface="Calibri"/>
                <a:ea typeface="Calibri"/>
                <a:cs typeface="Calibri"/>
                <a:sym typeface="Calibri"/>
              </a:rPr>
              <a:t>A novel semiautomated pipeline integrating PPLM controlled generation for SEA-specific content.</a:t>
            </a:r>
            <a:endParaRPr sz="1200" dirty="0">
              <a:solidFill>
                <a:schemeClr val="dk1"/>
              </a:solidFill>
              <a:latin typeface="Calibri"/>
              <a:ea typeface="Calibri"/>
              <a:cs typeface="Calibri"/>
              <a:sym typeface="Calibri"/>
            </a:endParaRPr>
          </a:p>
        </p:txBody>
      </p:sp>
      <p:sp>
        <p:nvSpPr>
          <p:cNvPr id="276" name="Google Shape;276;p14"/>
          <p:cNvSpPr/>
          <p:nvPr/>
        </p:nvSpPr>
        <p:spPr>
          <a:xfrm>
            <a:off x="4857750" y="3401417"/>
            <a:ext cx="3857700" cy="214200"/>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Content Score (CS_ad)</a:t>
            </a:r>
            <a:endParaRPr sz="1090">
              <a:solidFill>
                <a:schemeClr val="dk1"/>
              </a:solidFill>
              <a:latin typeface="Calibri"/>
              <a:ea typeface="Calibri"/>
              <a:cs typeface="Calibri"/>
              <a:sym typeface="Calibri"/>
            </a:endParaRPr>
          </a:p>
        </p:txBody>
      </p:sp>
      <p:sp>
        <p:nvSpPr>
          <p:cNvPr id="277" name="Google Shape;277;p14"/>
          <p:cNvSpPr/>
          <p:nvPr/>
        </p:nvSpPr>
        <p:spPr>
          <a:xfrm>
            <a:off x="4857750" y="3687167"/>
            <a:ext cx="3857700" cy="12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200" dirty="0">
                <a:solidFill>
                  <a:srgbClr val="333333"/>
                </a:solidFill>
                <a:latin typeface="Calibri"/>
                <a:ea typeface="Calibri"/>
                <a:cs typeface="Calibri"/>
                <a:sym typeface="Calibri"/>
              </a:rPr>
              <a:t>A specialized metric that operationalizes "search engine alignment" across five critical dimensions.</a:t>
            </a:r>
            <a:endParaRPr sz="1200" dirty="0">
              <a:solidFill>
                <a:schemeClr val="dk1"/>
              </a:solidFill>
              <a:latin typeface="Calibri"/>
              <a:ea typeface="Calibri"/>
              <a:cs typeface="Calibri"/>
              <a:sym typeface="Calibri"/>
            </a:endParaRPr>
          </a:p>
        </p:txBody>
      </p:sp>
      <p:sp>
        <p:nvSpPr>
          <p:cNvPr id="278" name="Google Shape;278;p14"/>
          <p:cNvSpPr/>
          <p:nvPr/>
        </p:nvSpPr>
        <p:spPr>
          <a:xfrm>
            <a:off x="4857750" y="4257080"/>
            <a:ext cx="3857700" cy="214200"/>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0000"/>
              </a:buClr>
              <a:buSzPts val="1090"/>
              <a:buFont typeface="Calibri"/>
              <a:buNone/>
            </a:pPr>
            <a:r>
              <a:rPr lang="en-US" sz="1090" b="1">
                <a:solidFill>
                  <a:srgbClr val="000000"/>
                </a:solidFill>
                <a:latin typeface="Calibri"/>
                <a:ea typeface="Calibri"/>
                <a:cs typeface="Calibri"/>
                <a:sym typeface="Calibri"/>
              </a:rPr>
              <a:t>CPC Prediction</a:t>
            </a:r>
            <a:endParaRPr sz="1090">
              <a:solidFill>
                <a:schemeClr val="dk1"/>
              </a:solidFill>
              <a:latin typeface="Calibri"/>
              <a:ea typeface="Calibri"/>
              <a:cs typeface="Calibri"/>
              <a:sym typeface="Calibri"/>
            </a:endParaRPr>
          </a:p>
        </p:txBody>
      </p:sp>
      <p:sp>
        <p:nvSpPr>
          <p:cNvPr id="279" name="Google Shape;279;p14"/>
          <p:cNvSpPr/>
          <p:nvPr/>
        </p:nvSpPr>
        <p:spPr>
          <a:xfrm>
            <a:off x="4857750" y="4542830"/>
            <a:ext cx="3857700" cy="964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200">
                <a:solidFill>
                  <a:srgbClr val="333333"/>
                </a:solidFill>
                <a:latin typeface="Calibri"/>
                <a:ea typeface="Calibri"/>
                <a:cs typeface="Calibri"/>
                <a:sym typeface="Calibri"/>
              </a:rPr>
              <a:t>A Random Forest module that enables cost-aware selection and budget discipline in ad deployment.</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5"/>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6" name="Google Shape;286;p15"/>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7" name="Google Shape;287;p15"/>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Conceptual Framework: Search Engine Alignment</a:t>
            </a:r>
            <a:endParaRPr sz="2862">
              <a:solidFill>
                <a:schemeClr val="dk1"/>
              </a:solidFill>
              <a:latin typeface="Calibri"/>
              <a:ea typeface="Calibri"/>
              <a:cs typeface="Calibri"/>
              <a:sym typeface="Calibri"/>
            </a:endParaRPr>
          </a:p>
        </p:txBody>
      </p:sp>
      <p:sp>
        <p:nvSpPr>
          <p:cNvPr id="288" name="Google Shape;288;p15"/>
          <p:cNvSpPr/>
          <p:nvPr/>
        </p:nvSpPr>
        <p:spPr>
          <a:xfrm>
            <a:off x="428625" y="2146697"/>
            <a:ext cx="4000500"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b="1" dirty="0">
                <a:solidFill>
                  <a:srgbClr val="FF5F00"/>
                </a:solidFill>
                <a:latin typeface="Calibri"/>
                <a:ea typeface="Calibri"/>
                <a:cs typeface="Calibri"/>
                <a:sym typeface="Calibri"/>
              </a:rPr>
              <a:t>01</a:t>
            </a:r>
            <a:endParaRPr dirty="0">
              <a:solidFill>
                <a:schemeClr val="dk1"/>
              </a:solidFill>
              <a:latin typeface="Calibri"/>
              <a:ea typeface="Calibri"/>
              <a:cs typeface="Calibri"/>
              <a:sym typeface="Calibri"/>
            </a:endParaRPr>
          </a:p>
        </p:txBody>
      </p:sp>
      <p:sp>
        <p:nvSpPr>
          <p:cNvPr id="289" name="Google Shape;289;p15"/>
          <p:cNvSpPr/>
          <p:nvPr/>
        </p:nvSpPr>
        <p:spPr>
          <a:xfrm>
            <a:off x="428625" y="2318147"/>
            <a:ext cx="4000500" cy="273248"/>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Intent Alignment</a:t>
            </a:r>
            <a:endParaRPr sz="1397">
              <a:solidFill>
                <a:schemeClr val="dk1"/>
              </a:solidFill>
              <a:latin typeface="Calibri"/>
              <a:ea typeface="Calibri"/>
              <a:cs typeface="Calibri"/>
              <a:sym typeface="Calibri"/>
            </a:endParaRPr>
          </a:p>
        </p:txBody>
      </p:sp>
      <p:sp>
        <p:nvSpPr>
          <p:cNvPr id="290" name="Google Shape;290;p15"/>
          <p:cNvSpPr/>
          <p:nvPr/>
        </p:nvSpPr>
        <p:spPr>
          <a:xfrm>
            <a:off x="428625" y="2698552"/>
            <a:ext cx="4000500" cy="1714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200">
                <a:solidFill>
                  <a:srgbClr val="333333"/>
                </a:solidFill>
                <a:latin typeface="Calibri"/>
                <a:ea typeface="Calibri"/>
                <a:cs typeface="Calibri"/>
                <a:sym typeface="Calibri"/>
              </a:rPr>
              <a:t>The degree to which the ad language mirrors the search intent reflected in top organic search results, ensuring the ad answers the user's underlying query.</a:t>
            </a:r>
            <a:endParaRPr sz="1200">
              <a:solidFill>
                <a:schemeClr val="dk1"/>
              </a:solidFill>
              <a:latin typeface="Calibri"/>
              <a:ea typeface="Calibri"/>
              <a:cs typeface="Calibri"/>
              <a:sym typeface="Calibri"/>
            </a:endParaRPr>
          </a:p>
        </p:txBody>
      </p:sp>
      <p:sp>
        <p:nvSpPr>
          <p:cNvPr id="291" name="Google Shape;291;p15"/>
          <p:cNvSpPr/>
          <p:nvPr/>
        </p:nvSpPr>
        <p:spPr>
          <a:xfrm>
            <a:off x="4714875" y="2146697"/>
            <a:ext cx="4000500" cy="135731"/>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b="1" dirty="0">
                <a:solidFill>
                  <a:srgbClr val="FF5F00"/>
                </a:solidFill>
                <a:latin typeface="Calibri"/>
                <a:ea typeface="Calibri"/>
                <a:cs typeface="Calibri"/>
                <a:sym typeface="Calibri"/>
              </a:rPr>
              <a:t>02</a:t>
            </a:r>
            <a:endParaRPr dirty="0">
              <a:solidFill>
                <a:schemeClr val="dk1"/>
              </a:solidFill>
              <a:latin typeface="Calibri"/>
              <a:ea typeface="Calibri"/>
              <a:cs typeface="Calibri"/>
              <a:sym typeface="Calibri"/>
            </a:endParaRPr>
          </a:p>
        </p:txBody>
      </p:sp>
      <p:sp>
        <p:nvSpPr>
          <p:cNvPr id="292" name="Google Shape;292;p15"/>
          <p:cNvSpPr/>
          <p:nvPr/>
        </p:nvSpPr>
        <p:spPr>
          <a:xfrm>
            <a:off x="4714875" y="2318147"/>
            <a:ext cx="4000500" cy="273248"/>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Contextual Consistency</a:t>
            </a:r>
            <a:endParaRPr sz="1397">
              <a:solidFill>
                <a:schemeClr val="dk1"/>
              </a:solidFill>
              <a:latin typeface="Calibri"/>
              <a:ea typeface="Calibri"/>
              <a:cs typeface="Calibri"/>
              <a:sym typeface="Calibri"/>
            </a:endParaRPr>
          </a:p>
        </p:txBody>
      </p:sp>
      <p:sp>
        <p:nvSpPr>
          <p:cNvPr id="293" name="Google Shape;293;p15"/>
          <p:cNvSpPr/>
          <p:nvPr/>
        </p:nvSpPr>
        <p:spPr>
          <a:xfrm>
            <a:off x="4714875" y="2698552"/>
            <a:ext cx="4000500" cy="1714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200">
                <a:solidFill>
                  <a:srgbClr val="333333"/>
                </a:solidFill>
                <a:latin typeface="Calibri"/>
                <a:ea typeface="Calibri"/>
                <a:cs typeface="Calibri"/>
                <a:sym typeface="Calibri"/>
              </a:rPr>
              <a:t>The thematic and linguistic harmony between the ad copy and the destination landing page, reducing message mismatch and improving user experience.</a:t>
            </a:r>
            <a:endParaRPr sz="1200">
              <a:solidFill>
                <a:schemeClr val="dk1"/>
              </a:solidFill>
              <a:latin typeface="Calibri"/>
              <a:ea typeface="Calibri"/>
              <a:cs typeface="Calibri"/>
              <a:sym typeface="Calibri"/>
            </a:endParaRPr>
          </a:p>
        </p:txBody>
      </p:sp>
      <p:sp>
        <p:nvSpPr>
          <p:cNvPr id="294" name="Google Shape;294;p15"/>
          <p:cNvSpPr/>
          <p:nvPr/>
        </p:nvSpPr>
        <p:spPr>
          <a:xfrm>
            <a:off x="428625" y="3662604"/>
            <a:ext cx="4000500" cy="135600"/>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b="1">
                <a:solidFill>
                  <a:srgbClr val="FF5F00"/>
                </a:solidFill>
                <a:latin typeface="Calibri"/>
                <a:ea typeface="Calibri"/>
                <a:cs typeface="Calibri"/>
                <a:sym typeface="Calibri"/>
              </a:rPr>
              <a:t>03</a:t>
            </a:r>
            <a:endParaRPr>
              <a:solidFill>
                <a:schemeClr val="dk1"/>
              </a:solidFill>
              <a:latin typeface="Calibri"/>
              <a:ea typeface="Calibri"/>
              <a:cs typeface="Calibri"/>
              <a:sym typeface="Calibri"/>
            </a:endParaRPr>
          </a:p>
        </p:txBody>
      </p:sp>
      <p:sp>
        <p:nvSpPr>
          <p:cNvPr id="295" name="Google Shape;295;p15"/>
          <p:cNvSpPr/>
          <p:nvPr/>
        </p:nvSpPr>
        <p:spPr>
          <a:xfrm>
            <a:off x="428625" y="3834054"/>
            <a:ext cx="40005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Platform Compliance</a:t>
            </a:r>
            <a:endParaRPr sz="1397">
              <a:solidFill>
                <a:schemeClr val="dk1"/>
              </a:solidFill>
              <a:latin typeface="Calibri"/>
              <a:ea typeface="Calibri"/>
              <a:cs typeface="Calibri"/>
              <a:sym typeface="Calibri"/>
            </a:endParaRPr>
          </a:p>
        </p:txBody>
      </p:sp>
      <p:sp>
        <p:nvSpPr>
          <p:cNvPr id="296" name="Google Shape;296;p15"/>
          <p:cNvSpPr/>
          <p:nvPr/>
        </p:nvSpPr>
        <p:spPr>
          <a:xfrm>
            <a:off x="428625" y="4214458"/>
            <a:ext cx="4000500" cy="137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200">
                <a:solidFill>
                  <a:srgbClr val="333333"/>
                </a:solidFill>
                <a:latin typeface="Calibri"/>
                <a:ea typeface="Calibri"/>
                <a:cs typeface="Calibri"/>
                <a:sym typeface="Calibri"/>
              </a:rPr>
              <a:t>Adherence to the structural constraints, character limits, and stylistic expectations of the search platform to maximize visibility and approval.</a:t>
            </a:r>
            <a:endParaRPr sz="1200">
              <a:solidFill>
                <a:schemeClr val="dk1"/>
              </a:solidFill>
              <a:latin typeface="Calibri"/>
              <a:ea typeface="Calibri"/>
              <a:cs typeface="Calibri"/>
              <a:sym typeface="Calibri"/>
            </a:endParaRPr>
          </a:p>
        </p:txBody>
      </p:sp>
      <p:sp>
        <p:nvSpPr>
          <p:cNvPr id="297" name="Google Shape;297;p15"/>
          <p:cNvSpPr/>
          <p:nvPr/>
        </p:nvSpPr>
        <p:spPr>
          <a:xfrm>
            <a:off x="4714875" y="3662604"/>
            <a:ext cx="4000500" cy="135600"/>
          </a:xfrm>
          <a:prstGeom prst="rect">
            <a:avLst/>
          </a:prstGeom>
          <a:noFill/>
          <a:ln>
            <a:noFill/>
          </a:ln>
        </p:spPr>
        <p:txBody>
          <a:bodyPr spcFirstLastPara="1" wrap="square" lIns="0" tIns="0" rIns="0" bIns="0" anchor="t" anchorCtr="0">
            <a:noAutofit/>
          </a:bodyPr>
          <a:lstStyle/>
          <a:p>
            <a:pPr marL="0" marR="0" lvl="0" indent="0" algn="l" rtl="0">
              <a:lnSpc>
                <a:spcPct val="131771"/>
              </a:lnSpc>
              <a:spcBef>
                <a:spcPts val="0"/>
              </a:spcBef>
              <a:spcAft>
                <a:spcPts val="0"/>
              </a:spcAft>
              <a:buClr>
                <a:srgbClr val="FF5F00"/>
              </a:buClr>
              <a:buSzPts val="683"/>
              <a:buFont typeface="Calibri"/>
              <a:buNone/>
            </a:pPr>
            <a:r>
              <a:rPr lang="en-US" b="1">
                <a:solidFill>
                  <a:srgbClr val="FF5F00"/>
                </a:solidFill>
                <a:latin typeface="Calibri"/>
                <a:ea typeface="Calibri"/>
                <a:cs typeface="Calibri"/>
                <a:sym typeface="Calibri"/>
              </a:rPr>
              <a:t>04</a:t>
            </a:r>
            <a:endParaRPr>
              <a:solidFill>
                <a:schemeClr val="dk1"/>
              </a:solidFill>
              <a:latin typeface="Calibri"/>
              <a:ea typeface="Calibri"/>
              <a:cs typeface="Calibri"/>
              <a:sym typeface="Calibri"/>
            </a:endParaRPr>
          </a:p>
        </p:txBody>
      </p:sp>
      <p:sp>
        <p:nvSpPr>
          <p:cNvPr id="298" name="Google Shape;298;p15"/>
          <p:cNvSpPr/>
          <p:nvPr/>
        </p:nvSpPr>
        <p:spPr>
          <a:xfrm>
            <a:off x="4714875" y="3834054"/>
            <a:ext cx="40005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Auction Dynamics</a:t>
            </a:r>
            <a:endParaRPr sz="1397">
              <a:solidFill>
                <a:schemeClr val="dk1"/>
              </a:solidFill>
              <a:latin typeface="Calibri"/>
              <a:ea typeface="Calibri"/>
              <a:cs typeface="Calibri"/>
              <a:sym typeface="Calibri"/>
            </a:endParaRPr>
          </a:p>
        </p:txBody>
      </p:sp>
      <p:sp>
        <p:nvSpPr>
          <p:cNvPr id="299" name="Google Shape;299;p15"/>
          <p:cNvSpPr/>
          <p:nvPr/>
        </p:nvSpPr>
        <p:spPr>
          <a:xfrm>
            <a:off x="4714875" y="4214458"/>
            <a:ext cx="4000500" cy="1714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200">
                <a:solidFill>
                  <a:srgbClr val="333333"/>
                </a:solidFill>
                <a:latin typeface="Calibri"/>
                <a:ea typeface="Calibri"/>
                <a:cs typeface="Calibri"/>
                <a:sym typeface="Calibri"/>
              </a:rPr>
              <a:t>The feedback loop where content quality influences visibility and pricing through the Quality Score, directly impacting the effective cost of the campaign.</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6"/>
          <p:cNvSpPr/>
          <p:nvPr/>
        </p:nvSpPr>
        <p:spPr>
          <a:xfrm>
            <a:off x="0" y="0"/>
            <a:ext cx="9144000" cy="2007226"/>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16"/>
          <p:cNvSpPr/>
          <p:nvPr/>
        </p:nvSpPr>
        <p:spPr>
          <a:xfrm>
            <a:off x="0" y="1992939"/>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7" name="Google Shape;307;p16"/>
          <p:cNvSpPr/>
          <p:nvPr/>
        </p:nvSpPr>
        <p:spPr>
          <a:xfrm>
            <a:off x="428625" y="760642"/>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A Semiautomated Workflow for SEA Optimization</a:t>
            </a:r>
            <a:endParaRPr sz="2862">
              <a:solidFill>
                <a:schemeClr val="dk1"/>
              </a:solidFill>
              <a:latin typeface="Calibri"/>
              <a:ea typeface="Calibri"/>
              <a:cs typeface="Calibri"/>
              <a:sym typeface="Calibri"/>
            </a:endParaRPr>
          </a:p>
        </p:txBody>
      </p:sp>
      <p:sp>
        <p:nvSpPr>
          <p:cNvPr id="308" name="Google Shape;308;p16"/>
          <p:cNvSpPr/>
          <p:nvPr/>
        </p:nvSpPr>
        <p:spPr>
          <a:xfrm>
            <a:off x="600075" y="2121526"/>
            <a:ext cx="1793081" cy="571500"/>
          </a:xfrm>
          <a:prstGeom prst="rect">
            <a:avLst/>
          </a:prstGeom>
          <a:noFill/>
          <a:ln>
            <a:noFill/>
          </a:ln>
        </p:spPr>
        <p:txBody>
          <a:bodyPr spcFirstLastPara="1" wrap="square" lIns="0" tIns="0" rIns="0" bIns="0" anchor="t" anchorCtr="0">
            <a:noAutofit/>
          </a:bodyPr>
          <a:lstStyle/>
          <a:p>
            <a:pPr marL="0" marR="0" lvl="0" indent="0" algn="l" rtl="0">
              <a:lnSpc>
                <a:spcPct val="108564"/>
              </a:lnSpc>
              <a:spcBef>
                <a:spcPts val="0"/>
              </a:spcBef>
              <a:spcAft>
                <a:spcPts val="0"/>
              </a:spcAft>
              <a:buClr>
                <a:srgbClr val="FF5F00"/>
              </a:buClr>
              <a:buSzPts val="4145"/>
              <a:buFont typeface="Calibri"/>
              <a:buNone/>
            </a:pPr>
            <a:r>
              <a:rPr lang="en-US" sz="4145" b="1">
                <a:solidFill>
                  <a:srgbClr val="FF5F00"/>
                </a:solidFill>
                <a:latin typeface="Calibri"/>
                <a:ea typeface="Calibri"/>
                <a:cs typeface="Calibri"/>
                <a:sym typeface="Calibri"/>
              </a:rPr>
              <a:t>01</a:t>
            </a:r>
            <a:endParaRPr sz="4145">
              <a:solidFill>
                <a:schemeClr val="dk1"/>
              </a:solidFill>
              <a:latin typeface="Calibri"/>
              <a:ea typeface="Calibri"/>
              <a:cs typeface="Calibri"/>
              <a:sym typeface="Calibri"/>
            </a:endParaRPr>
          </a:p>
        </p:txBody>
      </p:sp>
      <p:sp>
        <p:nvSpPr>
          <p:cNvPr id="309" name="Google Shape;309;p16"/>
          <p:cNvSpPr/>
          <p:nvPr/>
        </p:nvSpPr>
        <p:spPr>
          <a:xfrm>
            <a:off x="600075" y="2907339"/>
            <a:ext cx="1793081"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Input Phase</a:t>
            </a:r>
            <a:endParaRPr sz="1499">
              <a:solidFill>
                <a:schemeClr val="dk1"/>
              </a:solidFill>
              <a:latin typeface="Calibri"/>
              <a:ea typeface="Calibri"/>
              <a:cs typeface="Calibri"/>
              <a:sym typeface="Calibri"/>
            </a:endParaRPr>
          </a:p>
        </p:txBody>
      </p:sp>
      <p:sp>
        <p:nvSpPr>
          <p:cNvPr id="310" name="Google Shape;310;p16"/>
          <p:cNvSpPr/>
          <p:nvPr/>
        </p:nvSpPr>
        <p:spPr>
          <a:xfrm>
            <a:off x="600075" y="3355609"/>
            <a:ext cx="1793081" cy="1178719"/>
          </a:xfrm>
          <a:prstGeom prst="rect">
            <a:avLst/>
          </a:prstGeom>
          <a:noFill/>
          <a:ln>
            <a:noFill/>
          </a:ln>
        </p:spPr>
        <p:txBody>
          <a:bodyPr spcFirstLastPara="1" wrap="square" lIns="0" tIns="0" rIns="0" bIns="0" anchor="t" anchorCtr="0">
            <a:noAutofit/>
          </a:bodyPr>
          <a:lstStyle/>
          <a:p>
            <a:pPr marL="0" marR="0" lvl="0" indent="0" algn="l" rtl="0">
              <a:lnSpc>
                <a:spcPct val="163934"/>
              </a:lnSpc>
              <a:spcBef>
                <a:spcPts val="0"/>
              </a:spcBef>
              <a:spcAft>
                <a:spcPts val="0"/>
              </a:spcAft>
              <a:buClr>
                <a:srgbClr val="333333"/>
              </a:buClr>
              <a:buSzPts val="1159"/>
              <a:buFont typeface="Calibri"/>
              <a:buNone/>
            </a:pPr>
            <a:r>
              <a:rPr lang="en-US" sz="1159" dirty="0">
                <a:solidFill>
                  <a:srgbClr val="333333"/>
                </a:solidFill>
                <a:latin typeface="Calibri"/>
                <a:ea typeface="Calibri"/>
                <a:cs typeface="Calibri"/>
                <a:sym typeface="Calibri"/>
              </a:rPr>
              <a:t>Identify focal keywords and analyze the target landing page (LP) to establish the baseline context.</a:t>
            </a:r>
            <a:endParaRPr sz="1159" dirty="0">
              <a:solidFill>
                <a:schemeClr val="dk1"/>
              </a:solidFill>
              <a:latin typeface="Calibri"/>
              <a:ea typeface="Calibri"/>
              <a:cs typeface="Calibri"/>
              <a:sym typeface="Calibri"/>
            </a:endParaRPr>
          </a:p>
        </p:txBody>
      </p:sp>
      <p:sp>
        <p:nvSpPr>
          <p:cNvPr id="311" name="Google Shape;311;p16"/>
          <p:cNvSpPr/>
          <p:nvPr/>
        </p:nvSpPr>
        <p:spPr>
          <a:xfrm>
            <a:off x="2707481" y="2121526"/>
            <a:ext cx="1793081" cy="571500"/>
          </a:xfrm>
          <a:prstGeom prst="rect">
            <a:avLst/>
          </a:prstGeom>
          <a:noFill/>
          <a:ln>
            <a:noFill/>
          </a:ln>
        </p:spPr>
        <p:txBody>
          <a:bodyPr spcFirstLastPara="1" wrap="square" lIns="0" tIns="0" rIns="0" bIns="0" anchor="t" anchorCtr="0">
            <a:noAutofit/>
          </a:bodyPr>
          <a:lstStyle/>
          <a:p>
            <a:pPr marL="0" marR="0" lvl="0" indent="0" algn="l" rtl="0">
              <a:lnSpc>
                <a:spcPct val="108564"/>
              </a:lnSpc>
              <a:spcBef>
                <a:spcPts val="0"/>
              </a:spcBef>
              <a:spcAft>
                <a:spcPts val="0"/>
              </a:spcAft>
              <a:buClr>
                <a:srgbClr val="FF5F00"/>
              </a:buClr>
              <a:buSzPts val="4145"/>
              <a:buFont typeface="Calibri"/>
              <a:buNone/>
            </a:pPr>
            <a:r>
              <a:rPr lang="en-US" sz="4145" b="1">
                <a:solidFill>
                  <a:srgbClr val="FF5F00"/>
                </a:solidFill>
                <a:latin typeface="Calibri"/>
                <a:ea typeface="Calibri"/>
                <a:cs typeface="Calibri"/>
                <a:sym typeface="Calibri"/>
              </a:rPr>
              <a:t>02</a:t>
            </a:r>
            <a:endParaRPr sz="4145">
              <a:solidFill>
                <a:schemeClr val="dk1"/>
              </a:solidFill>
              <a:latin typeface="Calibri"/>
              <a:ea typeface="Calibri"/>
              <a:cs typeface="Calibri"/>
              <a:sym typeface="Calibri"/>
            </a:endParaRPr>
          </a:p>
        </p:txBody>
      </p:sp>
      <p:sp>
        <p:nvSpPr>
          <p:cNvPr id="312" name="Google Shape;312;p16"/>
          <p:cNvSpPr/>
          <p:nvPr/>
        </p:nvSpPr>
        <p:spPr>
          <a:xfrm>
            <a:off x="2707481" y="2907339"/>
            <a:ext cx="1793081"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Crawl Phase</a:t>
            </a:r>
            <a:endParaRPr sz="1499">
              <a:solidFill>
                <a:schemeClr val="dk1"/>
              </a:solidFill>
              <a:latin typeface="Calibri"/>
              <a:ea typeface="Calibri"/>
              <a:cs typeface="Calibri"/>
              <a:sym typeface="Calibri"/>
            </a:endParaRPr>
          </a:p>
        </p:txBody>
      </p:sp>
      <p:sp>
        <p:nvSpPr>
          <p:cNvPr id="313" name="Google Shape;313;p16"/>
          <p:cNvSpPr/>
          <p:nvPr/>
        </p:nvSpPr>
        <p:spPr>
          <a:xfrm>
            <a:off x="2707481" y="3355609"/>
            <a:ext cx="1793081" cy="1178719"/>
          </a:xfrm>
          <a:prstGeom prst="rect">
            <a:avLst/>
          </a:prstGeom>
          <a:noFill/>
          <a:ln>
            <a:noFill/>
          </a:ln>
        </p:spPr>
        <p:txBody>
          <a:bodyPr spcFirstLastPara="1" wrap="square" lIns="0" tIns="0" rIns="0" bIns="0" anchor="t" anchorCtr="0">
            <a:noAutofit/>
          </a:bodyPr>
          <a:lstStyle/>
          <a:p>
            <a:pPr marL="0" marR="0" lvl="0" indent="0" algn="l" rtl="0">
              <a:lnSpc>
                <a:spcPct val="163934"/>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Extract sub-keywords from top-10 organic results and the LP to capture "search engine alignment."</a:t>
            </a:r>
            <a:endParaRPr sz="1159">
              <a:solidFill>
                <a:schemeClr val="dk1"/>
              </a:solidFill>
              <a:latin typeface="Calibri"/>
              <a:ea typeface="Calibri"/>
              <a:cs typeface="Calibri"/>
              <a:sym typeface="Calibri"/>
            </a:endParaRPr>
          </a:p>
        </p:txBody>
      </p:sp>
      <p:sp>
        <p:nvSpPr>
          <p:cNvPr id="314" name="Google Shape;314;p16"/>
          <p:cNvSpPr/>
          <p:nvPr/>
        </p:nvSpPr>
        <p:spPr>
          <a:xfrm>
            <a:off x="4814888" y="2121526"/>
            <a:ext cx="1793081" cy="571500"/>
          </a:xfrm>
          <a:prstGeom prst="rect">
            <a:avLst/>
          </a:prstGeom>
          <a:noFill/>
          <a:ln>
            <a:noFill/>
          </a:ln>
        </p:spPr>
        <p:txBody>
          <a:bodyPr spcFirstLastPara="1" wrap="square" lIns="0" tIns="0" rIns="0" bIns="0" anchor="t" anchorCtr="0">
            <a:noAutofit/>
          </a:bodyPr>
          <a:lstStyle/>
          <a:p>
            <a:pPr marL="0" marR="0" lvl="0" indent="0" algn="l" rtl="0">
              <a:lnSpc>
                <a:spcPct val="108564"/>
              </a:lnSpc>
              <a:spcBef>
                <a:spcPts val="0"/>
              </a:spcBef>
              <a:spcAft>
                <a:spcPts val="0"/>
              </a:spcAft>
              <a:buClr>
                <a:srgbClr val="FF5F00"/>
              </a:buClr>
              <a:buSzPts val="4145"/>
              <a:buFont typeface="Calibri"/>
              <a:buNone/>
            </a:pPr>
            <a:r>
              <a:rPr lang="en-US" sz="4145" b="1">
                <a:solidFill>
                  <a:srgbClr val="FF5F00"/>
                </a:solidFill>
                <a:latin typeface="Calibri"/>
                <a:ea typeface="Calibri"/>
                <a:cs typeface="Calibri"/>
                <a:sym typeface="Calibri"/>
              </a:rPr>
              <a:t>03</a:t>
            </a:r>
            <a:endParaRPr sz="4145">
              <a:solidFill>
                <a:schemeClr val="dk1"/>
              </a:solidFill>
              <a:latin typeface="Calibri"/>
              <a:ea typeface="Calibri"/>
              <a:cs typeface="Calibri"/>
              <a:sym typeface="Calibri"/>
            </a:endParaRPr>
          </a:p>
        </p:txBody>
      </p:sp>
      <p:sp>
        <p:nvSpPr>
          <p:cNvPr id="315" name="Google Shape;315;p16"/>
          <p:cNvSpPr/>
          <p:nvPr/>
        </p:nvSpPr>
        <p:spPr>
          <a:xfrm>
            <a:off x="4814888" y="2907339"/>
            <a:ext cx="1793081"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Generation</a:t>
            </a:r>
            <a:endParaRPr sz="1499">
              <a:solidFill>
                <a:schemeClr val="dk1"/>
              </a:solidFill>
              <a:latin typeface="Calibri"/>
              <a:ea typeface="Calibri"/>
              <a:cs typeface="Calibri"/>
              <a:sym typeface="Calibri"/>
            </a:endParaRPr>
          </a:p>
        </p:txBody>
      </p:sp>
      <p:sp>
        <p:nvSpPr>
          <p:cNvPr id="316" name="Google Shape;316;p16"/>
          <p:cNvSpPr/>
          <p:nvPr/>
        </p:nvSpPr>
        <p:spPr>
          <a:xfrm>
            <a:off x="4814888" y="3355609"/>
            <a:ext cx="1793081" cy="1178719"/>
          </a:xfrm>
          <a:prstGeom prst="rect">
            <a:avLst/>
          </a:prstGeom>
          <a:noFill/>
          <a:ln>
            <a:noFill/>
          </a:ln>
        </p:spPr>
        <p:txBody>
          <a:bodyPr spcFirstLastPara="1" wrap="square" lIns="0" tIns="0" rIns="0" bIns="0" anchor="t" anchorCtr="0">
            <a:noAutofit/>
          </a:bodyPr>
          <a:lstStyle/>
          <a:p>
            <a:pPr marL="0" marR="0" lvl="0" indent="0" algn="l" rtl="0">
              <a:lnSpc>
                <a:spcPct val="163934"/>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Use a fine-tuned LLM with Plug-and-Play (PPLM) for controlled decoding and keyword integration.</a:t>
            </a:r>
            <a:endParaRPr sz="1159">
              <a:solidFill>
                <a:schemeClr val="dk1"/>
              </a:solidFill>
              <a:latin typeface="Calibri"/>
              <a:ea typeface="Calibri"/>
              <a:cs typeface="Calibri"/>
              <a:sym typeface="Calibri"/>
            </a:endParaRPr>
          </a:p>
        </p:txBody>
      </p:sp>
      <p:sp>
        <p:nvSpPr>
          <p:cNvPr id="317" name="Google Shape;317;p16"/>
          <p:cNvSpPr/>
          <p:nvPr/>
        </p:nvSpPr>
        <p:spPr>
          <a:xfrm>
            <a:off x="6922294" y="2121526"/>
            <a:ext cx="1793081" cy="571500"/>
          </a:xfrm>
          <a:prstGeom prst="rect">
            <a:avLst/>
          </a:prstGeom>
          <a:noFill/>
          <a:ln>
            <a:noFill/>
          </a:ln>
        </p:spPr>
        <p:txBody>
          <a:bodyPr spcFirstLastPara="1" wrap="square" lIns="0" tIns="0" rIns="0" bIns="0" anchor="t" anchorCtr="0">
            <a:noAutofit/>
          </a:bodyPr>
          <a:lstStyle/>
          <a:p>
            <a:pPr marL="0" marR="0" lvl="0" indent="0" algn="l" rtl="0">
              <a:lnSpc>
                <a:spcPct val="108564"/>
              </a:lnSpc>
              <a:spcBef>
                <a:spcPts val="0"/>
              </a:spcBef>
              <a:spcAft>
                <a:spcPts val="0"/>
              </a:spcAft>
              <a:buClr>
                <a:srgbClr val="FF5F00"/>
              </a:buClr>
              <a:buSzPts val="4145"/>
              <a:buFont typeface="Calibri"/>
              <a:buNone/>
            </a:pPr>
            <a:r>
              <a:rPr lang="en-US" sz="4145" b="1">
                <a:solidFill>
                  <a:srgbClr val="FF5F00"/>
                </a:solidFill>
                <a:latin typeface="Calibri"/>
                <a:ea typeface="Calibri"/>
                <a:cs typeface="Calibri"/>
                <a:sym typeface="Calibri"/>
              </a:rPr>
              <a:t>04</a:t>
            </a:r>
            <a:endParaRPr sz="4145">
              <a:solidFill>
                <a:schemeClr val="dk1"/>
              </a:solidFill>
              <a:latin typeface="Calibri"/>
              <a:ea typeface="Calibri"/>
              <a:cs typeface="Calibri"/>
              <a:sym typeface="Calibri"/>
            </a:endParaRPr>
          </a:p>
        </p:txBody>
      </p:sp>
      <p:sp>
        <p:nvSpPr>
          <p:cNvPr id="318" name="Google Shape;318;p16"/>
          <p:cNvSpPr/>
          <p:nvPr/>
        </p:nvSpPr>
        <p:spPr>
          <a:xfrm>
            <a:off x="6922294" y="2907339"/>
            <a:ext cx="1793081"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Selection</a:t>
            </a:r>
            <a:endParaRPr sz="1499">
              <a:solidFill>
                <a:schemeClr val="dk1"/>
              </a:solidFill>
              <a:latin typeface="Calibri"/>
              <a:ea typeface="Calibri"/>
              <a:cs typeface="Calibri"/>
              <a:sym typeface="Calibri"/>
            </a:endParaRPr>
          </a:p>
        </p:txBody>
      </p:sp>
      <p:sp>
        <p:nvSpPr>
          <p:cNvPr id="319" name="Google Shape;319;p16"/>
          <p:cNvSpPr/>
          <p:nvPr/>
        </p:nvSpPr>
        <p:spPr>
          <a:xfrm>
            <a:off x="6922294" y="3355609"/>
            <a:ext cx="1793081" cy="1178719"/>
          </a:xfrm>
          <a:prstGeom prst="rect">
            <a:avLst/>
          </a:prstGeom>
          <a:noFill/>
          <a:ln>
            <a:noFill/>
          </a:ln>
        </p:spPr>
        <p:txBody>
          <a:bodyPr spcFirstLastPara="1" wrap="square" lIns="0" tIns="0" rIns="0" bIns="0" anchor="t" anchorCtr="0">
            <a:noAutofit/>
          </a:bodyPr>
          <a:lstStyle/>
          <a:p>
            <a:pPr marL="0" marR="0" lvl="0" indent="0" algn="l" rtl="0">
              <a:lnSpc>
                <a:spcPct val="163934"/>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Rank candidates using the Content Score (CS_ad) and filter by predicted CPC for final deployment.</a:t>
            </a:r>
            <a:endParaRPr sz="1159">
              <a:solidFill>
                <a:schemeClr val="dk1"/>
              </a:solidFill>
              <a:latin typeface="Calibri"/>
              <a:ea typeface="Calibri"/>
              <a:cs typeface="Calibri"/>
              <a:sym typeface="Calibri"/>
            </a:endParaRPr>
          </a:p>
        </p:txBody>
      </p:sp>
      <p:sp>
        <p:nvSpPr>
          <p:cNvPr id="320" name="Google Shape;320;p16"/>
          <p:cNvSpPr/>
          <p:nvPr/>
        </p:nvSpPr>
        <p:spPr>
          <a:xfrm>
            <a:off x="428625" y="4834365"/>
            <a:ext cx="828675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1" name="Google Shape;321;p16"/>
          <p:cNvSpPr/>
          <p:nvPr/>
        </p:nvSpPr>
        <p:spPr>
          <a:xfrm>
            <a:off x="428625" y="1219752"/>
            <a:ext cx="8286900" cy="594300"/>
          </a:xfrm>
          <a:prstGeom prst="rect">
            <a:avLst/>
          </a:prstGeom>
          <a:noFill/>
          <a:ln>
            <a:noFill/>
          </a:ln>
        </p:spPr>
        <p:txBody>
          <a:bodyPr spcFirstLastPara="1" wrap="square" lIns="0" tIns="0" rIns="0" bIns="0" anchor="t" anchorCtr="0">
            <a:noAutofit/>
          </a:bodyPr>
          <a:lstStyle/>
          <a:p>
            <a:pPr marL="0" marR="0" lvl="0" indent="0" algn="l" rtl="0">
              <a:lnSpc>
                <a:spcPct val="167029"/>
              </a:lnSpc>
              <a:spcBef>
                <a:spcPts val="0"/>
              </a:spcBef>
              <a:spcAft>
                <a:spcPts val="0"/>
              </a:spcAft>
              <a:buClr>
                <a:srgbClr val="333333"/>
              </a:buClr>
              <a:buSzPts val="1377"/>
              <a:buFont typeface="Calibri"/>
              <a:buNone/>
            </a:pPr>
            <a:r>
              <a:rPr lang="en-US" sz="1377" i="1">
                <a:solidFill>
                  <a:srgbClr val="333333"/>
                </a:solidFill>
                <a:latin typeface="Calibri"/>
                <a:ea typeface="Calibri"/>
                <a:cs typeface="Calibri"/>
                <a:sym typeface="Calibri"/>
              </a:rPr>
              <a:t>The workflow transforms ad creation from a creative task into a data-driven engineering pipeline, ensuring alignment with both user intent and platform requirements.</a:t>
            </a:r>
            <a:endParaRPr sz="1377">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7"/>
          <p:cNvSpPr/>
          <p:nvPr/>
        </p:nvSpPr>
        <p:spPr>
          <a:xfrm>
            <a:off x="0" y="0"/>
            <a:ext cx="9144000" cy="1950076"/>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8" name="Google Shape;328;p17"/>
          <p:cNvSpPr/>
          <p:nvPr/>
        </p:nvSpPr>
        <p:spPr>
          <a:xfrm>
            <a:off x="0" y="1935789"/>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9" name="Google Shape;329;p17"/>
          <p:cNvSpPr/>
          <p:nvPr/>
        </p:nvSpPr>
        <p:spPr>
          <a:xfrm>
            <a:off x="428625" y="760642"/>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Precision Control via Plug-and-Play Language Models</a:t>
            </a:r>
            <a:endParaRPr sz="2862">
              <a:solidFill>
                <a:schemeClr val="dk1"/>
              </a:solidFill>
              <a:latin typeface="Calibri"/>
              <a:ea typeface="Calibri"/>
              <a:cs typeface="Calibri"/>
              <a:sym typeface="Calibri"/>
            </a:endParaRPr>
          </a:p>
        </p:txBody>
      </p:sp>
      <p:sp>
        <p:nvSpPr>
          <p:cNvPr id="330" name="Google Shape;330;p17"/>
          <p:cNvSpPr/>
          <p:nvPr/>
        </p:nvSpPr>
        <p:spPr>
          <a:xfrm>
            <a:off x="428625" y="2079390"/>
            <a:ext cx="15423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Why PPLM?</a:t>
            </a:r>
            <a:endParaRPr sz="1499">
              <a:solidFill>
                <a:schemeClr val="dk1"/>
              </a:solidFill>
              <a:latin typeface="Calibri"/>
              <a:ea typeface="Calibri"/>
              <a:cs typeface="Calibri"/>
              <a:sym typeface="Calibri"/>
            </a:endParaRPr>
          </a:p>
        </p:txBody>
      </p:sp>
      <p:sp>
        <p:nvSpPr>
          <p:cNvPr id="331" name="Google Shape;331;p17"/>
          <p:cNvSpPr/>
          <p:nvPr/>
        </p:nvSpPr>
        <p:spPr>
          <a:xfrm>
            <a:off x="428625" y="2584811"/>
            <a:ext cx="1542300" cy="321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595" dirty="0">
                <a:solidFill>
                  <a:srgbClr val="333333"/>
                </a:solidFill>
                <a:latin typeface="Calibri"/>
                <a:ea typeface="Calibri"/>
                <a:cs typeface="Calibri"/>
                <a:sym typeface="Calibri"/>
              </a:rPr>
              <a:t>PPLM steers the LLM toward keywords and themes without extensive retraining or full model fine-tuning.</a:t>
            </a:r>
            <a:endParaRPr sz="1595" dirty="0">
              <a:solidFill>
                <a:schemeClr val="dk1"/>
              </a:solidFill>
              <a:latin typeface="Calibri"/>
              <a:ea typeface="Calibri"/>
              <a:cs typeface="Calibri"/>
              <a:sym typeface="Calibri"/>
            </a:endParaRPr>
          </a:p>
        </p:txBody>
      </p:sp>
      <p:sp>
        <p:nvSpPr>
          <p:cNvPr id="332" name="Google Shape;332;p17"/>
          <p:cNvSpPr/>
          <p:nvPr/>
        </p:nvSpPr>
        <p:spPr>
          <a:xfrm>
            <a:off x="2056647" y="2079390"/>
            <a:ext cx="15423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Mechanism</a:t>
            </a:r>
            <a:endParaRPr sz="1499">
              <a:solidFill>
                <a:schemeClr val="dk1"/>
              </a:solidFill>
              <a:latin typeface="Calibri"/>
              <a:ea typeface="Calibri"/>
              <a:cs typeface="Calibri"/>
              <a:sym typeface="Calibri"/>
            </a:endParaRPr>
          </a:p>
        </p:txBody>
      </p:sp>
      <p:sp>
        <p:nvSpPr>
          <p:cNvPr id="333" name="Google Shape;333;p17"/>
          <p:cNvSpPr/>
          <p:nvPr/>
        </p:nvSpPr>
        <p:spPr>
          <a:xfrm>
            <a:off x="2056647" y="2599722"/>
            <a:ext cx="1542300" cy="2571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595" dirty="0">
                <a:solidFill>
                  <a:srgbClr val="333333"/>
                </a:solidFill>
                <a:latin typeface="Calibri"/>
                <a:ea typeface="Calibri"/>
                <a:cs typeface="Calibri"/>
                <a:sym typeface="Calibri"/>
              </a:rPr>
              <a:t>Shifts token probabilities during decoding so outputs incorporate critical sub-keywords.</a:t>
            </a:r>
            <a:endParaRPr sz="1595" dirty="0">
              <a:solidFill>
                <a:schemeClr val="dk1"/>
              </a:solidFill>
              <a:latin typeface="Calibri"/>
              <a:ea typeface="Calibri"/>
              <a:cs typeface="Calibri"/>
              <a:sym typeface="Calibri"/>
            </a:endParaRPr>
          </a:p>
        </p:txBody>
      </p:sp>
      <p:sp>
        <p:nvSpPr>
          <p:cNvPr id="334" name="Google Shape;334;p17"/>
          <p:cNvSpPr/>
          <p:nvPr/>
        </p:nvSpPr>
        <p:spPr>
          <a:xfrm>
            <a:off x="3684668" y="2079390"/>
            <a:ext cx="1647300" cy="5823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Base Model &amp; Balance</a:t>
            </a:r>
            <a:endParaRPr sz="1499">
              <a:solidFill>
                <a:schemeClr val="dk1"/>
              </a:solidFill>
              <a:latin typeface="Calibri"/>
              <a:ea typeface="Calibri"/>
              <a:cs typeface="Calibri"/>
              <a:sym typeface="Calibri"/>
            </a:endParaRPr>
          </a:p>
        </p:txBody>
      </p:sp>
      <p:sp>
        <p:nvSpPr>
          <p:cNvPr id="335" name="Google Shape;335;p17"/>
          <p:cNvSpPr/>
          <p:nvPr/>
        </p:nvSpPr>
        <p:spPr>
          <a:xfrm>
            <a:off x="3684668" y="2661704"/>
            <a:ext cx="1647300" cy="2893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595"/>
              <a:buFont typeface="Calibri"/>
              <a:buNone/>
            </a:pPr>
            <a:r>
              <a:rPr lang="en-US" sz="1595">
                <a:solidFill>
                  <a:srgbClr val="333333"/>
                </a:solidFill>
                <a:latin typeface="Calibri"/>
                <a:ea typeface="Calibri"/>
                <a:cs typeface="Calibri"/>
                <a:sym typeface="Calibri"/>
              </a:rPr>
              <a:t>Uses GPT-2 (355M) hidden states for gradient updates; a hyperparameter balances control and fluency.</a:t>
            </a:r>
            <a:endParaRPr sz="1595">
              <a:solidFill>
                <a:schemeClr val="dk1"/>
              </a:solidFill>
              <a:latin typeface="Calibri"/>
              <a:ea typeface="Calibri"/>
              <a:cs typeface="Calibri"/>
              <a:sym typeface="Calibri"/>
            </a:endParaRPr>
          </a:p>
        </p:txBody>
      </p:sp>
      <p:pic>
        <p:nvPicPr>
          <p:cNvPr id="336" name="Google Shape;336;p17" descr="preencoded.png"/>
          <p:cNvPicPr preferRelativeResize="0"/>
          <p:nvPr/>
        </p:nvPicPr>
        <p:blipFill rotWithShape="1">
          <a:blip r:embed="rId3">
            <a:alphaModFix/>
          </a:blip>
          <a:srcRect/>
          <a:stretch/>
        </p:blipFill>
        <p:spPr>
          <a:xfrm>
            <a:off x="5417808" y="2069817"/>
            <a:ext cx="3726192" cy="2337549"/>
          </a:xfrm>
          <a:prstGeom prst="rect">
            <a:avLst/>
          </a:prstGeom>
          <a:noFill/>
          <a:ln>
            <a:noFill/>
          </a:ln>
        </p:spPr>
      </p:pic>
      <p:sp>
        <p:nvSpPr>
          <p:cNvPr id="337" name="Google Shape;337;p17"/>
          <p:cNvSpPr/>
          <p:nvPr/>
        </p:nvSpPr>
        <p:spPr>
          <a:xfrm>
            <a:off x="6283345" y="4527106"/>
            <a:ext cx="2860655" cy="140680"/>
          </a:xfrm>
          <a:prstGeom prst="rect">
            <a:avLst/>
          </a:prstGeom>
          <a:noFill/>
          <a:ln>
            <a:noFill/>
          </a:ln>
        </p:spPr>
        <p:txBody>
          <a:bodyPr spcFirstLastPara="1" wrap="square" lIns="0" tIns="0" rIns="0" bIns="0" anchor="t" anchorCtr="0">
            <a:noAutofit/>
          </a:bodyPr>
          <a:lstStyle/>
          <a:p>
            <a:pPr marL="0" marR="0" lvl="0" indent="0" algn="l" rtl="0">
              <a:lnSpc>
                <a:spcPct val="56250"/>
              </a:lnSpc>
              <a:spcBef>
                <a:spcPts val="0"/>
              </a:spcBef>
              <a:spcAft>
                <a:spcPts val="0"/>
              </a:spcAft>
              <a:buClr>
                <a:srgbClr val="333333"/>
              </a:buClr>
              <a:buSzPts val="1600"/>
              <a:buFont typeface="Calibri"/>
              <a:buNone/>
            </a:pPr>
            <a:r>
              <a:rPr lang="en-US" sz="1600">
                <a:solidFill>
                  <a:srgbClr val="333333"/>
                </a:solidFill>
                <a:latin typeface="Calibri"/>
                <a:ea typeface="Calibri"/>
                <a:cs typeface="Calibri"/>
                <a:sym typeface="Calibri"/>
              </a:rPr>
              <a:t>LLM-Powered Creativity &amp; Control</a:t>
            </a:r>
            <a:endParaRPr sz="16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8"/>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4" name="Google Shape;344;p18"/>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5" name="Google Shape;345;p18"/>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The Content Score (CS_ad): A Metric for Alignment</a:t>
            </a:r>
            <a:endParaRPr sz="2862">
              <a:solidFill>
                <a:schemeClr val="dk1"/>
              </a:solidFill>
              <a:latin typeface="Calibri"/>
              <a:ea typeface="Calibri"/>
              <a:cs typeface="Calibri"/>
              <a:sym typeface="Calibri"/>
            </a:endParaRPr>
          </a:p>
        </p:txBody>
      </p:sp>
      <p:sp>
        <p:nvSpPr>
          <p:cNvPr id="346" name="Google Shape;346;p18"/>
          <p:cNvSpPr/>
          <p:nvPr/>
        </p:nvSpPr>
        <p:spPr>
          <a:xfrm>
            <a:off x="340575" y="998297"/>
            <a:ext cx="8286900" cy="502800"/>
          </a:xfrm>
          <a:prstGeom prst="rect">
            <a:avLst/>
          </a:prstGeom>
          <a:noFill/>
          <a:ln>
            <a:noFill/>
          </a:ln>
        </p:spPr>
        <p:txBody>
          <a:bodyPr spcFirstLastPara="1" wrap="square" lIns="170050" tIns="0" rIns="0" bIns="0" anchor="t" anchorCtr="0">
            <a:noAutofit/>
          </a:bodyPr>
          <a:lstStyle/>
          <a:p>
            <a:pPr marL="0" marR="0" lvl="0" indent="0" algn="l" rtl="0">
              <a:lnSpc>
                <a:spcPct val="172562"/>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The Content Score (CS_ad) is a composite metric ranging from 0 to 1 that operationalizes "search engine alignment" by measuring how well an ad aligns with the broader search environment.</a:t>
            </a:r>
            <a:endParaRPr sz="1159">
              <a:solidFill>
                <a:schemeClr val="dk1"/>
              </a:solidFill>
              <a:latin typeface="Calibri"/>
              <a:ea typeface="Calibri"/>
              <a:cs typeface="Calibri"/>
              <a:sym typeface="Calibri"/>
            </a:endParaRPr>
          </a:p>
        </p:txBody>
      </p:sp>
      <p:sp>
        <p:nvSpPr>
          <p:cNvPr id="347" name="Google Shape;347;p18"/>
          <p:cNvSpPr/>
          <p:nvPr/>
        </p:nvSpPr>
        <p:spPr>
          <a:xfrm>
            <a:off x="428625" y="1797025"/>
            <a:ext cx="2486100" cy="354300"/>
          </a:xfrm>
          <a:prstGeom prst="rect">
            <a:avLst/>
          </a:prstGeom>
          <a:solidFill>
            <a:srgbClr val="000000"/>
          </a:solidFill>
          <a:ln>
            <a:noFill/>
          </a:ln>
        </p:spPr>
        <p:txBody>
          <a:bodyPr spcFirstLastPara="1" wrap="square" lIns="64100" tIns="32025" rIns="64100" bIns="32025" anchor="t" anchorCtr="0">
            <a:noAutofit/>
          </a:bodyPr>
          <a:lstStyle/>
          <a:p>
            <a:pPr marL="0" marR="0" lvl="0" indent="0" algn="l" rtl="0">
              <a:spcBef>
                <a:spcPts val="0"/>
              </a:spcBef>
              <a:spcAft>
                <a:spcPts val="0"/>
              </a:spcAft>
              <a:buNone/>
            </a:pPr>
            <a:endParaRPr sz="1261">
              <a:solidFill>
                <a:schemeClr val="dk1"/>
              </a:solidFill>
              <a:latin typeface="Calibri"/>
              <a:ea typeface="Calibri"/>
              <a:cs typeface="Calibri"/>
              <a:sym typeface="Calibri"/>
            </a:endParaRPr>
          </a:p>
        </p:txBody>
      </p:sp>
      <p:sp>
        <p:nvSpPr>
          <p:cNvPr id="348" name="Google Shape;348;p18"/>
          <p:cNvSpPr/>
          <p:nvPr/>
        </p:nvSpPr>
        <p:spPr>
          <a:xfrm>
            <a:off x="428625" y="1797025"/>
            <a:ext cx="2486100" cy="354300"/>
          </a:xfrm>
          <a:prstGeom prst="rect">
            <a:avLst/>
          </a:prstGeom>
          <a:noFill/>
          <a:ln>
            <a:noFill/>
          </a:ln>
        </p:spPr>
        <p:txBody>
          <a:bodyPr spcFirstLastPara="1" wrap="square" lIns="119200" tIns="89350" rIns="119200" bIns="89350" anchor="ctr" anchorCtr="0">
            <a:noAutofit/>
          </a:bodyPr>
          <a:lstStyle/>
          <a:p>
            <a:pPr marL="0" marR="0" lvl="0" indent="0" algn="l" rtl="0">
              <a:lnSpc>
                <a:spcPct val="133422"/>
              </a:lnSpc>
              <a:spcBef>
                <a:spcPts val="0"/>
              </a:spcBef>
              <a:spcAft>
                <a:spcPts val="0"/>
              </a:spcAft>
              <a:buClr>
                <a:srgbClr val="FFFFFF"/>
              </a:buClr>
              <a:buSzPts val="1051"/>
              <a:buFont typeface="Calibri"/>
              <a:buNone/>
            </a:pPr>
            <a:r>
              <a:rPr lang="en-US" sz="1050" b="1">
                <a:solidFill>
                  <a:srgbClr val="FFFFFF"/>
                </a:solidFill>
                <a:latin typeface="Calibri"/>
                <a:ea typeface="Calibri"/>
                <a:cs typeface="Calibri"/>
                <a:sym typeface="Calibri"/>
              </a:rPr>
              <a:t>Component</a:t>
            </a:r>
            <a:endParaRPr sz="1050">
              <a:solidFill>
                <a:schemeClr val="dk1"/>
              </a:solidFill>
              <a:latin typeface="Calibri"/>
              <a:ea typeface="Calibri"/>
              <a:cs typeface="Calibri"/>
              <a:sym typeface="Calibri"/>
            </a:endParaRPr>
          </a:p>
        </p:txBody>
      </p:sp>
      <p:sp>
        <p:nvSpPr>
          <p:cNvPr id="349" name="Google Shape;349;p18"/>
          <p:cNvSpPr/>
          <p:nvPr/>
        </p:nvSpPr>
        <p:spPr>
          <a:xfrm>
            <a:off x="2914575" y="1797025"/>
            <a:ext cx="5800800" cy="354300"/>
          </a:xfrm>
          <a:prstGeom prst="rect">
            <a:avLst/>
          </a:prstGeom>
          <a:solidFill>
            <a:srgbClr val="000000"/>
          </a:solidFill>
          <a:ln>
            <a:noFill/>
          </a:ln>
        </p:spPr>
        <p:txBody>
          <a:bodyPr spcFirstLastPara="1" wrap="square" lIns="64100" tIns="32025" rIns="64100" bIns="32025" anchor="t" anchorCtr="0">
            <a:noAutofit/>
          </a:bodyPr>
          <a:lstStyle/>
          <a:p>
            <a:pPr marL="0" marR="0" lvl="0" indent="0" algn="l" rtl="0">
              <a:spcBef>
                <a:spcPts val="0"/>
              </a:spcBef>
              <a:spcAft>
                <a:spcPts val="0"/>
              </a:spcAft>
              <a:buNone/>
            </a:pPr>
            <a:endParaRPr sz="1261">
              <a:solidFill>
                <a:schemeClr val="dk1"/>
              </a:solidFill>
              <a:latin typeface="Calibri"/>
              <a:ea typeface="Calibri"/>
              <a:cs typeface="Calibri"/>
              <a:sym typeface="Calibri"/>
            </a:endParaRPr>
          </a:p>
        </p:txBody>
      </p:sp>
      <p:sp>
        <p:nvSpPr>
          <p:cNvPr id="350" name="Google Shape;350;p18"/>
          <p:cNvSpPr/>
          <p:nvPr/>
        </p:nvSpPr>
        <p:spPr>
          <a:xfrm>
            <a:off x="2914575" y="1797025"/>
            <a:ext cx="5800800" cy="354300"/>
          </a:xfrm>
          <a:prstGeom prst="rect">
            <a:avLst/>
          </a:prstGeom>
          <a:noFill/>
          <a:ln>
            <a:noFill/>
          </a:ln>
        </p:spPr>
        <p:txBody>
          <a:bodyPr spcFirstLastPara="1" wrap="square" lIns="119200" tIns="89350" rIns="119200" bIns="89350" anchor="ctr" anchorCtr="0">
            <a:noAutofit/>
          </a:bodyPr>
          <a:lstStyle/>
          <a:p>
            <a:pPr marL="0" marR="0" lvl="0" indent="0" algn="l" rtl="0">
              <a:lnSpc>
                <a:spcPct val="133422"/>
              </a:lnSpc>
              <a:spcBef>
                <a:spcPts val="0"/>
              </a:spcBef>
              <a:spcAft>
                <a:spcPts val="0"/>
              </a:spcAft>
              <a:buClr>
                <a:srgbClr val="FFFFFF"/>
              </a:buClr>
              <a:buSzPts val="1051"/>
              <a:buFont typeface="Calibri"/>
              <a:buNone/>
            </a:pPr>
            <a:r>
              <a:rPr lang="en-US" sz="1050" b="1">
                <a:solidFill>
                  <a:srgbClr val="FFFFFF"/>
                </a:solidFill>
                <a:latin typeface="Calibri"/>
                <a:ea typeface="Calibri"/>
                <a:cs typeface="Calibri"/>
                <a:sym typeface="Calibri"/>
              </a:rPr>
              <a:t>Description</a:t>
            </a:r>
            <a:endParaRPr sz="1050">
              <a:solidFill>
                <a:schemeClr val="dk1"/>
              </a:solidFill>
              <a:latin typeface="Calibri"/>
              <a:ea typeface="Calibri"/>
              <a:cs typeface="Calibri"/>
              <a:sym typeface="Calibri"/>
            </a:endParaRPr>
          </a:p>
        </p:txBody>
      </p:sp>
      <p:sp>
        <p:nvSpPr>
          <p:cNvPr id="351" name="Google Shape;351;p18"/>
          <p:cNvSpPr/>
          <p:nvPr/>
        </p:nvSpPr>
        <p:spPr>
          <a:xfrm>
            <a:off x="428625" y="2151275"/>
            <a:ext cx="2486100" cy="573300"/>
          </a:xfrm>
          <a:prstGeom prst="rect">
            <a:avLst/>
          </a:prstGeom>
          <a:noFill/>
          <a:ln>
            <a:noFill/>
          </a:ln>
        </p:spPr>
        <p:txBody>
          <a:bodyPr spcFirstLastPara="1" wrap="square" lIns="119200" tIns="89350" rIns="119200" bIns="89350" anchor="ctr" anchorCtr="0">
            <a:noAutofit/>
          </a:bodyPr>
          <a:lstStyle/>
          <a:p>
            <a:pPr marL="0" marR="0" lvl="0" indent="0" algn="l" rtl="0">
              <a:lnSpc>
                <a:spcPct val="160106"/>
              </a:lnSpc>
              <a:spcBef>
                <a:spcPts val="0"/>
              </a:spcBef>
              <a:spcAft>
                <a:spcPts val="0"/>
              </a:spcAft>
              <a:buClr>
                <a:srgbClr val="0047AB"/>
              </a:buClr>
              <a:buSzPts val="1051"/>
              <a:buFont typeface="Calibri"/>
              <a:buNone/>
            </a:pPr>
            <a:r>
              <a:rPr lang="en-US" sz="1050" b="1">
                <a:solidFill>
                  <a:srgbClr val="0047AB"/>
                </a:solidFill>
                <a:latin typeface="Calibri"/>
                <a:ea typeface="Calibri"/>
                <a:cs typeface="Calibri"/>
                <a:sym typeface="Calibri"/>
              </a:rPr>
              <a:t>Organic Similarity</a:t>
            </a:r>
            <a:endParaRPr sz="1050">
              <a:solidFill>
                <a:schemeClr val="dk1"/>
              </a:solidFill>
              <a:latin typeface="Calibri"/>
              <a:ea typeface="Calibri"/>
              <a:cs typeface="Calibri"/>
              <a:sym typeface="Calibri"/>
            </a:endParaRPr>
          </a:p>
        </p:txBody>
      </p:sp>
      <p:sp>
        <p:nvSpPr>
          <p:cNvPr id="352" name="Google Shape;352;p18"/>
          <p:cNvSpPr/>
          <p:nvPr/>
        </p:nvSpPr>
        <p:spPr>
          <a:xfrm>
            <a:off x="2914575" y="2151275"/>
            <a:ext cx="5800800" cy="573300"/>
          </a:xfrm>
          <a:prstGeom prst="rect">
            <a:avLst/>
          </a:prstGeom>
          <a:noFill/>
          <a:ln>
            <a:noFill/>
          </a:ln>
        </p:spPr>
        <p:txBody>
          <a:bodyPr spcFirstLastPara="1" wrap="square" lIns="119200" tIns="89350" rIns="119200" bIns="89350" anchor="ctr" anchorCtr="0">
            <a:noAutofit/>
          </a:bodyPr>
          <a:lstStyle/>
          <a:p>
            <a:pPr marL="0" marR="0" lvl="0" indent="0" algn="l" rtl="0">
              <a:lnSpc>
                <a:spcPct val="150470"/>
              </a:lnSpc>
              <a:spcBef>
                <a:spcPts val="0"/>
              </a:spcBef>
              <a:spcAft>
                <a:spcPts val="0"/>
              </a:spcAft>
              <a:buClr>
                <a:srgbClr val="333333"/>
              </a:buClr>
              <a:buSzPts val="1118"/>
              <a:buFont typeface="Calibri"/>
              <a:buNone/>
            </a:pPr>
            <a:r>
              <a:rPr lang="en-US" sz="1117">
                <a:solidFill>
                  <a:srgbClr val="333333"/>
                </a:solidFill>
                <a:latin typeface="Calibri"/>
                <a:ea typeface="Calibri"/>
                <a:cs typeface="Calibri"/>
                <a:sym typeface="Calibri"/>
              </a:rPr>
              <a:t>Cosine similarity between the generated ad and the top-10 organic search results.</a:t>
            </a:r>
            <a:endParaRPr sz="1117">
              <a:solidFill>
                <a:schemeClr val="dk1"/>
              </a:solidFill>
              <a:latin typeface="Calibri"/>
              <a:ea typeface="Calibri"/>
              <a:cs typeface="Calibri"/>
              <a:sym typeface="Calibri"/>
            </a:endParaRPr>
          </a:p>
        </p:txBody>
      </p:sp>
      <p:sp>
        <p:nvSpPr>
          <p:cNvPr id="353" name="Google Shape;353;p18"/>
          <p:cNvSpPr/>
          <p:nvPr/>
        </p:nvSpPr>
        <p:spPr>
          <a:xfrm>
            <a:off x="428625" y="2724584"/>
            <a:ext cx="2486100" cy="576000"/>
          </a:xfrm>
          <a:prstGeom prst="rect">
            <a:avLst/>
          </a:prstGeom>
          <a:noFill/>
          <a:ln>
            <a:noFill/>
          </a:ln>
        </p:spPr>
        <p:txBody>
          <a:bodyPr spcFirstLastPara="1" wrap="square" lIns="119200" tIns="89350" rIns="119200" bIns="89350" anchor="ctr" anchorCtr="0">
            <a:noAutofit/>
          </a:bodyPr>
          <a:lstStyle/>
          <a:p>
            <a:pPr marL="0" marR="0" lvl="0" indent="0" algn="l" rtl="0">
              <a:lnSpc>
                <a:spcPct val="160106"/>
              </a:lnSpc>
              <a:spcBef>
                <a:spcPts val="0"/>
              </a:spcBef>
              <a:spcAft>
                <a:spcPts val="0"/>
              </a:spcAft>
              <a:buClr>
                <a:srgbClr val="0047AB"/>
              </a:buClr>
              <a:buSzPts val="1051"/>
              <a:buFont typeface="Calibri"/>
              <a:buNone/>
            </a:pPr>
            <a:r>
              <a:rPr lang="en-US" sz="1050" b="1">
                <a:solidFill>
                  <a:srgbClr val="0047AB"/>
                </a:solidFill>
                <a:latin typeface="Calibri"/>
                <a:ea typeface="Calibri"/>
                <a:cs typeface="Calibri"/>
                <a:sym typeface="Calibri"/>
              </a:rPr>
              <a:t>LP Similarity</a:t>
            </a:r>
            <a:endParaRPr sz="1050">
              <a:solidFill>
                <a:schemeClr val="dk1"/>
              </a:solidFill>
              <a:latin typeface="Calibri"/>
              <a:ea typeface="Calibri"/>
              <a:cs typeface="Calibri"/>
              <a:sym typeface="Calibri"/>
            </a:endParaRPr>
          </a:p>
        </p:txBody>
      </p:sp>
      <p:sp>
        <p:nvSpPr>
          <p:cNvPr id="354" name="Google Shape;354;p18"/>
          <p:cNvSpPr/>
          <p:nvPr/>
        </p:nvSpPr>
        <p:spPr>
          <a:xfrm>
            <a:off x="2914575" y="2724584"/>
            <a:ext cx="5800800" cy="576000"/>
          </a:xfrm>
          <a:prstGeom prst="rect">
            <a:avLst/>
          </a:prstGeom>
          <a:noFill/>
          <a:ln>
            <a:noFill/>
          </a:ln>
        </p:spPr>
        <p:txBody>
          <a:bodyPr spcFirstLastPara="1" wrap="square" lIns="119200" tIns="89350" rIns="119200" bIns="89350" anchor="ctr" anchorCtr="0">
            <a:noAutofit/>
          </a:bodyPr>
          <a:lstStyle/>
          <a:p>
            <a:pPr marL="0" marR="0" lvl="0" indent="0" algn="l" rtl="0">
              <a:lnSpc>
                <a:spcPct val="150470"/>
              </a:lnSpc>
              <a:spcBef>
                <a:spcPts val="0"/>
              </a:spcBef>
              <a:spcAft>
                <a:spcPts val="0"/>
              </a:spcAft>
              <a:buClr>
                <a:srgbClr val="333333"/>
              </a:buClr>
              <a:buSzPts val="1118"/>
              <a:buFont typeface="Calibri"/>
              <a:buNone/>
            </a:pPr>
            <a:r>
              <a:rPr lang="en-US" sz="1117">
                <a:solidFill>
                  <a:srgbClr val="333333"/>
                </a:solidFill>
                <a:latin typeface="Calibri"/>
                <a:ea typeface="Calibri"/>
                <a:cs typeface="Calibri"/>
                <a:sym typeface="Calibri"/>
              </a:rPr>
              <a:t>Cosine similarity between the ad copy and the content of the target landing page.</a:t>
            </a:r>
            <a:endParaRPr sz="1117">
              <a:solidFill>
                <a:schemeClr val="dk1"/>
              </a:solidFill>
              <a:latin typeface="Calibri"/>
              <a:ea typeface="Calibri"/>
              <a:cs typeface="Calibri"/>
              <a:sym typeface="Calibri"/>
            </a:endParaRPr>
          </a:p>
        </p:txBody>
      </p:sp>
      <p:sp>
        <p:nvSpPr>
          <p:cNvPr id="355" name="Google Shape;355;p18"/>
          <p:cNvSpPr/>
          <p:nvPr/>
        </p:nvSpPr>
        <p:spPr>
          <a:xfrm>
            <a:off x="428625" y="3300397"/>
            <a:ext cx="2486100" cy="576000"/>
          </a:xfrm>
          <a:prstGeom prst="rect">
            <a:avLst/>
          </a:prstGeom>
          <a:noFill/>
          <a:ln>
            <a:noFill/>
          </a:ln>
        </p:spPr>
        <p:txBody>
          <a:bodyPr spcFirstLastPara="1" wrap="square" lIns="119200" tIns="89350" rIns="119200" bIns="89350" anchor="ctr" anchorCtr="0">
            <a:noAutofit/>
          </a:bodyPr>
          <a:lstStyle/>
          <a:p>
            <a:pPr marL="0" marR="0" lvl="0" indent="0" algn="l" rtl="0">
              <a:lnSpc>
                <a:spcPct val="160106"/>
              </a:lnSpc>
              <a:spcBef>
                <a:spcPts val="0"/>
              </a:spcBef>
              <a:spcAft>
                <a:spcPts val="0"/>
              </a:spcAft>
              <a:buClr>
                <a:srgbClr val="0047AB"/>
              </a:buClr>
              <a:buSzPts val="1051"/>
              <a:buFont typeface="Calibri"/>
              <a:buNone/>
            </a:pPr>
            <a:r>
              <a:rPr lang="en-US" sz="1050" b="1">
                <a:solidFill>
                  <a:srgbClr val="0047AB"/>
                </a:solidFill>
                <a:latin typeface="Calibri"/>
                <a:ea typeface="Calibri"/>
                <a:cs typeface="Calibri"/>
                <a:sym typeface="Calibri"/>
              </a:rPr>
              <a:t>Organic Coverage</a:t>
            </a:r>
            <a:endParaRPr sz="1050">
              <a:solidFill>
                <a:schemeClr val="dk1"/>
              </a:solidFill>
              <a:latin typeface="Calibri"/>
              <a:ea typeface="Calibri"/>
              <a:cs typeface="Calibri"/>
              <a:sym typeface="Calibri"/>
            </a:endParaRPr>
          </a:p>
        </p:txBody>
      </p:sp>
      <p:sp>
        <p:nvSpPr>
          <p:cNvPr id="356" name="Google Shape;356;p18"/>
          <p:cNvSpPr/>
          <p:nvPr/>
        </p:nvSpPr>
        <p:spPr>
          <a:xfrm>
            <a:off x="2914575" y="3300397"/>
            <a:ext cx="5800800" cy="576000"/>
          </a:xfrm>
          <a:prstGeom prst="rect">
            <a:avLst/>
          </a:prstGeom>
          <a:noFill/>
          <a:ln>
            <a:noFill/>
          </a:ln>
        </p:spPr>
        <p:txBody>
          <a:bodyPr spcFirstLastPara="1" wrap="square" lIns="119200" tIns="89350" rIns="119200" bIns="89350" anchor="ctr" anchorCtr="0">
            <a:noAutofit/>
          </a:bodyPr>
          <a:lstStyle/>
          <a:p>
            <a:pPr marL="0" marR="0" lvl="0" indent="0" algn="l" rtl="0">
              <a:lnSpc>
                <a:spcPct val="150470"/>
              </a:lnSpc>
              <a:spcBef>
                <a:spcPts val="0"/>
              </a:spcBef>
              <a:spcAft>
                <a:spcPts val="0"/>
              </a:spcAft>
              <a:buClr>
                <a:srgbClr val="333333"/>
              </a:buClr>
              <a:buSzPts val="1118"/>
              <a:buFont typeface="Calibri"/>
              <a:buNone/>
            </a:pPr>
            <a:r>
              <a:rPr lang="en-US" sz="1117">
                <a:solidFill>
                  <a:srgbClr val="333333"/>
                </a:solidFill>
                <a:latin typeface="Calibri"/>
                <a:ea typeface="Calibri"/>
                <a:cs typeface="Calibri"/>
                <a:sym typeface="Calibri"/>
              </a:rPr>
              <a:t>Percentage of critical sub-keywords from top organic results included in the ad.</a:t>
            </a:r>
            <a:endParaRPr sz="1117">
              <a:solidFill>
                <a:schemeClr val="dk1"/>
              </a:solidFill>
              <a:latin typeface="Calibri"/>
              <a:ea typeface="Calibri"/>
              <a:cs typeface="Calibri"/>
              <a:sym typeface="Calibri"/>
            </a:endParaRPr>
          </a:p>
        </p:txBody>
      </p:sp>
      <p:sp>
        <p:nvSpPr>
          <p:cNvPr id="357" name="Google Shape;357;p18"/>
          <p:cNvSpPr/>
          <p:nvPr/>
        </p:nvSpPr>
        <p:spPr>
          <a:xfrm>
            <a:off x="428625" y="3876209"/>
            <a:ext cx="2486100" cy="576000"/>
          </a:xfrm>
          <a:prstGeom prst="rect">
            <a:avLst/>
          </a:prstGeom>
          <a:noFill/>
          <a:ln>
            <a:noFill/>
          </a:ln>
        </p:spPr>
        <p:txBody>
          <a:bodyPr spcFirstLastPara="1" wrap="square" lIns="119200" tIns="89350" rIns="119200" bIns="89350" anchor="ctr" anchorCtr="0">
            <a:noAutofit/>
          </a:bodyPr>
          <a:lstStyle/>
          <a:p>
            <a:pPr marL="0" marR="0" lvl="0" indent="0" algn="l" rtl="0">
              <a:lnSpc>
                <a:spcPct val="160106"/>
              </a:lnSpc>
              <a:spcBef>
                <a:spcPts val="0"/>
              </a:spcBef>
              <a:spcAft>
                <a:spcPts val="0"/>
              </a:spcAft>
              <a:buClr>
                <a:srgbClr val="0047AB"/>
              </a:buClr>
              <a:buSzPts val="1051"/>
              <a:buFont typeface="Calibri"/>
              <a:buNone/>
            </a:pPr>
            <a:r>
              <a:rPr lang="en-US" sz="1050" b="1">
                <a:solidFill>
                  <a:srgbClr val="0047AB"/>
                </a:solidFill>
                <a:latin typeface="Calibri"/>
                <a:ea typeface="Calibri"/>
                <a:cs typeface="Calibri"/>
                <a:sym typeface="Calibri"/>
              </a:rPr>
              <a:t>LP Coverage</a:t>
            </a:r>
            <a:endParaRPr sz="1050">
              <a:solidFill>
                <a:schemeClr val="dk1"/>
              </a:solidFill>
              <a:latin typeface="Calibri"/>
              <a:ea typeface="Calibri"/>
              <a:cs typeface="Calibri"/>
              <a:sym typeface="Calibri"/>
            </a:endParaRPr>
          </a:p>
        </p:txBody>
      </p:sp>
      <p:sp>
        <p:nvSpPr>
          <p:cNvPr id="358" name="Google Shape;358;p18"/>
          <p:cNvSpPr/>
          <p:nvPr/>
        </p:nvSpPr>
        <p:spPr>
          <a:xfrm>
            <a:off x="2914575" y="3876209"/>
            <a:ext cx="5800800" cy="576000"/>
          </a:xfrm>
          <a:prstGeom prst="rect">
            <a:avLst/>
          </a:prstGeom>
          <a:noFill/>
          <a:ln>
            <a:noFill/>
          </a:ln>
        </p:spPr>
        <p:txBody>
          <a:bodyPr spcFirstLastPara="1" wrap="square" lIns="119200" tIns="89350" rIns="119200" bIns="89350" anchor="ctr" anchorCtr="0">
            <a:noAutofit/>
          </a:bodyPr>
          <a:lstStyle/>
          <a:p>
            <a:pPr marL="0" marR="0" lvl="0" indent="0" algn="l" rtl="0">
              <a:lnSpc>
                <a:spcPct val="150470"/>
              </a:lnSpc>
              <a:spcBef>
                <a:spcPts val="0"/>
              </a:spcBef>
              <a:spcAft>
                <a:spcPts val="0"/>
              </a:spcAft>
              <a:buClr>
                <a:srgbClr val="333333"/>
              </a:buClr>
              <a:buSzPts val="1118"/>
              <a:buFont typeface="Calibri"/>
              <a:buNone/>
            </a:pPr>
            <a:r>
              <a:rPr lang="en-US" sz="1117">
                <a:solidFill>
                  <a:srgbClr val="333333"/>
                </a:solidFill>
                <a:latin typeface="Calibri"/>
                <a:ea typeface="Calibri"/>
                <a:cs typeface="Calibri"/>
                <a:sym typeface="Calibri"/>
              </a:rPr>
              <a:t>Percentage of sub-keywords from the landing page successfully integrated into the ad.</a:t>
            </a:r>
            <a:endParaRPr sz="1117">
              <a:solidFill>
                <a:schemeClr val="dk1"/>
              </a:solidFill>
              <a:latin typeface="Calibri"/>
              <a:ea typeface="Calibri"/>
              <a:cs typeface="Calibri"/>
              <a:sym typeface="Calibri"/>
            </a:endParaRPr>
          </a:p>
        </p:txBody>
      </p:sp>
      <p:sp>
        <p:nvSpPr>
          <p:cNvPr id="359" name="Google Shape;359;p18"/>
          <p:cNvSpPr/>
          <p:nvPr/>
        </p:nvSpPr>
        <p:spPr>
          <a:xfrm>
            <a:off x="428625" y="4452022"/>
            <a:ext cx="2486100" cy="576000"/>
          </a:xfrm>
          <a:prstGeom prst="rect">
            <a:avLst/>
          </a:prstGeom>
          <a:noFill/>
          <a:ln>
            <a:noFill/>
          </a:ln>
        </p:spPr>
        <p:txBody>
          <a:bodyPr spcFirstLastPara="1" wrap="square" lIns="119200" tIns="89350" rIns="119200" bIns="89350" anchor="ctr" anchorCtr="0">
            <a:noAutofit/>
          </a:bodyPr>
          <a:lstStyle/>
          <a:p>
            <a:pPr marL="0" marR="0" lvl="0" indent="0" algn="l" rtl="0">
              <a:lnSpc>
                <a:spcPct val="160106"/>
              </a:lnSpc>
              <a:spcBef>
                <a:spcPts val="0"/>
              </a:spcBef>
              <a:spcAft>
                <a:spcPts val="0"/>
              </a:spcAft>
              <a:buClr>
                <a:srgbClr val="0047AB"/>
              </a:buClr>
              <a:buSzPts val="1051"/>
              <a:buFont typeface="Calibri"/>
              <a:buNone/>
            </a:pPr>
            <a:r>
              <a:rPr lang="en-US" sz="1050" b="1">
                <a:solidFill>
                  <a:srgbClr val="0047AB"/>
                </a:solidFill>
                <a:latin typeface="Calibri"/>
                <a:ea typeface="Calibri"/>
                <a:cs typeface="Calibri"/>
                <a:sym typeface="Calibri"/>
              </a:rPr>
              <a:t>Keyword Inclusion</a:t>
            </a:r>
            <a:endParaRPr sz="1050">
              <a:solidFill>
                <a:schemeClr val="dk1"/>
              </a:solidFill>
              <a:latin typeface="Calibri"/>
              <a:ea typeface="Calibri"/>
              <a:cs typeface="Calibri"/>
              <a:sym typeface="Calibri"/>
            </a:endParaRPr>
          </a:p>
        </p:txBody>
      </p:sp>
      <p:sp>
        <p:nvSpPr>
          <p:cNvPr id="360" name="Google Shape;360;p18"/>
          <p:cNvSpPr/>
          <p:nvPr/>
        </p:nvSpPr>
        <p:spPr>
          <a:xfrm>
            <a:off x="2914575" y="4452022"/>
            <a:ext cx="5800800" cy="576000"/>
          </a:xfrm>
          <a:prstGeom prst="rect">
            <a:avLst/>
          </a:prstGeom>
          <a:noFill/>
          <a:ln>
            <a:noFill/>
          </a:ln>
        </p:spPr>
        <p:txBody>
          <a:bodyPr spcFirstLastPara="1" wrap="square" lIns="119200" tIns="89350" rIns="119200" bIns="89350" anchor="ctr" anchorCtr="0">
            <a:noAutofit/>
          </a:bodyPr>
          <a:lstStyle/>
          <a:p>
            <a:pPr marL="0" marR="0" lvl="0" indent="0" algn="l" rtl="0">
              <a:lnSpc>
                <a:spcPct val="150470"/>
              </a:lnSpc>
              <a:spcBef>
                <a:spcPts val="0"/>
              </a:spcBef>
              <a:spcAft>
                <a:spcPts val="0"/>
              </a:spcAft>
              <a:buClr>
                <a:srgbClr val="333333"/>
              </a:buClr>
              <a:buSzPts val="1118"/>
              <a:buFont typeface="Calibri"/>
              <a:buNone/>
            </a:pPr>
            <a:r>
              <a:rPr lang="en-US" sz="1117">
                <a:solidFill>
                  <a:srgbClr val="333333"/>
                </a:solidFill>
                <a:latin typeface="Calibri"/>
                <a:ea typeface="Calibri"/>
                <a:cs typeface="Calibri"/>
                <a:sym typeface="Calibri"/>
              </a:rPr>
              <a:t>Binary check for the presence of the primary focal keyword in the ad copy.</a:t>
            </a:r>
            <a:endParaRPr sz="1117">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pic>
        <p:nvPicPr>
          <p:cNvPr id="366" name="Google Shape;366;p19" descr="preencoded.png"/>
          <p:cNvPicPr preferRelativeResize="0"/>
          <p:nvPr/>
        </p:nvPicPr>
        <p:blipFill rotWithShape="1">
          <a:blip r:embed="rId3">
            <a:alphaModFix/>
          </a:blip>
          <a:srcRect/>
          <a:stretch/>
        </p:blipFill>
        <p:spPr>
          <a:xfrm>
            <a:off x="0" y="-42650"/>
            <a:ext cx="9144002" cy="5186150"/>
          </a:xfrm>
          <a:prstGeom prst="rect">
            <a:avLst/>
          </a:prstGeom>
          <a:noFill/>
          <a:ln>
            <a:noFill/>
          </a:ln>
        </p:spPr>
      </p:pic>
      <p:sp>
        <p:nvSpPr>
          <p:cNvPr id="367" name="Google Shape;367;p19"/>
          <p:cNvSpPr/>
          <p:nvPr/>
        </p:nvSpPr>
        <p:spPr>
          <a:xfrm>
            <a:off x="0" y="0"/>
            <a:ext cx="9144000" cy="1675209"/>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8" name="Google Shape;368;p19"/>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9" name="Google Shape;369;p19"/>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Navigating the Performance-Cost Trade-off</a:t>
            </a:r>
            <a:endParaRPr sz="2862">
              <a:solidFill>
                <a:schemeClr val="dk1"/>
              </a:solidFill>
              <a:latin typeface="Calibri"/>
              <a:ea typeface="Calibri"/>
              <a:cs typeface="Calibri"/>
              <a:sym typeface="Calibri"/>
            </a:endParaRPr>
          </a:p>
        </p:txBody>
      </p:sp>
      <p:sp>
        <p:nvSpPr>
          <p:cNvPr id="370" name="Google Shape;370;p19"/>
          <p:cNvSpPr/>
          <p:nvPr/>
        </p:nvSpPr>
        <p:spPr>
          <a:xfrm>
            <a:off x="428625" y="2046898"/>
            <a:ext cx="38505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The Challenge</a:t>
            </a:r>
            <a:endParaRPr sz="1499">
              <a:solidFill>
                <a:schemeClr val="dk1"/>
              </a:solidFill>
              <a:latin typeface="Calibri"/>
              <a:ea typeface="Calibri"/>
              <a:cs typeface="Calibri"/>
              <a:sym typeface="Calibri"/>
            </a:endParaRPr>
          </a:p>
        </p:txBody>
      </p:sp>
      <p:sp>
        <p:nvSpPr>
          <p:cNvPr id="371" name="Google Shape;371;p19"/>
          <p:cNvSpPr/>
          <p:nvPr/>
        </p:nvSpPr>
        <p:spPr>
          <a:xfrm>
            <a:off x="428625" y="2480881"/>
            <a:ext cx="38505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Relevance vs. Cost</a:t>
            </a:r>
            <a:endParaRPr sz="1397">
              <a:solidFill>
                <a:schemeClr val="dk1"/>
              </a:solidFill>
              <a:latin typeface="Calibri"/>
              <a:ea typeface="Calibri"/>
              <a:cs typeface="Calibri"/>
              <a:sym typeface="Calibri"/>
            </a:endParaRPr>
          </a:p>
        </p:txBody>
      </p:sp>
      <p:sp>
        <p:nvSpPr>
          <p:cNvPr id="372" name="Google Shape;372;p19"/>
          <p:cNvSpPr/>
          <p:nvPr/>
        </p:nvSpPr>
        <p:spPr>
          <a:xfrm>
            <a:off x="428625" y="2861285"/>
            <a:ext cx="3850500" cy="118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a:solidFill>
                  <a:srgbClr val="333333"/>
                </a:solidFill>
                <a:latin typeface="Calibri"/>
                <a:ea typeface="Calibri"/>
                <a:cs typeface="Calibri"/>
                <a:sym typeface="Calibri"/>
              </a:rPr>
              <a:t>Higher relevance often leads to higher ad rank, which can inadvertently increase the actual </a:t>
            </a:r>
            <a:r>
              <a:rPr lang="en-US" sz="1295" b="1">
                <a:solidFill>
                  <a:srgbClr val="0047AB"/>
                </a:solidFill>
                <a:latin typeface="Calibri"/>
                <a:ea typeface="Calibri"/>
                <a:cs typeface="Calibri"/>
                <a:sym typeface="Calibri"/>
              </a:rPr>
              <a:t>Cost-Per-Click (CPC)</a:t>
            </a:r>
            <a:r>
              <a:rPr lang="en-US" sz="1377">
                <a:solidFill>
                  <a:srgbClr val="333333"/>
                </a:solidFill>
                <a:latin typeface="Calibri"/>
                <a:ea typeface="Calibri"/>
                <a:cs typeface="Calibri"/>
                <a:sym typeface="Calibri"/>
              </a:rPr>
              <a:t> paid in the auction environment.</a:t>
            </a:r>
            <a:endParaRPr sz="1377">
              <a:solidFill>
                <a:schemeClr val="dk1"/>
              </a:solidFill>
              <a:latin typeface="Calibri"/>
              <a:ea typeface="Calibri"/>
              <a:cs typeface="Calibri"/>
              <a:sym typeface="Calibri"/>
            </a:endParaRPr>
          </a:p>
        </p:txBody>
      </p:sp>
      <p:sp>
        <p:nvSpPr>
          <p:cNvPr id="373" name="Google Shape;373;p19"/>
          <p:cNvSpPr/>
          <p:nvPr/>
        </p:nvSpPr>
        <p:spPr>
          <a:xfrm>
            <a:off x="428625" y="3954888"/>
            <a:ext cx="3850500" cy="118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dirty="0">
                <a:solidFill>
                  <a:srgbClr val="333333"/>
                </a:solidFill>
                <a:latin typeface="Calibri"/>
                <a:ea typeface="Calibri"/>
                <a:cs typeface="Calibri"/>
                <a:sym typeface="Calibri"/>
              </a:rPr>
              <a:t>Improving "Quality Score" is essential for visibility, but managers must prevent performance gains from exceeding budget limits.</a:t>
            </a:r>
            <a:endParaRPr sz="1377" dirty="0">
              <a:solidFill>
                <a:schemeClr val="dk1"/>
              </a:solidFill>
              <a:latin typeface="Calibri"/>
              <a:ea typeface="Calibri"/>
              <a:cs typeface="Calibri"/>
              <a:sym typeface="Calibri"/>
            </a:endParaRPr>
          </a:p>
        </p:txBody>
      </p:sp>
      <p:sp>
        <p:nvSpPr>
          <p:cNvPr id="374" name="Google Shape;374;p19"/>
          <p:cNvSpPr/>
          <p:nvPr/>
        </p:nvSpPr>
        <p:spPr>
          <a:xfrm>
            <a:off x="4572000" y="1675200"/>
            <a:ext cx="4572000" cy="34683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5" name="Google Shape;375;p19"/>
          <p:cNvSpPr/>
          <p:nvPr/>
        </p:nvSpPr>
        <p:spPr>
          <a:xfrm>
            <a:off x="4857750" y="2046898"/>
            <a:ext cx="38577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The Solution</a:t>
            </a:r>
            <a:endParaRPr sz="1499">
              <a:solidFill>
                <a:schemeClr val="dk1"/>
              </a:solidFill>
              <a:latin typeface="Calibri"/>
              <a:ea typeface="Calibri"/>
              <a:cs typeface="Calibri"/>
              <a:sym typeface="Calibri"/>
            </a:endParaRPr>
          </a:p>
        </p:txBody>
      </p:sp>
      <p:sp>
        <p:nvSpPr>
          <p:cNvPr id="376" name="Google Shape;376;p19"/>
          <p:cNvSpPr/>
          <p:nvPr/>
        </p:nvSpPr>
        <p:spPr>
          <a:xfrm>
            <a:off x="4857750" y="2480881"/>
            <a:ext cx="38577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CPC Prediction Module</a:t>
            </a:r>
            <a:endParaRPr sz="1397">
              <a:solidFill>
                <a:schemeClr val="dk1"/>
              </a:solidFill>
              <a:latin typeface="Calibri"/>
              <a:ea typeface="Calibri"/>
              <a:cs typeface="Calibri"/>
              <a:sym typeface="Calibri"/>
            </a:endParaRPr>
          </a:p>
        </p:txBody>
      </p:sp>
      <p:sp>
        <p:nvSpPr>
          <p:cNvPr id="377" name="Google Shape;377;p19"/>
          <p:cNvSpPr/>
          <p:nvPr/>
        </p:nvSpPr>
        <p:spPr>
          <a:xfrm>
            <a:off x="4857750" y="2861285"/>
            <a:ext cx="3857700" cy="118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a:solidFill>
                  <a:srgbClr val="333333"/>
                </a:solidFill>
                <a:latin typeface="Calibri"/>
                <a:ea typeface="Calibri"/>
                <a:cs typeface="Calibri"/>
                <a:sym typeface="Calibri"/>
              </a:rPr>
              <a:t>A Random Forest model trained on historical campaign data to estimate the likely cost of generated ads before deployment.</a:t>
            </a:r>
            <a:endParaRPr sz="1377">
              <a:solidFill>
                <a:schemeClr val="dk1"/>
              </a:solidFill>
              <a:latin typeface="Calibri"/>
              <a:ea typeface="Calibri"/>
              <a:cs typeface="Calibri"/>
              <a:sym typeface="Calibri"/>
            </a:endParaRPr>
          </a:p>
        </p:txBody>
      </p:sp>
      <p:sp>
        <p:nvSpPr>
          <p:cNvPr id="378" name="Google Shape;378;p19"/>
          <p:cNvSpPr/>
          <p:nvPr/>
        </p:nvSpPr>
        <p:spPr>
          <a:xfrm>
            <a:off x="4857750" y="3852338"/>
            <a:ext cx="38577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Budget Discipline</a:t>
            </a:r>
            <a:endParaRPr sz="1397">
              <a:solidFill>
                <a:schemeClr val="dk1"/>
              </a:solidFill>
              <a:latin typeface="Calibri"/>
              <a:ea typeface="Calibri"/>
              <a:cs typeface="Calibri"/>
              <a:sym typeface="Calibri"/>
            </a:endParaRPr>
          </a:p>
        </p:txBody>
      </p:sp>
      <p:sp>
        <p:nvSpPr>
          <p:cNvPr id="379" name="Google Shape;379;p19"/>
          <p:cNvSpPr/>
          <p:nvPr/>
        </p:nvSpPr>
        <p:spPr>
          <a:xfrm>
            <a:off x="4857750" y="4156968"/>
            <a:ext cx="3857700" cy="89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dirty="0">
                <a:solidFill>
                  <a:srgbClr val="333333"/>
                </a:solidFill>
                <a:latin typeface="Calibri"/>
                <a:ea typeface="Calibri"/>
                <a:cs typeface="Calibri"/>
                <a:sym typeface="Calibri"/>
              </a:rPr>
              <a:t>Enables the selection of the best-performing ad candidates that remain below a predefined </a:t>
            </a:r>
            <a:r>
              <a:rPr lang="en-US" sz="1295" b="1" dirty="0">
                <a:solidFill>
                  <a:srgbClr val="0047AB"/>
                </a:solidFill>
                <a:latin typeface="Calibri"/>
                <a:ea typeface="Calibri"/>
                <a:cs typeface="Calibri"/>
                <a:sym typeface="Calibri"/>
              </a:rPr>
              <a:t>cost threshold</a:t>
            </a:r>
            <a:r>
              <a:rPr lang="en-US" sz="1377" dirty="0">
                <a:solidFill>
                  <a:srgbClr val="333333"/>
                </a:solidFill>
                <a:latin typeface="Calibri"/>
                <a:ea typeface="Calibri"/>
                <a:cs typeface="Calibri"/>
                <a:sym typeface="Calibri"/>
              </a:rPr>
              <a:t>.</a:t>
            </a:r>
            <a:endParaRPr sz="1377" dirty="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20"/>
          <p:cNvSpPr/>
          <p:nvPr/>
        </p:nvSpPr>
        <p:spPr>
          <a:xfrm>
            <a:off x="0" y="0"/>
            <a:ext cx="9144000" cy="1675209"/>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6" name="Google Shape;386;p20"/>
          <p:cNvSpPr/>
          <p:nvPr/>
        </p:nvSpPr>
        <p:spPr>
          <a:xfrm>
            <a:off x="0" y="1660922"/>
            <a:ext cx="9144000" cy="14288"/>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20"/>
          <p:cNvSpPr/>
          <p:nvPr/>
        </p:nvSpPr>
        <p:spPr>
          <a:xfrm>
            <a:off x="428625" y="428625"/>
            <a:ext cx="8715375" cy="1089422"/>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Empirical Validation of the Content Score</a:t>
            </a:r>
            <a:endParaRPr sz="2862">
              <a:solidFill>
                <a:schemeClr val="dk1"/>
              </a:solidFill>
              <a:latin typeface="Calibri"/>
              <a:ea typeface="Calibri"/>
              <a:cs typeface="Calibri"/>
              <a:sym typeface="Calibri"/>
            </a:endParaRPr>
          </a:p>
        </p:txBody>
      </p:sp>
      <p:sp>
        <p:nvSpPr>
          <p:cNvPr id="388" name="Google Shape;388;p20"/>
          <p:cNvSpPr/>
          <p:nvPr/>
        </p:nvSpPr>
        <p:spPr>
          <a:xfrm>
            <a:off x="428625" y="1946672"/>
            <a:ext cx="3571875" cy="291108"/>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Large-Scale Validation</a:t>
            </a:r>
            <a:endParaRPr sz="1499">
              <a:solidFill>
                <a:schemeClr val="dk1"/>
              </a:solidFill>
              <a:latin typeface="Calibri"/>
              <a:ea typeface="Calibri"/>
              <a:cs typeface="Calibri"/>
              <a:sym typeface="Calibri"/>
            </a:endParaRPr>
          </a:p>
        </p:txBody>
      </p:sp>
      <p:sp>
        <p:nvSpPr>
          <p:cNvPr id="389" name="Google Shape;389;p20"/>
          <p:cNvSpPr/>
          <p:nvPr/>
        </p:nvSpPr>
        <p:spPr>
          <a:xfrm>
            <a:off x="428625" y="2380655"/>
            <a:ext cx="3571875" cy="1005818"/>
          </a:xfrm>
          <a:prstGeom prst="rect">
            <a:avLst/>
          </a:prstGeom>
          <a:noFill/>
          <a:ln>
            <a:noFill/>
          </a:ln>
        </p:spPr>
        <p:txBody>
          <a:bodyPr spcFirstLastPara="1" wrap="square" lIns="0" tIns="0" rIns="0" bIns="0" anchor="t" anchorCtr="0">
            <a:noAutofit/>
          </a:bodyPr>
          <a:lstStyle/>
          <a:p>
            <a:pPr marL="0" marR="0" lvl="0" indent="0" algn="l" rtl="0">
              <a:lnSpc>
                <a:spcPct val="172562"/>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The CS_ad metric was validated using a massive dataset of approximately 146,000 ads across 2,720 keywords to ensure its robustness as a predictor of real-world outcomes.</a:t>
            </a:r>
            <a:endParaRPr sz="1159">
              <a:solidFill>
                <a:schemeClr val="dk1"/>
              </a:solidFill>
              <a:latin typeface="Calibri"/>
              <a:ea typeface="Calibri"/>
              <a:cs typeface="Calibri"/>
              <a:sym typeface="Calibri"/>
            </a:endParaRPr>
          </a:p>
        </p:txBody>
      </p:sp>
      <p:sp>
        <p:nvSpPr>
          <p:cNvPr id="390" name="Google Shape;390;p20"/>
          <p:cNvSpPr/>
          <p:nvPr/>
        </p:nvSpPr>
        <p:spPr>
          <a:xfrm>
            <a:off x="428625" y="3843672"/>
            <a:ext cx="3571875" cy="582216"/>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R² ≈ 0.70</a:t>
            </a:r>
            <a:endParaRPr sz="2862">
              <a:solidFill>
                <a:schemeClr val="dk1"/>
              </a:solidFill>
              <a:latin typeface="Calibri"/>
              <a:ea typeface="Calibri"/>
              <a:cs typeface="Calibri"/>
              <a:sym typeface="Calibri"/>
            </a:endParaRPr>
          </a:p>
        </p:txBody>
      </p:sp>
      <p:sp>
        <p:nvSpPr>
          <p:cNvPr id="391" name="Google Shape;391;p20"/>
          <p:cNvSpPr/>
          <p:nvPr/>
        </p:nvSpPr>
        <p:spPr>
          <a:xfrm>
            <a:off x="428625" y="4425888"/>
            <a:ext cx="3571875" cy="582216"/>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333333"/>
              </a:buClr>
              <a:buSzPts val="1499"/>
              <a:buFont typeface="Calibri"/>
              <a:buNone/>
            </a:pPr>
            <a:r>
              <a:rPr lang="en-US" sz="1499" b="1">
                <a:solidFill>
                  <a:srgbClr val="333333"/>
                </a:solidFill>
                <a:latin typeface="Calibri"/>
                <a:ea typeface="Calibri"/>
                <a:cs typeface="Calibri"/>
                <a:sym typeface="Calibri"/>
              </a:rPr>
              <a:t>Ad Position Prediction Accuracy</a:t>
            </a:r>
            <a:endParaRPr sz="1499">
              <a:solidFill>
                <a:schemeClr val="dk1"/>
              </a:solidFill>
              <a:latin typeface="Calibri"/>
              <a:ea typeface="Calibri"/>
              <a:cs typeface="Calibri"/>
              <a:sym typeface="Calibri"/>
            </a:endParaRPr>
          </a:p>
        </p:txBody>
      </p:sp>
      <p:sp>
        <p:nvSpPr>
          <p:cNvPr id="392" name="Google Shape;392;p20"/>
          <p:cNvSpPr/>
          <p:nvPr/>
        </p:nvSpPr>
        <p:spPr>
          <a:xfrm>
            <a:off x="4827200" y="1946675"/>
            <a:ext cx="1604400" cy="564000"/>
          </a:xfrm>
          <a:prstGeom prst="rect">
            <a:avLst/>
          </a:prstGeom>
          <a:solidFill>
            <a:srgbClr val="000000"/>
          </a:solidFill>
          <a:ln>
            <a:noFill/>
          </a:ln>
        </p:spPr>
        <p:txBody>
          <a:bodyPr spcFirstLastPara="1" wrap="square" lIns="64725" tIns="32350" rIns="64725" bIns="32350" anchor="t" anchorCtr="0">
            <a:noAutofit/>
          </a:bodyPr>
          <a:lstStyle/>
          <a:p>
            <a:pPr marL="0" marR="0" lvl="0" indent="0" algn="l" rtl="0">
              <a:spcBef>
                <a:spcPts val="0"/>
              </a:spcBef>
              <a:spcAft>
                <a:spcPts val="0"/>
              </a:spcAft>
              <a:buNone/>
            </a:pPr>
            <a:endParaRPr sz="1274">
              <a:solidFill>
                <a:schemeClr val="dk1"/>
              </a:solidFill>
              <a:latin typeface="Calibri"/>
              <a:ea typeface="Calibri"/>
              <a:cs typeface="Calibri"/>
              <a:sym typeface="Calibri"/>
            </a:endParaRPr>
          </a:p>
        </p:txBody>
      </p:sp>
      <p:sp>
        <p:nvSpPr>
          <p:cNvPr id="393" name="Google Shape;393;p20"/>
          <p:cNvSpPr/>
          <p:nvPr/>
        </p:nvSpPr>
        <p:spPr>
          <a:xfrm>
            <a:off x="4827200" y="1946675"/>
            <a:ext cx="1604400" cy="564000"/>
          </a:xfrm>
          <a:prstGeom prst="rect">
            <a:avLst/>
          </a:prstGeom>
          <a:noFill/>
          <a:ln>
            <a:noFill/>
          </a:ln>
        </p:spPr>
        <p:txBody>
          <a:bodyPr spcFirstLastPara="1" wrap="square" lIns="90275" tIns="90275" rIns="90275" bIns="90275" anchor="ctr" anchorCtr="0">
            <a:noAutofit/>
          </a:bodyPr>
          <a:lstStyle/>
          <a:p>
            <a:pPr marL="0" marR="0" lvl="0" indent="0" algn="l" rtl="0">
              <a:lnSpc>
                <a:spcPct val="133422"/>
              </a:lnSpc>
              <a:spcBef>
                <a:spcPts val="0"/>
              </a:spcBef>
              <a:spcAft>
                <a:spcPts val="0"/>
              </a:spcAft>
              <a:buClr>
                <a:srgbClr val="FFFFFF"/>
              </a:buClr>
              <a:buSzPts val="1061"/>
              <a:buFont typeface="Calibri"/>
              <a:buNone/>
            </a:pPr>
            <a:r>
              <a:rPr lang="en-US" sz="1061" b="1">
                <a:solidFill>
                  <a:srgbClr val="FFFFFF"/>
                </a:solidFill>
                <a:latin typeface="Calibri"/>
                <a:ea typeface="Calibri"/>
                <a:cs typeface="Calibri"/>
                <a:sym typeface="Calibri"/>
              </a:rPr>
              <a:t>Metric</a:t>
            </a:r>
            <a:endParaRPr sz="1061">
              <a:solidFill>
                <a:schemeClr val="dk1"/>
              </a:solidFill>
              <a:latin typeface="Calibri"/>
              <a:ea typeface="Calibri"/>
              <a:cs typeface="Calibri"/>
              <a:sym typeface="Calibri"/>
            </a:endParaRPr>
          </a:p>
        </p:txBody>
      </p:sp>
      <p:sp>
        <p:nvSpPr>
          <p:cNvPr id="394" name="Google Shape;394;p20"/>
          <p:cNvSpPr/>
          <p:nvPr/>
        </p:nvSpPr>
        <p:spPr>
          <a:xfrm>
            <a:off x="6431586" y="1946675"/>
            <a:ext cx="2453700" cy="564000"/>
          </a:xfrm>
          <a:prstGeom prst="rect">
            <a:avLst/>
          </a:prstGeom>
          <a:solidFill>
            <a:srgbClr val="000000"/>
          </a:solidFill>
          <a:ln>
            <a:noFill/>
          </a:ln>
        </p:spPr>
        <p:txBody>
          <a:bodyPr spcFirstLastPara="1" wrap="square" lIns="64725" tIns="32350" rIns="64725" bIns="32350" anchor="t" anchorCtr="0">
            <a:noAutofit/>
          </a:bodyPr>
          <a:lstStyle/>
          <a:p>
            <a:pPr marL="0" marR="0" lvl="0" indent="0" algn="l" rtl="0">
              <a:spcBef>
                <a:spcPts val="0"/>
              </a:spcBef>
              <a:spcAft>
                <a:spcPts val="0"/>
              </a:spcAft>
              <a:buNone/>
            </a:pPr>
            <a:endParaRPr sz="1274">
              <a:solidFill>
                <a:schemeClr val="dk1"/>
              </a:solidFill>
              <a:latin typeface="Calibri"/>
              <a:ea typeface="Calibri"/>
              <a:cs typeface="Calibri"/>
              <a:sym typeface="Calibri"/>
            </a:endParaRPr>
          </a:p>
        </p:txBody>
      </p:sp>
      <p:sp>
        <p:nvSpPr>
          <p:cNvPr id="395" name="Google Shape;395;p20"/>
          <p:cNvSpPr/>
          <p:nvPr/>
        </p:nvSpPr>
        <p:spPr>
          <a:xfrm>
            <a:off x="6431586" y="1946675"/>
            <a:ext cx="2453700" cy="564000"/>
          </a:xfrm>
          <a:prstGeom prst="rect">
            <a:avLst/>
          </a:prstGeom>
          <a:noFill/>
          <a:ln>
            <a:noFill/>
          </a:ln>
        </p:spPr>
        <p:txBody>
          <a:bodyPr spcFirstLastPara="1" wrap="square" lIns="90275" tIns="90275" rIns="90275" bIns="90275" anchor="ctr" anchorCtr="0">
            <a:noAutofit/>
          </a:bodyPr>
          <a:lstStyle/>
          <a:p>
            <a:pPr marL="0" marR="0" lvl="0" indent="0" algn="l" rtl="0">
              <a:lnSpc>
                <a:spcPct val="133422"/>
              </a:lnSpc>
              <a:spcBef>
                <a:spcPts val="0"/>
              </a:spcBef>
              <a:spcAft>
                <a:spcPts val="0"/>
              </a:spcAft>
              <a:buClr>
                <a:srgbClr val="FFFFFF"/>
              </a:buClr>
              <a:buSzPts val="1061"/>
              <a:buFont typeface="Calibri"/>
              <a:buNone/>
            </a:pPr>
            <a:r>
              <a:rPr lang="en-US" sz="1061" b="1">
                <a:solidFill>
                  <a:srgbClr val="FFFFFF"/>
                </a:solidFill>
                <a:latin typeface="Calibri"/>
                <a:ea typeface="Calibri"/>
                <a:cs typeface="Calibri"/>
                <a:sym typeface="Calibri"/>
              </a:rPr>
              <a:t>Performance Result</a:t>
            </a:r>
            <a:endParaRPr sz="1061">
              <a:solidFill>
                <a:schemeClr val="dk1"/>
              </a:solidFill>
              <a:latin typeface="Calibri"/>
              <a:ea typeface="Calibri"/>
              <a:cs typeface="Calibri"/>
              <a:sym typeface="Calibri"/>
            </a:endParaRPr>
          </a:p>
        </p:txBody>
      </p:sp>
      <p:sp>
        <p:nvSpPr>
          <p:cNvPr id="396" name="Google Shape;396;p20"/>
          <p:cNvSpPr/>
          <p:nvPr/>
        </p:nvSpPr>
        <p:spPr>
          <a:xfrm>
            <a:off x="4928651" y="2594033"/>
            <a:ext cx="1145700" cy="4122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333333"/>
              </a:buClr>
              <a:buSzPts val="1061"/>
              <a:buFont typeface="Calibri"/>
              <a:buNone/>
            </a:pPr>
            <a:r>
              <a:rPr lang="en-US" sz="1061" b="1">
                <a:solidFill>
                  <a:srgbClr val="333333"/>
                </a:solidFill>
                <a:latin typeface="Calibri"/>
                <a:ea typeface="Calibri"/>
                <a:cs typeface="Calibri"/>
                <a:sym typeface="Calibri"/>
              </a:rPr>
              <a:t>Ad Position Prediction</a:t>
            </a:r>
            <a:endParaRPr sz="1061">
              <a:solidFill>
                <a:schemeClr val="dk1"/>
              </a:solidFill>
              <a:latin typeface="Calibri"/>
              <a:ea typeface="Calibri"/>
              <a:cs typeface="Calibri"/>
              <a:sym typeface="Calibri"/>
            </a:endParaRPr>
          </a:p>
        </p:txBody>
      </p:sp>
      <p:sp>
        <p:nvSpPr>
          <p:cNvPr id="397" name="Google Shape;397;p20"/>
          <p:cNvSpPr/>
          <p:nvPr/>
        </p:nvSpPr>
        <p:spPr>
          <a:xfrm>
            <a:off x="6431586" y="2510584"/>
            <a:ext cx="2453700" cy="581700"/>
          </a:xfrm>
          <a:prstGeom prst="rect">
            <a:avLst/>
          </a:prstGeom>
          <a:noFill/>
          <a:ln>
            <a:noFill/>
          </a:ln>
        </p:spPr>
        <p:txBody>
          <a:bodyPr spcFirstLastPara="1" wrap="square" lIns="90275" tIns="90275" rIns="90275" bIns="90275" anchor="ctr" anchorCtr="0">
            <a:noAutofit/>
          </a:bodyPr>
          <a:lstStyle/>
          <a:p>
            <a:pPr marL="0" marR="0" lvl="0" indent="0" algn="l" rtl="0">
              <a:lnSpc>
                <a:spcPct val="125391"/>
              </a:lnSpc>
              <a:spcBef>
                <a:spcPts val="0"/>
              </a:spcBef>
              <a:spcAft>
                <a:spcPts val="0"/>
              </a:spcAft>
              <a:buClr>
                <a:srgbClr val="333333"/>
              </a:buClr>
              <a:buSzPts val="1129"/>
              <a:buFont typeface="Calibri"/>
              <a:buNone/>
            </a:pPr>
            <a:r>
              <a:rPr lang="en-US" sz="1129">
                <a:solidFill>
                  <a:srgbClr val="333333"/>
                </a:solidFill>
                <a:latin typeface="Calibri"/>
                <a:ea typeface="Calibri"/>
                <a:cs typeface="Calibri"/>
                <a:sym typeface="Calibri"/>
              </a:rPr>
              <a:t>R² ≈ 0.70 (RMSE ≈ 0.96)</a:t>
            </a:r>
            <a:endParaRPr sz="1129">
              <a:solidFill>
                <a:schemeClr val="dk1"/>
              </a:solidFill>
              <a:latin typeface="Calibri"/>
              <a:ea typeface="Calibri"/>
              <a:cs typeface="Calibri"/>
              <a:sym typeface="Calibri"/>
            </a:endParaRPr>
          </a:p>
        </p:txBody>
      </p:sp>
      <p:sp>
        <p:nvSpPr>
          <p:cNvPr id="398" name="Google Shape;398;p20"/>
          <p:cNvSpPr/>
          <p:nvPr/>
        </p:nvSpPr>
        <p:spPr>
          <a:xfrm>
            <a:off x="4928651" y="3170585"/>
            <a:ext cx="1038600" cy="6183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333333"/>
              </a:buClr>
              <a:buSzPts val="1061"/>
              <a:buFont typeface="Calibri"/>
              <a:buNone/>
            </a:pPr>
            <a:r>
              <a:rPr lang="en-US" sz="1061" b="1">
                <a:solidFill>
                  <a:srgbClr val="333333"/>
                </a:solidFill>
                <a:latin typeface="Calibri"/>
                <a:ea typeface="Calibri"/>
                <a:cs typeface="Calibri"/>
                <a:sym typeface="Calibri"/>
              </a:rPr>
              <a:t>CPC Prediction Accuracy</a:t>
            </a:r>
            <a:endParaRPr sz="1061">
              <a:solidFill>
                <a:schemeClr val="dk1"/>
              </a:solidFill>
              <a:latin typeface="Calibri"/>
              <a:ea typeface="Calibri"/>
              <a:cs typeface="Calibri"/>
              <a:sym typeface="Calibri"/>
            </a:endParaRPr>
          </a:p>
        </p:txBody>
      </p:sp>
      <p:sp>
        <p:nvSpPr>
          <p:cNvPr id="399" name="Google Shape;399;p20"/>
          <p:cNvSpPr/>
          <p:nvPr/>
        </p:nvSpPr>
        <p:spPr>
          <a:xfrm>
            <a:off x="6431586" y="3092194"/>
            <a:ext cx="2453700" cy="775200"/>
          </a:xfrm>
          <a:prstGeom prst="rect">
            <a:avLst/>
          </a:prstGeom>
          <a:noFill/>
          <a:ln>
            <a:noFill/>
          </a:ln>
        </p:spPr>
        <p:txBody>
          <a:bodyPr spcFirstLastPara="1" wrap="square" lIns="90275" tIns="90275" rIns="90275" bIns="90275" anchor="ctr" anchorCtr="0">
            <a:noAutofit/>
          </a:bodyPr>
          <a:lstStyle/>
          <a:p>
            <a:pPr marL="0" marR="0" lvl="0" indent="0" algn="l" rtl="0">
              <a:lnSpc>
                <a:spcPct val="125391"/>
              </a:lnSpc>
              <a:spcBef>
                <a:spcPts val="0"/>
              </a:spcBef>
              <a:spcAft>
                <a:spcPts val="0"/>
              </a:spcAft>
              <a:buClr>
                <a:srgbClr val="333333"/>
              </a:buClr>
              <a:buSzPts val="1129"/>
              <a:buFont typeface="Calibri"/>
              <a:buNone/>
            </a:pPr>
            <a:r>
              <a:rPr lang="en-US" sz="1129">
                <a:solidFill>
                  <a:srgbClr val="333333"/>
                </a:solidFill>
                <a:latin typeface="Calibri"/>
                <a:ea typeface="Calibri"/>
                <a:cs typeface="Calibri"/>
                <a:sym typeface="Calibri"/>
              </a:rPr>
              <a:t>R² ≈ 0.85 (RMSE ≈ €0.35)</a:t>
            </a:r>
            <a:endParaRPr sz="1129">
              <a:solidFill>
                <a:schemeClr val="dk1"/>
              </a:solidFill>
              <a:latin typeface="Calibri"/>
              <a:ea typeface="Calibri"/>
              <a:cs typeface="Calibri"/>
              <a:sym typeface="Calibri"/>
            </a:endParaRPr>
          </a:p>
        </p:txBody>
      </p:sp>
      <p:sp>
        <p:nvSpPr>
          <p:cNvPr id="400" name="Google Shape;400;p20"/>
          <p:cNvSpPr/>
          <p:nvPr/>
        </p:nvSpPr>
        <p:spPr>
          <a:xfrm>
            <a:off x="4928651" y="4048691"/>
            <a:ext cx="1148100" cy="4122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333333"/>
              </a:buClr>
              <a:buSzPts val="1061"/>
              <a:buFont typeface="Calibri"/>
              <a:buNone/>
            </a:pPr>
            <a:r>
              <a:rPr lang="en-US" sz="1061" b="1">
                <a:solidFill>
                  <a:srgbClr val="333333"/>
                </a:solidFill>
                <a:latin typeface="Calibri"/>
                <a:ea typeface="Calibri"/>
                <a:cs typeface="Calibri"/>
                <a:sym typeface="Calibri"/>
              </a:rPr>
              <a:t>Platform Correlation</a:t>
            </a:r>
            <a:endParaRPr sz="1061">
              <a:solidFill>
                <a:schemeClr val="dk1"/>
              </a:solidFill>
              <a:latin typeface="Calibri"/>
              <a:ea typeface="Calibri"/>
              <a:cs typeface="Calibri"/>
              <a:sym typeface="Calibri"/>
            </a:endParaRPr>
          </a:p>
        </p:txBody>
      </p:sp>
      <p:sp>
        <p:nvSpPr>
          <p:cNvPr id="401" name="Google Shape;401;p20"/>
          <p:cNvSpPr/>
          <p:nvPr/>
        </p:nvSpPr>
        <p:spPr>
          <a:xfrm>
            <a:off x="6431586" y="3867254"/>
            <a:ext cx="2453700" cy="775200"/>
          </a:xfrm>
          <a:prstGeom prst="rect">
            <a:avLst/>
          </a:prstGeom>
          <a:noFill/>
          <a:ln>
            <a:noFill/>
          </a:ln>
        </p:spPr>
        <p:txBody>
          <a:bodyPr spcFirstLastPara="1" wrap="square" lIns="90275" tIns="90275" rIns="90275" bIns="90275" anchor="ctr" anchorCtr="0">
            <a:noAutofit/>
          </a:bodyPr>
          <a:lstStyle/>
          <a:p>
            <a:pPr marL="0" marR="0" lvl="0" indent="0" algn="l" rtl="0">
              <a:lnSpc>
                <a:spcPct val="125391"/>
              </a:lnSpc>
              <a:spcBef>
                <a:spcPts val="0"/>
              </a:spcBef>
              <a:spcAft>
                <a:spcPts val="0"/>
              </a:spcAft>
              <a:buClr>
                <a:srgbClr val="333333"/>
              </a:buClr>
              <a:buSzPts val="1129"/>
              <a:buFont typeface="Calibri"/>
              <a:buNone/>
            </a:pPr>
            <a:r>
              <a:rPr lang="en-US" sz="1129">
                <a:solidFill>
                  <a:srgbClr val="333333"/>
                </a:solidFill>
                <a:latin typeface="Calibri"/>
                <a:ea typeface="Calibri"/>
                <a:cs typeface="Calibri"/>
                <a:sym typeface="Calibri"/>
              </a:rPr>
              <a:t>Strong positive correlation with Google's Quality Score</a:t>
            </a:r>
            <a:endParaRPr sz="1129">
              <a:solidFill>
                <a:schemeClr val="dk1"/>
              </a:solidFill>
              <a:latin typeface="Calibri"/>
              <a:ea typeface="Calibri"/>
              <a:cs typeface="Calibri"/>
              <a:sym typeface="Calibri"/>
            </a:endParaRPr>
          </a:p>
        </p:txBody>
      </p:sp>
      <p:sp>
        <p:nvSpPr>
          <p:cNvPr id="402" name="Google Shape;402;p20"/>
          <p:cNvSpPr/>
          <p:nvPr/>
        </p:nvSpPr>
        <p:spPr>
          <a:xfrm>
            <a:off x="4827200" y="4872038"/>
            <a:ext cx="4286400" cy="271500"/>
          </a:xfrm>
          <a:prstGeom prst="rect">
            <a:avLst/>
          </a:prstGeom>
          <a:noFill/>
          <a:ln>
            <a:noFill/>
          </a:ln>
        </p:spPr>
        <p:txBody>
          <a:bodyPr spcFirstLastPara="1" wrap="square" lIns="0" tIns="0" rIns="0" bIns="0" anchor="t" anchorCtr="0">
            <a:noAutofit/>
          </a:bodyPr>
          <a:lstStyle/>
          <a:p>
            <a:pPr marL="0" marR="0" lvl="0" indent="0" algn="l" rtl="0">
              <a:lnSpc>
                <a:spcPct val="123796"/>
              </a:lnSpc>
              <a:spcBef>
                <a:spcPts val="0"/>
              </a:spcBef>
              <a:spcAft>
                <a:spcPts val="0"/>
              </a:spcAft>
              <a:buClr>
                <a:srgbClr val="666666"/>
              </a:buClr>
              <a:buSzPts val="727"/>
              <a:buFont typeface="Calibri"/>
              <a:buNone/>
            </a:pPr>
            <a:r>
              <a:rPr lang="en-US" sz="727" i="1">
                <a:solidFill>
                  <a:srgbClr val="666666"/>
                </a:solidFill>
                <a:latin typeface="Calibri"/>
                <a:ea typeface="Calibri"/>
                <a:cs typeface="Calibri"/>
                <a:sym typeface="Calibri"/>
              </a:rPr>
              <a:t>Source: Reisenbichler, Reutterer &amp; Schweidel (2025), Marketing Science. Validation based on 145,939 scraped ads.</a:t>
            </a:r>
            <a:endParaRPr sz="727">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pic>
        <p:nvPicPr>
          <p:cNvPr id="408" name="Google Shape;408;p21" descr="preencoded.png"/>
          <p:cNvPicPr preferRelativeResize="0"/>
          <p:nvPr/>
        </p:nvPicPr>
        <p:blipFill rotWithShape="1">
          <a:blip r:embed="rId3">
            <a:alphaModFix/>
          </a:blip>
          <a:srcRect/>
          <a:stretch/>
        </p:blipFill>
        <p:spPr>
          <a:xfrm>
            <a:off x="0" y="0"/>
            <a:ext cx="9144002" cy="5143501"/>
          </a:xfrm>
          <a:prstGeom prst="rect">
            <a:avLst/>
          </a:prstGeom>
          <a:noFill/>
          <a:ln>
            <a:noFill/>
          </a:ln>
        </p:spPr>
      </p:pic>
      <p:sp>
        <p:nvSpPr>
          <p:cNvPr id="409" name="Google Shape;409;p21"/>
          <p:cNvSpPr/>
          <p:nvPr/>
        </p:nvSpPr>
        <p:spPr>
          <a:xfrm>
            <a:off x="0" y="0"/>
            <a:ext cx="9144000" cy="11304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0" name="Google Shape;410;p21"/>
          <p:cNvSpPr/>
          <p:nvPr/>
        </p:nvSpPr>
        <p:spPr>
          <a:xfrm>
            <a:off x="0" y="1116211"/>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1" name="Google Shape;411;p21"/>
          <p:cNvSpPr/>
          <p:nvPr/>
        </p:nvSpPr>
        <p:spPr>
          <a:xfrm>
            <a:off x="428625" y="428625"/>
            <a:ext cx="8715300" cy="5448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Overview of the Empirical Strategy</a:t>
            </a:r>
            <a:endParaRPr sz="2862">
              <a:solidFill>
                <a:schemeClr val="dk1"/>
              </a:solidFill>
              <a:latin typeface="Calibri"/>
              <a:ea typeface="Calibri"/>
              <a:cs typeface="Calibri"/>
              <a:sym typeface="Calibri"/>
            </a:endParaRPr>
          </a:p>
        </p:txBody>
      </p:sp>
      <p:sp>
        <p:nvSpPr>
          <p:cNvPr id="412" name="Google Shape;412;p21"/>
          <p:cNvSpPr/>
          <p:nvPr/>
        </p:nvSpPr>
        <p:spPr>
          <a:xfrm>
            <a:off x="428625" y="1744861"/>
            <a:ext cx="715800" cy="147600"/>
          </a:xfrm>
          <a:prstGeom prst="rect">
            <a:avLst/>
          </a:prstGeom>
          <a:noFill/>
          <a:ln>
            <a:noFill/>
          </a:ln>
        </p:spPr>
        <p:txBody>
          <a:bodyPr spcFirstLastPara="1" wrap="square" lIns="0" tIns="0" rIns="0" bIns="0" anchor="t" anchorCtr="0">
            <a:noAutofit/>
          </a:bodyPr>
          <a:lstStyle/>
          <a:p>
            <a:pPr marL="0" marR="0" lvl="0" indent="0" algn="l" rtl="0">
              <a:lnSpc>
                <a:spcPct val="50000"/>
              </a:lnSpc>
              <a:spcBef>
                <a:spcPts val="0"/>
              </a:spcBef>
              <a:spcAft>
                <a:spcPts val="0"/>
              </a:spcAft>
              <a:buClr>
                <a:srgbClr val="FF5F00"/>
              </a:buClr>
              <a:buSzPts val="1800"/>
              <a:buFont typeface="Calibri"/>
              <a:buNone/>
            </a:pPr>
            <a:r>
              <a:rPr lang="en-US" sz="1800" b="1">
                <a:solidFill>
                  <a:srgbClr val="FF5F00"/>
                </a:solidFill>
                <a:latin typeface="Calibri"/>
                <a:ea typeface="Calibri"/>
                <a:cs typeface="Calibri"/>
                <a:sym typeface="Calibri"/>
              </a:rPr>
              <a:t>Study 1</a:t>
            </a:r>
            <a:endParaRPr sz="1800">
              <a:solidFill>
                <a:schemeClr val="dk1"/>
              </a:solidFill>
              <a:latin typeface="Calibri"/>
              <a:ea typeface="Calibri"/>
              <a:cs typeface="Calibri"/>
              <a:sym typeface="Calibri"/>
            </a:endParaRPr>
          </a:p>
        </p:txBody>
      </p:sp>
      <p:sp>
        <p:nvSpPr>
          <p:cNvPr id="413" name="Google Shape;413;p21"/>
          <p:cNvSpPr/>
          <p:nvPr/>
        </p:nvSpPr>
        <p:spPr>
          <a:xfrm>
            <a:off x="428625" y="1952030"/>
            <a:ext cx="1532100" cy="220500"/>
          </a:xfrm>
          <a:prstGeom prst="rect">
            <a:avLst/>
          </a:prstGeom>
          <a:noFill/>
          <a:ln>
            <a:noFill/>
          </a:ln>
        </p:spPr>
        <p:txBody>
          <a:bodyPr spcFirstLastPara="1" wrap="square" lIns="0" tIns="0" rIns="0" bIns="0" anchor="t" anchorCtr="0">
            <a:noAutofit/>
          </a:bodyPr>
          <a:lstStyle/>
          <a:p>
            <a:pPr marL="0" marR="0" lvl="0" indent="0" algn="l" rtl="0">
              <a:lnSpc>
                <a:spcPct val="128571"/>
              </a:lnSpc>
              <a:spcBef>
                <a:spcPts val="0"/>
              </a:spcBef>
              <a:spcAft>
                <a:spcPts val="0"/>
              </a:spcAft>
              <a:buClr>
                <a:srgbClr val="000000"/>
              </a:buClr>
              <a:buSzPts val="1400"/>
              <a:buFont typeface="Calibri"/>
              <a:buNone/>
            </a:pPr>
            <a:r>
              <a:rPr lang="en-US" sz="1400" b="1">
                <a:solidFill>
                  <a:srgbClr val="000000"/>
                </a:solidFill>
                <a:latin typeface="Calibri"/>
                <a:ea typeface="Calibri"/>
                <a:cs typeface="Calibri"/>
                <a:sym typeface="Calibri"/>
              </a:rPr>
              <a:t>Human vs. PPLM</a:t>
            </a:r>
            <a:endParaRPr sz="1400">
              <a:solidFill>
                <a:schemeClr val="dk1"/>
              </a:solidFill>
              <a:latin typeface="Calibri"/>
              <a:ea typeface="Calibri"/>
              <a:cs typeface="Calibri"/>
              <a:sym typeface="Calibri"/>
            </a:endParaRPr>
          </a:p>
        </p:txBody>
      </p:sp>
      <p:sp>
        <p:nvSpPr>
          <p:cNvPr id="414" name="Google Shape;414;p21"/>
          <p:cNvSpPr/>
          <p:nvPr/>
        </p:nvSpPr>
        <p:spPr>
          <a:xfrm>
            <a:off x="428625" y="2504945"/>
            <a:ext cx="1532100" cy="666900"/>
          </a:xfrm>
          <a:prstGeom prst="rect">
            <a:avLst/>
          </a:prstGeom>
          <a:noFill/>
          <a:ln>
            <a:noFill/>
          </a:ln>
        </p:spPr>
        <p:txBody>
          <a:bodyPr spcFirstLastPara="1" wrap="square" lIns="0" tIns="0" rIns="0" bIns="0" anchor="t" anchorCtr="0">
            <a:noAutofit/>
          </a:bodyPr>
          <a:lstStyle/>
          <a:p>
            <a:pPr marL="0" marR="0" lvl="0" indent="0" algn="l" rtl="0">
              <a:lnSpc>
                <a:spcPct val="108333"/>
              </a:lnSpc>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Comparison against human experts across 208 keywords in B2C and B2B sectors.</a:t>
            </a:r>
            <a:endParaRPr sz="1200">
              <a:solidFill>
                <a:schemeClr val="dk1"/>
              </a:solidFill>
              <a:latin typeface="Calibri"/>
              <a:ea typeface="Calibri"/>
              <a:cs typeface="Calibri"/>
              <a:sym typeface="Calibri"/>
            </a:endParaRPr>
          </a:p>
        </p:txBody>
      </p:sp>
      <p:sp>
        <p:nvSpPr>
          <p:cNvPr id="415" name="Google Shape;415;p21"/>
          <p:cNvSpPr/>
          <p:nvPr/>
        </p:nvSpPr>
        <p:spPr>
          <a:xfrm>
            <a:off x="2103611" y="1744861"/>
            <a:ext cx="715800" cy="147600"/>
          </a:xfrm>
          <a:prstGeom prst="rect">
            <a:avLst/>
          </a:prstGeom>
          <a:noFill/>
          <a:ln>
            <a:noFill/>
          </a:ln>
        </p:spPr>
        <p:txBody>
          <a:bodyPr spcFirstLastPara="1" wrap="square" lIns="0" tIns="0" rIns="0" bIns="0" anchor="t" anchorCtr="0">
            <a:noAutofit/>
          </a:bodyPr>
          <a:lstStyle/>
          <a:p>
            <a:pPr marL="0" marR="0" lvl="0" indent="0" algn="l" rtl="0">
              <a:lnSpc>
                <a:spcPct val="50000"/>
              </a:lnSpc>
              <a:spcBef>
                <a:spcPts val="0"/>
              </a:spcBef>
              <a:spcAft>
                <a:spcPts val="0"/>
              </a:spcAft>
              <a:buClr>
                <a:srgbClr val="FF5F00"/>
              </a:buClr>
              <a:buSzPts val="1800"/>
              <a:buFont typeface="Calibri"/>
              <a:buNone/>
            </a:pPr>
            <a:r>
              <a:rPr lang="en-US" sz="1800" b="1">
                <a:solidFill>
                  <a:srgbClr val="FF5F00"/>
                </a:solidFill>
                <a:latin typeface="Calibri"/>
                <a:ea typeface="Calibri"/>
                <a:cs typeface="Calibri"/>
                <a:sym typeface="Calibri"/>
              </a:rPr>
              <a:t>Study 2</a:t>
            </a:r>
            <a:endParaRPr sz="1800">
              <a:solidFill>
                <a:schemeClr val="dk1"/>
              </a:solidFill>
              <a:latin typeface="Calibri"/>
              <a:ea typeface="Calibri"/>
              <a:cs typeface="Calibri"/>
              <a:sym typeface="Calibri"/>
            </a:endParaRPr>
          </a:p>
        </p:txBody>
      </p:sp>
      <p:sp>
        <p:nvSpPr>
          <p:cNvPr id="416" name="Google Shape;416;p21"/>
          <p:cNvSpPr/>
          <p:nvPr/>
        </p:nvSpPr>
        <p:spPr>
          <a:xfrm>
            <a:off x="2103611" y="1952030"/>
            <a:ext cx="1586700" cy="220500"/>
          </a:xfrm>
          <a:prstGeom prst="rect">
            <a:avLst/>
          </a:prstGeom>
          <a:noFill/>
          <a:ln>
            <a:noFill/>
          </a:ln>
        </p:spPr>
        <p:txBody>
          <a:bodyPr spcFirstLastPara="1" wrap="square" lIns="0" tIns="0" rIns="0" bIns="0" anchor="t" anchorCtr="0">
            <a:noAutofit/>
          </a:bodyPr>
          <a:lstStyle/>
          <a:p>
            <a:pPr marL="0" marR="0" lvl="0" indent="0" algn="l" rtl="0">
              <a:lnSpc>
                <a:spcPct val="128571"/>
              </a:lnSpc>
              <a:spcBef>
                <a:spcPts val="0"/>
              </a:spcBef>
              <a:spcAft>
                <a:spcPts val="0"/>
              </a:spcAft>
              <a:buClr>
                <a:srgbClr val="000000"/>
              </a:buClr>
              <a:buSzPts val="1400"/>
              <a:buFont typeface="Calibri"/>
              <a:buNone/>
            </a:pPr>
            <a:r>
              <a:rPr lang="en-US" sz="1400" b="1">
                <a:solidFill>
                  <a:srgbClr val="000000"/>
                </a:solidFill>
                <a:latin typeface="Calibri"/>
                <a:ea typeface="Calibri"/>
                <a:cs typeface="Calibri"/>
                <a:sym typeface="Calibri"/>
              </a:rPr>
              <a:t>LLM Benchmarking</a:t>
            </a:r>
            <a:endParaRPr sz="1400">
              <a:solidFill>
                <a:schemeClr val="dk1"/>
              </a:solidFill>
              <a:latin typeface="Calibri"/>
              <a:ea typeface="Calibri"/>
              <a:cs typeface="Calibri"/>
              <a:sym typeface="Calibri"/>
            </a:endParaRPr>
          </a:p>
        </p:txBody>
      </p:sp>
      <p:sp>
        <p:nvSpPr>
          <p:cNvPr id="417" name="Google Shape;417;p21"/>
          <p:cNvSpPr/>
          <p:nvPr/>
        </p:nvSpPr>
        <p:spPr>
          <a:xfrm>
            <a:off x="2103611" y="2504945"/>
            <a:ext cx="1586700" cy="666900"/>
          </a:xfrm>
          <a:prstGeom prst="rect">
            <a:avLst/>
          </a:prstGeom>
          <a:noFill/>
          <a:ln>
            <a:noFill/>
          </a:ln>
        </p:spPr>
        <p:txBody>
          <a:bodyPr spcFirstLastPara="1" wrap="square" lIns="0" tIns="0" rIns="0" bIns="0" anchor="t" anchorCtr="0">
            <a:noAutofit/>
          </a:bodyPr>
          <a:lstStyle/>
          <a:p>
            <a:pPr marL="0" marR="0" lvl="0" indent="0" algn="l" rtl="0">
              <a:lnSpc>
                <a:spcPct val="108333"/>
              </a:lnSpc>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Benchmarking against GPT-4, Gemini, and proprietary SEA generation tools.</a:t>
            </a:r>
            <a:endParaRPr sz="1200">
              <a:solidFill>
                <a:schemeClr val="dk1"/>
              </a:solidFill>
              <a:latin typeface="Calibri"/>
              <a:ea typeface="Calibri"/>
              <a:cs typeface="Calibri"/>
              <a:sym typeface="Calibri"/>
            </a:endParaRPr>
          </a:p>
        </p:txBody>
      </p:sp>
      <p:sp>
        <p:nvSpPr>
          <p:cNvPr id="418" name="Google Shape;418;p21"/>
          <p:cNvSpPr/>
          <p:nvPr/>
        </p:nvSpPr>
        <p:spPr>
          <a:xfrm>
            <a:off x="3833236" y="1744861"/>
            <a:ext cx="715800" cy="147600"/>
          </a:xfrm>
          <a:prstGeom prst="rect">
            <a:avLst/>
          </a:prstGeom>
          <a:noFill/>
          <a:ln>
            <a:noFill/>
          </a:ln>
        </p:spPr>
        <p:txBody>
          <a:bodyPr spcFirstLastPara="1" wrap="square" lIns="0" tIns="0" rIns="0" bIns="0" anchor="t" anchorCtr="0">
            <a:noAutofit/>
          </a:bodyPr>
          <a:lstStyle/>
          <a:p>
            <a:pPr marL="0" marR="0" lvl="0" indent="0" algn="l" rtl="0">
              <a:lnSpc>
                <a:spcPct val="50000"/>
              </a:lnSpc>
              <a:spcBef>
                <a:spcPts val="0"/>
              </a:spcBef>
              <a:spcAft>
                <a:spcPts val="0"/>
              </a:spcAft>
              <a:buClr>
                <a:srgbClr val="FF5F00"/>
              </a:buClr>
              <a:buSzPts val="1800"/>
              <a:buFont typeface="Calibri"/>
              <a:buNone/>
            </a:pPr>
            <a:r>
              <a:rPr lang="en-US" sz="1800" b="1">
                <a:solidFill>
                  <a:srgbClr val="FF5F00"/>
                </a:solidFill>
                <a:latin typeface="Calibri"/>
                <a:ea typeface="Calibri"/>
                <a:cs typeface="Calibri"/>
                <a:sym typeface="Calibri"/>
              </a:rPr>
              <a:t>Study 3</a:t>
            </a:r>
            <a:endParaRPr sz="1800">
              <a:solidFill>
                <a:schemeClr val="dk1"/>
              </a:solidFill>
              <a:latin typeface="Calibri"/>
              <a:ea typeface="Calibri"/>
              <a:cs typeface="Calibri"/>
              <a:sym typeface="Calibri"/>
            </a:endParaRPr>
          </a:p>
        </p:txBody>
      </p:sp>
      <p:sp>
        <p:nvSpPr>
          <p:cNvPr id="419" name="Google Shape;419;p21"/>
          <p:cNvSpPr/>
          <p:nvPr/>
        </p:nvSpPr>
        <p:spPr>
          <a:xfrm>
            <a:off x="3833236" y="1952030"/>
            <a:ext cx="1674900" cy="220500"/>
          </a:xfrm>
          <a:prstGeom prst="rect">
            <a:avLst/>
          </a:prstGeom>
          <a:noFill/>
          <a:ln>
            <a:noFill/>
          </a:ln>
        </p:spPr>
        <p:txBody>
          <a:bodyPr spcFirstLastPara="1" wrap="square" lIns="0" tIns="0" rIns="0" bIns="0" anchor="t" anchorCtr="0">
            <a:noAutofit/>
          </a:bodyPr>
          <a:lstStyle/>
          <a:p>
            <a:pPr marL="0" marR="0" lvl="0" indent="0" algn="l" rtl="0">
              <a:lnSpc>
                <a:spcPct val="128571"/>
              </a:lnSpc>
              <a:spcBef>
                <a:spcPts val="0"/>
              </a:spcBef>
              <a:spcAft>
                <a:spcPts val="0"/>
              </a:spcAft>
              <a:buClr>
                <a:srgbClr val="000000"/>
              </a:buClr>
              <a:buSzPts val="1400"/>
              <a:buFont typeface="Calibri"/>
              <a:buNone/>
            </a:pPr>
            <a:r>
              <a:rPr lang="en-US" sz="1400" b="1">
                <a:solidFill>
                  <a:srgbClr val="000000"/>
                </a:solidFill>
                <a:latin typeface="Calibri"/>
                <a:ea typeface="Calibri"/>
                <a:cs typeface="Calibri"/>
                <a:sym typeface="Calibri"/>
              </a:rPr>
              <a:t>Cost-Aware Selection</a:t>
            </a:r>
            <a:endParaRPr sz="1400">
              <a:solidFill>
                <a:schemeClr val="dk1"/>
              </a:solidFill>
              <a:latin typeface="Calibri"/>
              <a:ea typeface="Calibri"/>
              <a:cs typeface="Calibri"/>
              <a:sym typeface="Calibri"/>
            </a:endParaRPr>
          </a:p>
        </p:txBody>
      </p:sp>
      <p:sp>
        <p:nvSpPr>
          <p:cNvPr id="420" name="Google Shape;420;p21"/>
          <p:cNvSpPr/>
          <p:nvPr/>
        </p:nvSpPr>
        <p:spPr>
          <a:xfrm>
            <a:off x="3833236" y="2504945"/>
            <a:ext cx="1532100" cy="666900"/>
          </a:xfrm>
          <a:prstGeom prst="rect">
            <a:avLst/>
          </a:prstGeom>
          <a:noFill/>
          <a:ln>
            <a:noFill/>
          </a:ln>
        </p:spPr>
        <p:txBody>
          <a:bodyPr spcFirstLastPara="1" wrap="square" lIns="0" tIns="0" rIns="0" bIns="0" anchor="t" anchorCtr="0">
            <a:noAutofit/>
          </a:bodyPr>
          <a:lstStyle/>
          <a:p>
            <a:pPr marL="0" marR="0" lvl="0" indent="0" algn="l" rtl="0">
              <a:lnSpc>
                <a:spcPct val="108333"/>
              </a:lnSpc>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Evaluating performance when targeting low CPC using the prediction module.</a:t>
            </a:r>
            <a:endParaRPr sz="1200">
              <a:solidFill>
                <a:schemeClr val="dk1"/>
              </a:solidFill>
              <a:latin typeface="Calibri"/>
              <a:ea typeface="Calibri"/>
              <a:cs typeface="Calibri"/>
              <a:sym typeface="Calibri"/>
            </a:endParaRPr>
          </a:p>
        </p:txBody>
      </p:sp>
      <p:sp>
        <p:nvSpPr>
          <p:cNvPr id="421" name="Google Shape;421;p21"/>
          <p:cNvSpPr/>
          <p:nvPr/>
        </p:nvSpPr>
        <p:spPr>
          <a:xfrm>
            <a:off x="5508250" y="1744861"/>
            <a:ext cx="715800" cy="147600"/>
          </a:xfrm>
          <a:prstGeom prst="rect">
            <a:avLst/>
          </a:prstGeom>
          <a:noFill/>
          <a:ln>
            <a:noFill/>
          </a:ln>
        </p:spPr>
        <p:txBody>
          <a:bodyPr spcFirstLastPara="1" wrap="square" lIns="0" tIns="0" rIns="0" bIns="0" anchor="t" anchorCtr="0">
            <a:noAutofit/>
          </a:bodyPr>
          <a:lstStyle/>
          <a:p>
            <a:pPr marL="0" marR="0" lvl="0" indent="0" algn="l" rtl="0">
              <a:lnSpc>
                <a:spcPct val="50000"/>
              </a:lnSpc>
              <a:spcBef>
                <a:spcPts val="0"/>
              </a:spcBef>
              <a:spcAft>
                <a:spcPts val="0"/>
              </a:spcAft>
              <a:buClr>
                <a:srgbClr val="FF5F00"/>
              </a:buClr>
              <a:buSzPts val="1800"/>
              <a:buFont typeface="Calibri"/>
              <a:buNone/>
            </a:pPr>
            <a:r>
              <a:rPr lang="en-US" sz="1800" b="1">
                <a:solidFill>
                  <a:srgbClr val="FF5F00"/>
                </a:solidFill>
                <a:latin typeface="Calibri"/>
                <a:ea typeface="Calibri"/>
                <a:cs typeface="Calibri"/>
                <a:sym typeface="Calibri"/>
              </a:rPr>
              <a:t>Study 4</a:t>
            </a:r>
            <a:endParaRPr sz="1800">
              <a:solidFill>
                <a:schemeClr val="dk1"/>
              </a:solidFill>
              <a:latin typeface="Calibri"/>
              <a:ea typeface="Calibri"/>
              <a:cs typeface="Calibri"/>
              <a:sym typeface="Calibri"/>
            </a:endParaRPr>
          </a:p>
        </p:txBody>
      </p:sp>
      <p:sp>
        <p:nvSpPr>
          <p:cNvPr id="422" name="Google Shape;422;p21"/>
          <p:cNvSpPr/>
          <p:nvPr/>
        </p:nvSpPr>
        <p:spPr>
          <a:xfrm>
            <a:off x="5508250" y="1952030"/>
            <a:ext cx="1532100" cy="220500"/>
          </a:xfrm>
          <a:prstGeom prst="rect">
            <a:avLst/>
          </a:prstGeom>
          <a:noFill/>
          <a:ln>
            <a:noFill/>
          </a:ln>
        </p:spPr>
        <p:txBody>
          <a:bodyPr spcFirstLastPara="1" wrap="square" lIns="0" tIns="0" rIns="0" bIns="0" anchor="t" anchorCtr="0">
            <a:noAutofit/>
          </a:bodyPr>
          <a:lstStyle/>
          <a:p>
            <a:pPr marL="0" marR="0" lvl="0" indent="0" algn="l" rtl="0">
              <a:lnSpc>
                <a:spcPct val="128571"/>
              </a:lnSpc>
              <a:spcBef>
                <a:spcPts val="0"/>
              </a:spcBef>
              <a:spcAft>
                <a:spcPts val="0"/>
              </a:spcAft>
              <a:buClr>
                <a:srgbClr val="000000"/>
              </a:buClr>
              <a:buSzPts val="1400"/>
              <a:buFont typeface="Calibri"/>
              <a:buNone/>
            </a:pPr>
            <a:r>
              <a:rPr lang="en-US" sz="1400" b="1">
                <a:solidFill>
                  <a:srgbClr val="000000"/>
                </a:solidFill>
                <a:latin typeface="Calibri"/>
                <a:ea typeface="Calibri"/>
                <a:cs typeface="Calibri"/>
                <a:sym typeface="Calibri"/>
              </a:rPr>
              <a:t>LP Optimization</a:t>
            </a:r>
            <a:endParaRPr sz="1400">
              <a:solidFill>
                <a:schemeClr val="dk1"/>
              </a:solidFill>
              <a:latin typeface="Calibri"/>
              <a:ea typeface="Calibri"/>
              <a:cs typeface="Calibri"/>
              <a:sym typeface="Calibri"/>
            </a:endParaRPr>
          </a:p>
        </p:txBody>
      </p:sp>
      <p:sp>
        <p:nvSpPr>
          <p:cNvPr id="423" name="Google Shape;423;p21"/>
          <p:cNvSpPr/>
          <p:nvPr/>
        </p:nvSpPr>
        <p:spPr>
          <a:xfrm>
            <a:off x="5508250" y="2504945"/>
            <a:ext cx="1532100" cy="666900"/>
          </a:xfrm>
          <a:prstGeom prst="rect">
            <a:avLst/>
          </a:prstGeom>
          <a:noFill/>
          <a:ln>
            <a:noFill/>
          </a:ln>
        </p:spPr>
        <p:txBody>
          <a:bodyPr spcFirstLastPara="1" wrap="square" lIns="0" tIns="0" rIns="0" bIns="0" anchor="t" anchorCtr="0">
            <a:noAutofit/>
          </a:bodyPr>
          <a:lstStyle/>
          <a:p>
            <a:pPr marL="0" marR="0" lvl="0" indent="0" algn="l" rtl="0">
              <a:lnSpc>
                <a:spcPct val="108333"/>
              </a:lnSpc>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Boundary condition: Interaction between ad source and landing page quality.</a:t>
            </a:r>
            <a:endParaRPr sz="1200">
              <a:solidFill>
                <a:schemeClr val="dk1"/>
              </a:solidFill>
              <a:latin typeface="Calibri"/>
              <a:ea typeface="Calibri"/>
              <a:cs typeface="Calibri"/>
              <a:sym typeface="Calibri"/>
            </a:endParaRPr>
          </a:p>
        </p:txBody>
      </p:sp>
      <p:sp>
        <p:nvSpPr>
          <p:cNvPr id="424" name="Google Shape;424;p21"/>
          <p:cNvSpPr/>
          <p:nvPr/>
        </p:nvSpPr>
        <p:spPr>
          <a:xfrm>
            <a:off x="7183236" y="1744861"/>
            <a:ext cx="715800" cy="147600"/>
          </a:xfrm>
          <a:prstGeom prst="rect">
            <a:avLst/>
          </a:prstGeom>
          <a:noFill/>
          <a:ln>
            <a:noFill/>
          </a:ln>
        </p:spPr>
        <p:txBody>
          <a:bodyPr spcFirstLastPara="1" wrap="square" lIns="0" tIns="0" rIns="0" bIns="0" anchor="t" anchorCtr="0">
            <a:noAutofit/>
          </a:bodyPr>
          <a:lstStyle/>
          <a:p>
            <a:pPr marL="0" marR="0" lvl="0" indent="0" algn="l" rtl="0">
              <a:lnSpc>
                <a:spcPct val="50000"/>
              </a:lnSpc>
              <a:spcBef>
                <a:spcPts val="0"/>
              </a:spcBef>
              <a:spcAft>
                <a:spcPts val="0"/>
              </a:spcAft>
              <a:buClr>
                <a:srgbClr val="FF5F00"/>
              </a:buClr>
              <a:buSzPts val="1800"/>
              <a:buFont typeface="Calibri"/>
              <a:buNone/>
            </a:pPr>
            <a:r>
              <a:rPr lang="en-US" sz="1800" b="1">
                <a:solidFill>
                  <a:srgbClr val="FF5F00"/>
                </a:solidFill>
                <a:latin typeface="Calibri"/>
                <a:ea typeface="Calibri"/>
                <a:cs typeface="Calibri"/>
                <a:sym typeface="Calibri"/>
              </a:rPr>
              <a:t>Study 5</a:t>
            </a:r>
            <a:endParaRPr sz="1800">
              <a:solidFill>
                <a:schemeClr val="dk1"/>
              </a:solidFill>
              <a:latin typeface="Calibri"/>
              <a:ea typeface="Calibri"/>
              <a:cs typeface="Calibri"/>
              <a:sym typeface="Calibri"/>
            </a:endParaRPr>
          </a:p>
        </p:txBody>
      </p:sp>
      <p:sp>
        <p:nvSpPr>
          <p:cNvPr id="425" name="Google Shape;425;p21"/>
          <p:cNvSpPr/>
          <p:nvPr/>
        </p:nvSpPr>
        <p:spPr>
          <a:xfrm>
            <a:off x="7183236" y="1952030"/>
            <a:ext cx="1532100" cy="220500"/>
          </a:xfrm>
          <a:prstGeom prst="rect">
            <a:avLst/>
          </a:prstGeom>
          <a:noFill/>
          <a:ln>
            <a:noFill/>
          </a:ln>
        </p:spPr>
        <p:txBody>
          <a:bodyPr spcFirstLastPara="1" wrap="square" lIns="0" tIns="0" rIns="0" bIns="0" anchor="t" anchorCtr="0">
            <a:noAutofit/>
          </a:bodyPr>
          <a:lstStyle/>
          <a:p>
            <a:pPr marL="0" marR="0" lvl="0" indent="0" algn="l" rtl="0">
              <a:lnSpc>
                <a:spcPct val="128571"/>
              </a:lnSpc>
              <a:spcBef>
                <a:spcPts val="0"/>
              </a:spcBef>
              <a:spcAft>
                <a:spcPts val="0"/>
              </a:spcAft>
              <a:buClr>
                <a:srgbClr val="000000"/>
              </a:buClr>
              <a:buSzPts val="1400"/>
              <a:buFont typeface="Calibri"/>
              <a:buNone/>
            </a:pPr>
            <a:r>
              <a:rPr lang="en-US" sz="1400" b="1">
                <a:solidFill>
                  <a:srgbClr val="000000"/>
                </a:solidFill>
                <a:latin typeface="Calibri"/>
                <a:ea typeface="Calibri"/>
                <a:cs typeface="Calibri"/>
                <a:sym typeface="Calibri"/>
              </a:rPr>
              <a:t>Budget Constraints</a:t>
            </a:r>
            <a:endParaRPr sz="1400">
              <a:solidFill>
                <a:schemeClr val="dk1"/>
              </a:solidFill>
              <a:latin typeface="Calibri"/>
              <a:ea typeface="Calibri"/>
              <a:cs typeface="Calibri"/>
              <a:sym typeface="Calibri"/>
            </a:endParaRPr>
          </a:p>
        </p:txBody>
      </p:sp>
      <p:sp>
        <p:nvSpPr>
          <p:cNvPr id="426" name="Google Shape;426;p21"/>
          <p:cNvSpPr/>
          <p:nvPr/>
        </p:nvSpPr>
        <p:spPr>
          <a:xfrm>
            <a:off x="7183236" y="2504945"/>
            <a:ext cx="1532100" cy="666900"/>
          </a:xfrm>
          <a:prstGeom prst="rect">
            <a:avLst/>
          </a:prstGeom>
          <a:noFill/>
          <a:ln>
            <a:noFill/>
          </a:ln>
        </p:spPr>
        <p:txBody>
          <a:bodyPr spcFirstLastPara="1" wrap="square" lIns="0" tIns="0" rIns="0" bIns="0" anchor="t" anchorCtr="0">
            <a:noAutofit/>
          </a:bodyPr>
          <a:lstStyle/>
          <a:p>
            <a:pPr marL="0" marR="0" lvl="0" indent="0" algn="l" rtl="0">
              <a:lnSpc>
                <a:spcPct val="108333"/>
              </a:lnSpc>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Boundary condition: Performance shifts under high vs. low budget regimes.</a:t>
            </a:r>
            <a:endParaRPr sz="1200">
              <a:solidFill>
                <a:schemeClr val="dk1"/>
              </a:solidFill>
              <a:latin typeface="Calibri"/>
              <a:ea typeface="Calibri"/>
              <a:cs typeface="Calibri"/>
              <a:sym typeface="Calibri"/>
            </a:endParaRPr>
          </a:p>
        </p:txBody>
      </p:sp>
      <p:sp>
        <p:nvSpPr>
          <p:cNvPr id="427" name="Google Shape;427;p21"/>
          <p:cNvSpPr/>
          <p:nvPr/>
        </p:nvSpPr>
        <p:spPr>
          <a:xfrm>
            <a:off x="428625" y="4411266"/>
            <a:ext cx="8286900" cy="7323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8" name="Google Shape;428;p21"/>
          <p:cNvSpPr/>
          <p:nvPr/>
        </p:nvSpPr>
        <p:spPr>
          <a:xfrm>
            <a:off x="428625" y="4411266"/>
            <a:ext cx="8286900" cy="7200"/>
          </a:xfrm>
          <a:prstGeom prst="rect">
            <a:avLst/>
          </a:prstGeom>
          <a:solidFill>
            <a:srgbClr val="3333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9" name="Google Shape;429;p21"/>
          <p:cNvSpPr/>
          <p:nvPr/>
        </p:nvSpPr>
        <p:spPr>
          <a:xfrm>
            <a:off x="428625" y="4411266"/>
            <a:ext cx="8286900" cy="732300"/>
          </a:xfrm>
          <a:prstGeom prst="rect">
            <a:avLst/>
          </a:prstGeom>
          <a:noFill/>
          <a:ln>
            <a:noFill/>
          </a:ln>
        </p:spPr>
        <p:txBody>
          <a:bodyPr spcFirstLastPara="1" wrap="square" lIns="0" tIns="170050" rIns="0" bIns="0" anchor="t" anchorCtr="0">
            <a:noAutofit/>
          </a:bodyPr>
          <a:lstStyle/>
          <a:p>
            <a:pPr marL="0" marR="0" lvl="0" indent="0" algn="l" rtl="0">
              <a:lnSpc>
                <a:spcPct val="133422"/>
              </a:lnSpc>
              <a:spcBef>
                <a:spcPts val="0"/>
              </a:spcBef>
              <a:spcAft>
                <a:spcPts val="0"/>
              </a:spcAft>
              <a:buClr>
                <a:srgbClr val="0047AB"/>
              </a:buClr>
              <a:buSzPts val="1499"/>
              <a:buFont typeface="Calibri"/>
              <a:buNone/>
            </a:pPr>
            <a:r>
              <a:rPr lang="en-US" sz="1499" b="1">
                <a:solidFill>
                  <a:srgbClr val="0047AB"/>
                </a:solidFill>
                <a:latin typeface="Calibri"/>
                <a:ea typeface="Calibri"/>
                <a:cs typeface="Calibri"/>
                <a:sym typeface="Calibri"/>
              </a:rPr>
              <a:t>Comprehensive field validation across diverse market conditions and competitive baselines.</a:t>
            </a:r>
            <a:endParaRPr sz="1499">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22" descr="preencoded.png"/>
          <p:cNvPicPr preferRelativeResize="0"/>
          <p:nvPr/>
        </p:nvPicPr>
        <p:blipFill rotWithShape="1">
          <a:blip r:embed="rId3">
            <a:alphaModFix/>
          </a:blip>
          <a:srcRect/>
          <a:stretch/>
        </p:blipFill>
        <p:spPr>
          <a:xfrm>
            <a:off x="0" y="0"/>
            <a:ext cx="8655530" cy="5143499"/>
          </a:xfrm>
          <a:prstGeom prst="rect">
            <a:avLst/>
          </a:prstGeom>
          <a:noFill/>
          <a:ln>
            <a:noFill/>
          </a:ln>
        </p:spPr>
      </p:pic>
      <p:sp>
        <p:nvSpPr>
          <p:cNvPr id="436" name="Google Shape;436;p22"/>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7" name="Google Shape;437;p22"/>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8" name="Google Shape;438;p22"/>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Study 1: PPLM Workflow vs. Human Experts</a:t>
            </a:r>
            <a:endParaRPr sz="2862">
              <a:solidFill>
                <a:schemeClr val="dk1"/>
              </a:solidFill>
              <a:latin typeface="Calibri"/>
              <a:ea typeface="Calibri"/>
              <a:cs typeface="Calibri"/>
              <a:sym typeface="Calibri"/>
            </a:endParaRPr>
          </a:p>
        </p:txBody>
      </p:sp>
      <p:sp>
        <p:nvSpPr>
          <p:cNvPr id="439" name="Google Shape;439;p22"/>
          <p:cNvSpPr/>
          <p:nvPr/>
        </p:nvSpPr>
        <p:spPr>
          <a:xfrm>
            <a:off x="428625" y="2305645"/>
            <a:ext cx="1688700" cy="140700"/>
          </a:xfrm>
          <a:prstGeom prst="rect">
            <a:avLst/>
          </a:prstGeom>
          <a:noFill/>
          <a:ln>
            <a:noFill/>
          </a:ln>
        </p:spPr>
        <p:txBody>
          <a:bodyPr spcFirstLastPara="1" wrap="square" lIns="0" tIns="0" rIns="0" bIns="0" anchor="t" anchorCtr="0">
            <a:noAutofit/>
          </a:bodyPr>
          <a:lstStyle/>
          <a:p>
            <a:pPr marL="0" marR="0" lvl="0" indent="0" algn="l" rtl="0">
              <a:lnSpc>
                <a:spcPct val="56250"/>
              </a:lnSpc>
              <a:spcBef>
                <a:spcPts val="0"/>
              </a:spcBef>
              <a:spcAft>
                <a:spcPts val="0"/>
              </a:spcAft>
              <a:buClr>
                <a:srgbClr val="FF5F00"/>
              </a:buClr>
              <a:buSzPts val="1600"/>
              <a:buFont typeface="Calibri"/>
              <a:buNone/>
            </a:pPr>
            <a:r>
              <a:rPr lang="en-US" sz="1600" b="1">
                <a:solidFill>
                  <a:srgbClr val="FF5F00"/>
                </a:solidFill>
                <a:latin typeface="Calibri"/>
                <a:ea typeface="Calibri"/>
                <a:cs typeface="Calibri"/>
                <a:sym typeface="Calibri"/>
              </a:rPr>
              <a:t>Experimental Scope</a:t>
            </a:r>
            <a:endParaRPr sz="1600">
              <a:solidFill>
                <a:schemeClr val="dk1"/>
              </a:solidFill>
              <a:latin typeface="Calibri"/>
              <a:ea typeface="Calibri"/>
              <a:cs typeface="Calibri"/>
              <a:sym typeface="Calibri"/>
            </a:endParaRPr>
          </a:p>
        </p:txBody>
      </p:sp>
      <p:sp>
        <p:nvSpPr>
          <p:cNvPr id="440" name="Google Shape;440;p22"/>
          <p:cNvSpPr/>
          <p:nvPr/>
        </p:nvSpPr>
        <p:spPr>
          <a:xfrm>
            <a:off x="428625" y="2444948"/>
            <a:ext cx="2571900" cy="219900"/>
          </a:xfrm>
          <a:prstGeom prst="rect">
            <a:avLst/>
          </a:prstGeom>
          <a:noFill/>
          <a:ln>
            <a:noFill/>
          </a:ln>
        </p:spPr>
        <p:txBody>
          <a:bodyPr spcFirstLastPara="1" wrap="square" lIns="0" tIns="0" rIns="0" bIns="0" anchor="t" anchorCtr="0">
            <a:noAutofit/>
          </a:bodyPr>
          <a:lstStyle/>
          <a:p>
            <a:pPr marL="0" marR="0" lvl="0" indent="0" algn="l" rtl="0">
              <a:lnSpc>
                <a:spcPct val="121689"/>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Partners &amp; Sectors</a:t>
            </a:r>
            <a:endParaRPr sz="1397">
              <a:solidFill>
                <a:schemeClr val="dk1"/>
              </a:solidFill>
              <a:latin typeface="Calibri"/>
              <a:ea typeface="Calibri"/>
              <a:cs typeface="Calibri"/>
              <a:sym typeface="Calibri"/>
            </a:endParaRPr>
          </a:p>
        </p:txBody>
      </p:sp>
      <p:sp>
        <p:nvSpPr>
          <p:cNvPr id="441" name="Google Shape;441;p22"/>
          <p:cNvSpPr/>
          <p:nvPr/>
        </p:nvSpPr>
        <p:spPr>
          <a:xfrm>
            <a:off x="550069" y="2807829"/>
            <a:ext cx="2450400" cy="155400"/>
          </a:xfrm>
          <a:prstGeom prst="rect">
            <a:avLst/>
          </a:prstGeom>
          <a:noFill/>
          <a:ln>
            <a:noFill/>
          </a:ln>
        </p:spPr>
        <p:txBody>
          <a:bodyPr spcFirstLastPara="1" wrap="square" lIns="0" tIns="0" rIns="0" bIns="0" anchor="t" anchorCtr="0">
            <a:noAutofit/>
          </a:bodyPr>
          <a:lstStyle/>
          <a:p>
            <a:pPr marL="0" marR="0" lvl="0" indent="0" algn="l" rtl="0">
              <a:lnSpc>
                <a:spcPct val="140306"/>
              </a:lnSpc>
              <a:spcBef>
                <a:spcPts val="0"/>
              </a:spcBef>
              <a:spcAft>
                <a:spcPts val="0"/>
              </a:spcAft>
              <a:buClr>
                <a:srgbClr val="000000"/>
              </a:buClr>
              <a:buSzPts val="784"/>
              <a:buFont typeface="Calibri"/>
              <a:buNone/>
            </a:pPr>
            <a:r>
              <a:rPr lang="en-US" sz="784" b="1">
                <a:solidFill>
                  <a:srgbClr val="000000"/>
                </a:solidFill>
                <a:latin typeface="Calibri"/>
                <a:ea typeface="Calibri"/>
                <a:cs typeface="Calibri"/>
                <a:sym typeface="Calibri"/>
              </a:rPr>
              <a:t>Education (B2C)</a:t>
            </a:r>
            <a:endParaRPr sz="784">
              <a:solidFill>
                <a:schemeClr val="dk1"/>
              </a:solidFill>
              <a:latin typeface="Calibri"/>
              <a:ea typeface="Calibri"/>
              <a:cs typeface="Calibri"/>
              <a:sym typeface="Calibri"/>
            </a:endParaRPr>
          </a:p>
        </p:txBody>
      </p:sp>
      <p:sp>
        <p:nvSpPr>
          <p:cNvPr id="443" name="Google Shape;443;p22"/>
          <p:cNvSpPr/>
          <p:nvPr/>
        </p:nvSpPr>
        <p:spPr>
          <a:xfrm>
            <a:off x="550069" y="3618979"/>
            <a:ext cx="2450400" cy="155400"/>
          </a:xfrm>
          <a:prstGeom prst="rect">
            <a:avLst/>
          </a:prstGeom>
          <a:noFill/>
          <a:ln>
            <a:noFill/>
          </a:ln>
        </p:spPr>
        <p:txBody>
          <a:bodyPr spcFirstLastPara="1" wrap="square" lIns="0" tIns="0" rIns="0" bIns="0" anchor="t" anchorCtr="0">
            <a:noAutofit/>
          </a:bodyPr>
          <a:lstStyle/>
          <a:p>
            <a:pPr marL="0" marR="0" lvl="0" indent="0" algn="l" rtl="0">
              <a:lnSpc>
                <a:spcPct val="140306"/>
              </a:lnSpc>
              <a:spcBef>
                <a:spcPts val="0"/>
              </a:spcBef>
              <a:spcAft>
                <a:spcPts val="0"/>
              </a:spcAft>
              <a:buClr>
                <a:srgbClr val="000000"/>
              </a:buClr>
              <a:buSzPts val="784"/>
              <a:buFont typeface="Calibri"/>
              <a:buNone/>
            </a:pPr>
            <a:r>
              <a:rPr lang="en-US" sz="784" b="1">
                <a:solidFill>
                  <a:srgbClr val="000000"/>
                </a:solidFill>
                <a:latin typeface="Calibri"/>
                <a:ea typeface="Calibri"/>
                <a:cs typeface="Calibri"/>
                <a:sym typeface="Calibri"/>
              </a:rPr>
              <a:t>IT &amp; SaaS (B2B)</a:t>
            </a:r>
            <a:endParaRPr sz="784">
              <a:solidFill>
                <a:schemeClr val="dk1"/>
              </a:solidFill>
              <a:latin typeface="Calibri"/>
              <a:ea typeface="Calibri"/>
              <a:cs typeface="Calibri"/>
              <a:sym typeface="Calibri"/>
            </a:endParaRPr>
          </a:p>
        </p:txBody>
      </p:sp>
      <p:sp>
        <p:nvSpPr>
          <p:cNvPr id="444" name="Google Shape;444;p22"/>
          <p:cNvSpPr/>
          <p:nvPr/>
        </p:nvSpPr>
        <p:spPr>
          <a:xfrm>
            <a:off x="550069" y="3774356"/>
            <a:ext cx="2450400" cy="5487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a:solidFill>
                  <a:schemeClr val="tx1"/>
                </a:solidFill>
                <a:latin typeface="Calibri"/>
                <a:ea typeface="Calibri"/>
                <a:cs typeface="Calibri"/>
                <a:sym typeface="Calibri"/>
              </a:rPr>
              <a:t>Focus on specialized, high-value lead generation.</a:t>
            </a:r>
            <a:endParaRPr sz="1269">
              <a:solidFill>
                <a:schemeClr val="tx1"/>
              </a:solidFill>
              <a:latin typeface="Calibri"/>
              <a:ea typeface="Calibri"/>
              <a:cs typeface="Calibri"/>
              <a:sym typeface="Calibri"/>
            </a:endParaRPr>
          </a:p>
        </p:txBody>
      </p:sp>
      <p:sp>
        <p:nvSpPr>
          <p:cNvPr id="446" name="Google Shape;446;p22"/>
          <p:cNvSpPr/>
          <p:nvPr/>
        </p:nvSpPr>
        <p:spPr>
          <a:xfrm>
            <a:off x="3286125" y="2305645"/>
            <a:ext cx="1566600" cy="140700"/>
          </a:xfrm>
          <a:prstGeom prst="rect">
            <a:avLst/>
          </a:prstGeom>
          <a:noFill/>
          <a:ln>
            <a:noFill/>
          </a:ln>
        </p:spPr>
        <p:txBody>
          <a:bodyPr spcFirstLastPara="1" wrap="square" lIns="0" tIns="0" rIns="0" bIns="0" anchor="t" anchorCtr="0">
            <a:noAutofit/>
          </a:bodyPr>
          <a:lstStyle/>
          <a:p>
            <a:pPr marL="0" marR="0" lvl="0" indent="0" algn="l" rtl="0">
              <a:lnSpc>
                <a:spcPct val="56250"/>
              </a:lnSpc>
              <a:spcBef>
                <a:spcPts val="0"/>
              </a:spcBef>
              <a:spcAft>
                <a:spcPts val="0"/>
              </a:spcAft>
              <a:buClr>
                <a:srgbClr val="FF5F00"/>
              </a:buClr>
              <a:buSzPts val="1600"/>
              <a:buFont typeface="Calibri"/>
              <a:buNone/>
            </a:pPr>
            <a:r>
              <a:rPr lang="en-US" sz="1600" b="1">
                <a:solidFill>
                  <a:srgbClr val="FF5F00"/>
                </a:solidFill>
                <a:latin typeface="Calibri"/>
                <a:ea typeface="Calibri"/>
                <a:cs typeface="Calibri"/>
                <a:sym typeface="Calibri"/>
              </a:rPr>
              <a:t>Treatment Groups</a:t>
            </a:r>
            <a:endParaRPr sz="1600">
              <a:solidFill>
                <a:schemeClr val="dk1"/>
              </a:solidFill>
              <a:latin typeface="Calibri"/>
              <a:ea typeface="Calibri"/>
              <a:cs typeface="Calibri"/>
              <a:sym typeface="Calibri"/>
            </a:endParaRPr>
          </a:p>
        </p:txBody>
      </p:sp>
      <p:sp>
        <p:nvSpPr>
          <p:cNvPr id="447" name="Google Shape;447;p22"/>
          <p:cNvSpPr/>
          <p:nvPr/>
        </p:nvSpPr>
        <p:spPr>
          <a:xfrm>
            <a:off x="3286125" y="2444948"/>
            <a:ext cx="2571900" cy="219900"/>
          </a:xfrm>
          <a:prstGeom prst="rect">
            <a:avLst/>
          </a:prstGeom>
          <a:noFill/>
          <a:ln>
            <a:noFill/>
          </a:ln>
        </p:spPr>
        <p:txBody>
          <a:bodyPr spcFirstLastPara="1" wrap="square" lIns="0" tIns="0" rIns="0" bIns="0" anchor="t" anchorCtr="0">
            <a:noAutofit/>
          </a:bodyPr>
          <a:lstStyle/>
          <a:p>
            <a:pPr marL="0" marR="0" lvl="0" indent="0" algn="l" rtl="0">
              <a:lnSpc>
                <a:spcPct val="121689"/>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Conditions</a:t>
            </a:r>
            <a:endParaRPr sz="1397">
              <a:solidFill>
                <a:schemeClr val="dk1"/>
              </a:solidFill>
              <a:latin typeface="Calibri"/>
              <a:ea typeface="Calibri"/>
              <a:cs typeface="Calibri"/>
              <a:sym typeface="Calibri"/>
            </a:endParaRPr>
          </a:p>
        </p:txBody>
      </p:sp>
      <p:sp>
        <p:nvSpPr>
          <p:cNvPr id="448" name="Google Shape;448;p22"/>
          <p:cNvSpPr/>
          <p:nvPr/>
        </p:nvSpPr>
        <p:spPr>
          <a:xfrm>
            <a:off x="3407569" y="2807829"/>
            <a:ext cx="2450400" cy="155400"/>
          </a:xfrm>
          <a:prstGeom prst="rect">
            <a:avLst/>
          </a:prstGeom>
          <a:noFill/>
          <a:ln>
            <a:noFill/>
          </a:ln>
        </p:spPr>
        <p:txBody>
          <a:bodyPr spcFirstLastPara="1" wrap="square" lIns="0" tIns="0" rIns="0" bIns="0" anchor="t" anchorCtr="0">
            <a:noAutofit/>
          </a:bodyPr>
          <a:lstStyle/>
          <a:p>
            <a:pPr marL="0" marR="0" lvl="0" indent="0" algn="l" rtl="0">
              <a:lnSpc>
                <a:spcPct val="140306"/>
              </a:lnSpc>
              <a:spcBef>
                <a:spcPts val="0"/>
              </a:spcBef>
              <a:spcAft>
                <a:spcPts val="0"/>
              </a:spcAft>
              <a:buClr>
                <a:srgbClr val="000000"/>
              </a:buClr>
              <a:buSzPts val="784"/>
              <a:buFont typeface="Calibri"/>
              <a:buNone/>
            </a:pPr>
            <a:r>
              <a:rPr lang="en-US" sz="784" b="1">
                <a:solidFill>
                  <a:srgbClr val="000000"/>
                </a:solidFill>
                <a:latin typeface="Calibri"/>
                <a:ea typeface="Calibri"/>
                <a:cs typeface="Calibri"/>
                <a:sym typeface="Calibri"/>
              </a:rPr>
              <a:t>Best CS PPLM</a:t>
            </a:r>
            <a:endParaRPr sz="784">
              <a:solidFill>
                <a:schemeClr val="dk1"/>
              </a:solidFill>
              <a:latin typeface="Calibri"/>
              <a:ea typeface="Calibri"/>
              <a:cs typeface="Calibri"/>
              <a:sym typeface="Calibri"/>
            </a:endParaRPr>
          </a:p>
        </p:txBody>
      </p:sp>
      <p:sp>
        <p:nvSpPr>
          <p:cNvPr id="449" name="Google Shape;449;p22"/>
          <p:cNvSpPr/>
          <p:nvPr/>
        </p:nvSpPr>
        <p:spPr>
          <a:xfrm>
            <a:off x="3407569" y="2963205"/>
            <a:ext cx="2450400" cy="5487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dirty="0">
                <a:solidFill>
                  <a:schemeClr val="tx1"/>
                </a:solidFill>
                <a:latin typeface="Calibri"/>
                <a:ea typeface="Calibri"/>
                <a:cs typeface="Calibri"/>
                <a:sym typeface="Calibri"/>
              </a:rPr>
              <a:t>Top-ranked ad from the proposed AI workflow.</a:t>
            </a:r>
            <a:endParaRPr sz="1269" dirty="0">
              <a:solidFill>
                <a:schemeClr val="tx1"/>
              </a:solidFill>
              <a:latin typeface="Calibri"/>
              <a:ea typeface="Calibri"/>
              <a:cs typeface="Calibri"/>
              <a:sym typeface="Calibri"/>
            </a:endParaRPr>
          </a:p>
        </p:txBody>
      </p:sp>
      <p:sp>
        <p:nvSpPr>
          <p:cNvPr id="450" name="Google Shape;450;p22"/>
          <p:cNvSpPr/>
          <p:nvPr/>
        </p:nvSpPr>
        <p:spPr>
          <a:xfrm>
            <a:off x="3407569" y="3618979"/>
            <a:ext cx="2450400" cy="155400"/>
          </a:xfrm>
          <a:prstGeom prst="rect">
            <a:avLst/>
          </a:prstGeom>
          <a:noFill/>
          <a:ln>
            <a:noFill/>
          </a:ln>
        </p:spPr>
        <p:txBody>
          <a:bodyPr spcFirstLastPara="1" wrap="square" lIns="0" tIns="0" rIns="0" bIns="0" anchor="t" anchorCtr="0">
            <a:noAutofit/>
          </a:bodyPr>
          <a:lstStyle/>
          <a:p>
            <a:pPr marL="0" marR="0" lvl="0" indent="0" algn="l" rtl="0">
              <a:lnSpc>
                <a:spcPct val="140306"/>
              </a:lnSpc>
              <a:spcBef>
                <a:spcPts val="0"/>
              </a:spcBef>
              <a:spcAft>
                <a:spcPts val="0"/>
              </a:spcAft>
              <a:buClr>
                <a:srgbClr val="000000"/>
              </a:buClr>
              <a:buSzPts val="784"/>
              <a:buFont typeface="Calibri"/>
              <a:buNone/>
            </a:pPr>
            <a:r>
              <a:rPr lang="en-US" sz="784" b="1">
                <a:solidFill>
                  <a:srgbClr val="000000"/>
                </a:solidFill>
                <a:latin typeface="Calibri"/>
                <a:ea typeface="Calibri"/>
                <a:cs typeface="Calibri"/>
                <a:sym typeface="Calibri"/>
              </a:rPr>
              <a:t>Human Specific</a:t>
            </a:r>
            <a:endParaRPr sz="784">
              <a:solidFill>
                <a:schemeClr val="dk1"/>
              </a:solidFill>
              <a:latin typeface="Calibri"/>
              <a:ea typeface="Calibri"/>
              <a:cs typeface="Calibri"/>
              <a:sym typeface="Calibri"/>
            </a:endParaRPr>
          </a:p>
        </p:txBody>
      </p:sp>
      <p:sp>
        <p:nvSpPr>
          <p:cNvPr id="451" name="Google Shape;451;p22"/>
          <p:cNvSpPr/>
          <p:nvPr/>
        </p:nvSpPr>
        <p:spPr>
          <a:xfrm>
            <a:off x="3407569" y="3774356"/>
            <a:ext cx="2450400" cy="5487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a:solidFill>
                  <a:schemeClr val="tx1"/>
                </a:solidFill>
                <a:latin typeface="Calibri"/>
                <a:ea typeface="Calibri"/>
                <a:cs typeface="Calibri"/>
                <a:sym typeface="Calibri"/>
              </a:rPr>
              <a:t>Ads crafted by experts for specific keywords.</a:t>
            </a:r>
            <a:endParaRPr sz="1269">
              <a:solidFill>
                <a:schemeClr val="tx1"/>
              </a:solidFill>
              <a:latin typeface="Calibri"/>
              <a:ea typeface="Calibri"/>
              <a:cs typeface="Calibri"/>
              <a:sym typeface="Calibri"/>
            </a:endParaRPr>
          </a:p>
        </p:txBody>
      </p:sp>
      <p:sp>
        <p:nvSpPr>
          <p:cNvPr id="452" name="Google Shape;452;p22"/>
          <p:cNvSpPr/>
          <p:nvPr/>
        </p:nvSpPr>
        <p:spPr>
          <a:xfrm>
            <a:off x="3407569" y="4430130"/>
            <a:ext cx="2450400" cy="155400"/>
          </a:xfrm>
          <a:prstGeom prst="rect">
            <a:avLst/>
          </a:prstGeom>
          <a:noFill/>
          <a:ln>
            <a:noFill/>
          </a:ln>
        </p:spPr>
        <p:txBody>
          <a:bodyPr spcFirstLastPara="1" wrap="square" lIns="0" tIns="0" rIns="0" bIns="0" anchor="t" anchorCtr="0">
            <a:noAutofit/>
          </a:bodyPr>
          <a:lstStyle/>
          <a:p>
            <a:pPr marL="0" marR="0" lvl="0" indent="0" algn="l" rtl="0">
              <a:lnSpc>
                <a:spcPct val="140306"/>
              </a:lnSpc>
              <a:spcBef>
                <a:spcPts val="0"/>
              </a:spcBef>
              <a:spcAft>
                <a:spcPts val="0"/>
              </a:spcAft>
              <a:buClr>
                <a:srgbClr val="000000"/>
              </a:buClr>
              <a:buSzPts val="784"/>
              <a:buFont typeface="Calibri"/>
              <a:buNone/>
            </a:pPr>
            <a:r>
              <a:rPr lang="en-US" sz="784" b="1">
                <a:solidFill>
                  <a:srgbClr val="000000"/>
                </a:solidFill>
                <a:latin typeface="Calibri"/>
                <a:ea typeface="Calibri"/>
                <a:cs typeface="Calibri"/>
                <a:sym typeface="Calibri"/>
              </a:rPr>
              <a:t>Human Conventional</a:t>
            </a:r>
            <a:endParaRPr sz="784">
              <a:solidFill>
                <a:schemeClr val="dk1"/>
              </a:solidFill>
              <a:latin typeface="Calibri"/>
              <a:ea typeface="Calibri"/>
              <a:cs typeface="Calibri"/>
              <a:sym typeface="Calibri"/>
            </a:endParaRPr>
          </a:p>
        </p:txBody>
      </p:sp>
      <p:sp>
        <p:nvSpPr>
          <p:cNvPr id="453" name="Google Shape;453;p22"/>
          <p:cNvSpPr/>
          <p:nvPr/>
        </p:nvSpPr>
        <p:spPr>
          <a:xfrm>
            <a:off x="3407569" y="4585506"/>
            <a:ext cx="2450400" cy="5487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a:solidFill>
                  <a:schemeClr val="tx1"/>
                </a:solidFill>
                <a:latin typeface="Calibri"/>
                <a:ea typeface="Calibri"/>
                <a:cs typeface="Calibri"/>
                <a:sym typeface="Calibri"/>
              </a:rPr>
              <a:t>Standard "business-as-usual" ad copy.</a:t>
            </a:r>
            <a:endParaRPr sz="1269">
              <a:solidFill>
                <a:schemeClr val="tx1"/>
              </a:solidFill>
              <a:latin typeface="Calibri"/>
              <a:ea typeface="Calibri"/>
              <a:cs typeface="Calibri"/>
              <a:sym typeface="Calibri"/>
            </a:endParaRPr>
          </a:p>
        </p:txBody>
      </p:sp>
      <p:sp>
        <p:nvSpPr>
          <p:cNvPr id="454" name="Google Shape;454;p22"/>
          <p:cNvSpPr/>
          <p:nvPr/>
        </p:nvSpPr>
        <p:spPr>
          <a:xfrm>
            <a:off x="6143625" y="2305645"/>
            <a:ext cx="1518600" cy="140700"/>
          </a:xfrm>
          <a:prstGeom prst="rect">
            <a:avLst/>
          </a:prstGeom>
          <a:noFill/>
          <a:ln>
            <a:noFill/>
          </a:ln>
        </p:spPr>
        <p:txBody>
          <a:bodyPr spcFirstLastPara="1" wrap="square" lIns="0" tIns="0" rIns="0" bIns="0" anchor="t" anchorCtr="0">
            <a:noAutofit/>
          </a:bodyPr>
          <a:lstStyle/>
          <a:p>
            <a:pPr marL="0" marR="0" lvl="0" indent="0" algn="l" rtl="0">
              <a:lnSpc>
                <a:spcPct val="56250"/>
              </a:lnSpc>
              <a:spcBef>
                <a:spcPts val="0"/>
              </a:spcBef>
              <a:spcAft>
                <a:spcPts val="0"/>
              </a:spcAft>
              <a:buClr>
                <a:srgbClr val="FF5F00"/>
              </a:buClr>
              <a:buSzPts val="1600"/>
              <a:buFont typeface="Calibri"/>
              <a:buNone/>
            </a:pPr>
            <a:r>
              <a:rPr lang="en-US" sz="1600" b="1">
                <a:solidFill>
                  <a:srgbClr val="FF5F00"/>
                </a:solidFill>
                <a:latin typeface="Calibri"/>
                <a:ea typeface="Calibri"/>
                <a:cs typeface="Calibri"/>
                <a:sym typeface="Calibri"/>
              </a:rPr>
              <a:t>Control &amp; Bidding</a:t>
            </a:r>
            <a:endParaRPr sz="1600">
              <a:solidFill>
                <a:schemeClr val="dk1"/>
              </a:solidFill>
              <a:latin typeface="Calibri"/>
              <a:ea typeface="Calibri"/>
              <a:cs typeface="Calibri"/>
              <a:sym typeface="Calibri"/>
            </a:endParaRPr>
          </a:p>
        </p:txBody>
      </p:sp>
      <p:sp>
        <p:nvSpPr>
          <p:cNvPr id="455" name="Google Shape;455;p22"/>
          <p:cNvSpPr/>
          <p:nvPr/>
        </p:nvSpPr>
        <p:spPr>
          <a:xfrm>
            <a:off x="6143625" y="2444948"/>
            <a:ext cx="2571900" cy="219900"/>
          </a:xfrm>
          <a:prstGeom prst="rect">
            <a:avLst/>
          </a:prstGeom>
          <a:noFill/>
          <a:ln>
            <a:noFill/>
          </a:ln>
        </p:spPr>
        <p:txBody>
          <a:bodyPr spcFirstLastPara="1" wrap="square" lIns="0" tIns="0" rIns="0" bIns="0" anchor="t" anchorCtr="0">
            <a:noAutofit/>
          </a:bodyPr>
          <a:lstStyle/>
          <a:p>
            <a:pPr marL="0" marR="0" lvl="0" indent="0" algn="l" rtl="0">
              <a:lnSpc>
                <a:spcPct val="121689"/>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Methodology</a:t>
            </a:r>
            <a:endParaRPr sz="1397">
              <a:solidFill>
                <a:schemeClr val="dk1"/>
              </a:solidFill>
              <a:latin typeface="Calibri"/>
              <a:ea typeface="Calibri"/>
              <a:cs typeface="Calibri"/>
              <a:sym typeface="Calibri"/>
            </a:endParaRPr>
          </a:p>
        </p:txBody>
      </p:sp>
      <p:sp>
        <p:nvSpPr>
          <p:cNvPr id="456" name="Google Shape;456;p22"/>
          <p:cNvSpPr/>
          <p:nvPr/>
        </p:nvSpPr>
        <p:spPr>
          <a:xfrm>
            <a:off x="6143625" y="2807829"/>
            <a:ext cx="2571900" cy="13716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a:solidFill>
                  <a:schemeClr val="tx1"/>
                </a:solidFill>
                <a:latin typeface="Calibri"/>
                <a:ea typeface="Calibri"/>
                <a:cs typeface="Calibri"/>
                <a:sym typeface="Calibri"/>
              </a:rPr>
              <a:t>To ensure a fair comparison of content quality, all conditions utilized an automated </a:t>
            </a:r>
            <a:r>
              <a:rPr lang="en-US" sz="1193">
                <a:solidFill>
                  <a:schemeClr val="tx1"/>
                </a:solidFill>
                <a:latin typeface="Calibri"/>
                <a:ea typeface="Calibri"/>
                <a:cs typeface="Calibri"/>
                <a:sym typeface="Calibri"/>
              </a:rPr>
              <a:t>"Maximize Clicks"</a:t>
            </a:r>
            <a:r>
              <a:rPr lang="en-US" sz="1269">
                <a:solidFill>
                  <a:schemeClr val="tx1"/>
                </a:solidFill>
                <a:latin typeface="Calibri"/>
                <a:ea typeface="Calibri"/>
                <a:cs typeface="Calibri"/>
                <a:sym typeface="Calibri"/>
              </a:rPr>
              <a:t> bidding strategy.</a:t>
            </a:r>
            <a:endParaRPr sz="1269">
              <a:solidFill>
                <a:schemeClr val="tx1"/>
              </a:solidFill>
              <a:latin typeface="Calibri"/>
              <a:ea typeface="Calibri"/>
              <a:cs typeface="Calibri"/>
              <a:sym typeface="Calibri"/>
            </a:endParaRPr>
          </a:p>
        </p:txBody>
      </p:sp>
      <p:sp>
        <p:nvSpPr>
          <p:cNvPr id="457" name="Google Shape;457;p22"/>
          <p:cNvSpPr/>
          <p:nvPr/>
        </p:nvSpPr>
        <p:spPr>
          <a:xfrm>
            <a:off x="6143475" y="3762756"/>
            <a:ext cx="2571900" cy="10971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dirty="0">
                <a:solidFill>
                  <a:schemeClr val="tx1"/>
                </a:solidFill>
                <a:latin typeface="Calibri"/>
                <a:ea typeface="Calibri"/>
                <a:cs typeface="Calibri"/>
                <a:sym typeface="Calibri"/>
              </a:rPr>
              <a:t>This isolated the impact of ad copy on visibility (impressions) and engagement (clicks) within the live auction.</a:t>
            </a:r>
            <a:endParaRPr sz="1269" dirty="0">
              <a:solidFill>
                <a:schemeClr val="tx1"/>
              </a:solidFill>
              <a:latin typeface="Calibri"/>
              <a:ea typeface="Calibri"/>
              <a:cs typeface="Calibri"/>
              <a:sym typeface="Calibri"/>
            </a:endParaRPr>
          </a:p>
        </p:txBody>
      </p:sp>
      <p:sp>
        <p:nvSpPr>
          <p:cNvPr id="2" name="Google Shape;442;p22"/>
          <p:cNvSpPr/>
          <p:nvPr/>
        </p:nvSpPr>
        <p:spPr>
          <a:xfrm>
            <a:off x="550069" y="2963205"/>
            <a:ext cx="2450400" cy="5487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dirty="0">
                <a:solidFill>
                  <a:schemeClr val="tx1"/>
                </a:solidFill>
                <a:latin typeface="Calibri"/>
                <a:ea typeface="Calibri"/>
                <a:cs typeface="Calibri"/>
                <a:sym typeface="Calibri"/>
              </a:rPr>
              <a:t>Focus on high-volume consumer search intent.</a:t>
            </a:r>
            <a:endParaRPr sz="1269" dirty="0">
              <a:solidFill>
                <a:schemeClr val="tx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4" name="Google Shape;464;p23"/>
          <p:cNvSpPr/>
          <p:nvPr/>
        </p:nvSpPr>
        <p:spPr>
          <a:xfrm>
            <a:off x="4998261" y="1648560"/>
            <a:ext cx="4136700" cy="34950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5" name="Google Shape;465;p23"/>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6" name="Google Shape;466;p23"/>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The Saturation Effect: Interaction with Optimized LPs</a:t>
            </a:r>
            <a:endParaRPr sz="2862">
              <a:solidFill>
                <a:schemeClr val="dk1"/>
              </a:solidFill>
              <a:latin typeface="Calibri"/>
              <a:ea typeface="Calibri"/>
              <a:cs typeface="Calibri"/>
              <a:sym typeface="Calibri"/>
            </a:endParaRPr>
          </a:p>
        </p:txBody>
      </p:sp>
      <p:sp>
        <p:nvSpPr>
          <p:cNvPr id="467" name="Google Shape;467;p23"/>
          <p:cNvSpPr/>
          <p:nvPr/>
        </p:nvSpPr>
        <p:spPr>
          <a:xfrm>
            <a:off x="428625" y="1875234"/>
            <a:ext cx="38505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Boundary Condition</a:t>
            </a:r>
            <a:endParaRPr sz="1499">
              <a:solidFill>
                <a:schemeClr val="dk1"/>
              </a:solidFill>
              <a:latin typeface="Calibri"/>
              <a:ea typeface="Calibri"/>
              <a:cs typeface="Calibri"/>
              <a:sym typeface="Calibri"/>
            </a:endParaRPr>
          </a:p>
        </p:txBody>
      </p:sp>
      <p:sp>
        <p:nvSpPr>
          <p:cNvPr id="468" name="Google Shape;468;p23"/>
          <p:cNvSpPr/>
          <p:nvPr/>
        </p:nvSpPr>
        <p:spPr>
          <a:xfrm>
            <a:off x="428626" y="2309217"/>
            <a:ext cx="3792600" cy="21390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9" name="Google Shape;469;p23"/>
          <p:cNvSpPr/>
          <p:nvPr/>
        </p:nvSpPr>
        <p:spPr>
          <a:xfrm>
            <a:off x="571500" y="2452092"/>
            <a:ext cx="35646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FFFF"/>
              </a:buClr>
              <a:buSzPts val="1499"/>
              <a:buFont typeface="Calibri"/>
              <a:buNone/>
            </a:pPr>
            <a:r>
              <a:rPr lang="en-US" sz="1499" b="1">
                <a:solidFill>
                  <a:srgbClr val="FFFFFF"/>
                </a:solidFill>
                <a:latin typeface="Calibri"/>
                <a:ea typeface="Calibri"/>
                <a:cs typeface="Calibri"/>
                <a:sym typeface="Calibri"/>
              </a:rPr>
              <a:t>Saturation Effect</a:t>
            </a:r>
            <a:endParaRPr sz="1499">
              <a:solidFill>
                <a:schemeClr val="dk1"/>
              </a:solidFill>
              <a:latin typeface="Calibri"/>
              <a:ea typeface="Calibri"/>
              <a:cs typeface="Calibri"/>
              <a:sym typeface="Calibri"/>
            </a:endParaRPr>
          </a:p>
        </p:txBody>
      </p:sp>
      <p:sp>
        <p:nvSpPr>
          <p:cNvPr id="470" name="Google Shape;470;p23"/>
          <p:cNvSpPr/>
          <p:nvPr/>
        </p:nvSpPr>
        <p:spPr>
          <a:xfrm>
            <a:off x="571500" y="2814638"/>
            <a:ext cx="3564600" cy="1249500"/>
          </a:xfrm>
          <a:prstGeom prst="rect">
            <a:avLst/>
          </a:prstGeom>
          <a:noFill/>
          <a:ln>
            <a:noFill/>
          </a:ln>
        </p:spPr>
        <p:txBody>
          <a:bodyPr spcFirstLastPara="1" wrap="square" lIns="0" tIns="0" rIns="0" bIns="0" anchor="t" anchorCtr="0">
            <a:noAutofit/>
          </a:bodyPr>
          <a:lstStyle/>
          <a:p>
            <a:pPr marL="0" marR="0" lvl="0" indent="0" algn="l" rtl="0">
              <a:lnSpc>
                <a:spcPct val="208333"/>
              </a:lnSpc>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The phenomenon where the incremental performance gains from AI-optimized ads diminish when the target landing page (LP) is already highly optimized by machine SEO tools.</a:t>
            </a:r>
            <a:endParaRPr sz="1200">
              <a:solidFill>
                <a:schemeClr val="dk1"/>
              </a:solidFill>
              <a:latin typeface="Calibri"/>
              <a:ea typeface="Calibri"/>
              <a:cs typeface="Calibri"/>
              <a:sym typeface="Calibri"/>
            </a:endParaRPr>
          </a:p>
        </p:txBody>
      </p:sp>
      <p:sp>
        <p:nvSpPr>
          <p:cNvPr id="471" name="Google Shape;471;p23"/>
          <p:cNvSpPr/>
          <p:nvPr/>
        </p:nvSpPr>
        <p:spPr>
          <a:xfrm>
            <a:off x="2834189" y="775242"/>
            <a:ext cx="3850500" cy="297000"/>
          </a:xfrm>
          <a:prstGeom prst="rect">
            <a:avLst/>
          </a:prstGeom>
          <a:noFill/>
          <a:ln>
            <a:noFill/>
          </a:ln>
        </p:spPr>
        <p:txBody>
          <a:bodyPr spcFirstLastPara="1" wrap="square" lIns="0" tIns="0" rIns="0" bIns="0" anchor="t" anchorCtr="0">
            <a:noAutofit/>
          </a:bodyPr>
          <a:lstStyle/>
          <a:p>
            <a:pPr marL="0" marR="0" lvl="0" indent="0" algn="l" rtl="0">
              <a:lnSpc>
                <a:spcPct val="245454"/>
              </a:lnSpc>
              <a:spcBef>
                <a:spcPts val="0"/>
              </a:spcBef>
              <a:spcAft>
                <a:spcPts val="0"/>
              </a:spcAft>
              <a:buClr>
                <a:schemeClr val="dk1"/>
              </a:buClr>
              <a:buSzPts val="1100"/>
              <a:buFont typeface="Calibri"/>
              <a:buNone/>
            </a:pPr>
            <a:endParaRPr sz="1100">
              <a:solidFill>
                <a:schemeClr val="dk1"/>
              </a:solidFill>
              <a:latin typeface="Calibri"/>
              <a:ea typeface="Calibri"/>
              <a:cs typeface="Calibri"/>
              <a:sym typeface="Calibri"/>
            </a:endParaRPr>
          </a:p>
        </p:txBody>
      </p:sp>
      <p:sp>
        <p:nvSpPr>
          <p:cNvPr id="472" name="Google Shape;472;p23"/>
          <p:cNvSpPr/>
          <p:nvPr/>
        </p:nvSpPr>
        <p:spPr>
          <a:xfrm>
            <a:off x="5119007" y="1775221"/>
            <a:ext cx="38577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Empirical Evidence</a:t>
            </a:r>
            <a:endParaRPr sz="1499">
              <a:solidFill>
                <a:schemeClr val="dk1"/>
              </a:solidFill>
              <a:latin typeface="Calibri"/>
              <a:ea typeface="Calibri"/>
              <a:cs typeface="Calibri"/>
              <a:sym typeface="Calibri"/>
            </a:endParaRPr>
          </a:p>
        </p:txBody>
      </p:sp>
      <p:sp>
        <p:nvSpPr>
          <p:cNvPr id="473" name="Google Shape;473;p23"/>
          <p:cNvSpPr/>
          <p:nvPr/>
        </p:nvSpPr>
        <p:spPr>
          <a:xfrm>
            <a:off x="5119007" y="2280642"/>
            <a:ext cx="1671300" cy="192300"/>
          </a:xfrm>
          <a:prstGeom prst="rect">
            <a:avLst/>
          </a:prstGeom>
          <a:noFill/>
          <a:ln>
            <a:noFill/>
          </a:ln>
        </p:spPr>
        <p:txBody>
          <a:bodyPr spcFirstLastPara="1" wrap="square" lIns="0" tIns="0" rIns="0" bIns="0" anchor="t" anchorCtr="0">
            <a:noAutofit/>
          </a:bodyPr>
          <a:lstStyle/>
          <a:p>
            <a:pPr marL="0" marR="0" lvl="0" indent="0" algn="l" rtl="0">
              <a:lnSpc>
                <a:spcPct val="107142"/>
              </a:lnSpc>
              <a:spcBef>
                <a:spcPts val="0"/>
              </a:spcBef>
              <a:spcAft>
                <a:spcPts val="0"/>
              </a:spcAft>
              <a:buClr>
                <a:srgbClr val="0047AB"/>
              </a:buClr>
              <a:buSzPts val="1400"/>
              <a:buFont typeface="Calibri"/>
              <a:buNone/>
            </a:pPr>
            <a:r>
              <a:rPr lang="en-US" sz="1400" b="1">
                <a:solidFill>
                  <a:srgbClr val="0047AB"/>
                </a:solidFill>
                <a:latin typeface="Calibri"/>
                <a:ea typeface="Calibri"/>
                <a:cs typeface="Calibri"/>
                <a:sym typeface="Calibri"/>
              </a:rPr>
              <a:t>Lower Incremental Lift</a:t>
            </a:r>
            <a:endParaRPr sz="1400">
              <a:solidFill>
                <a:schemeClr val="dk1"/>
              </a:solidFill>
              <a:latin typeface="Calibri"/>
              <a:ea typeface="Calibri"/>
              <a:cs typeface="Calibri"/>
              <a:sym typeface="Calibri"/>
            </a:endParaRPr>
          </a:p>
        </p:txBody>
      </p:sp>
      <p:sp>
        <p:nvSpPr>
          <p:cNvPr id="474" name="Google Shape;474;p23"/>
          <p:cNvSpPr/>
          <p:nvPr/>
        </p:nvSpPr>
        <p:spPr>
          <a:xfrm>
            <a:off x="5119007" y="2530673"/>
            <a:ext cx="3857700" cy="5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AI ads paired with machine-optimized LPs showed significantly lower performance uplift compared to those paired with human-written LPs.</a:t>
            </a:r>
            <a:endParaRPr sz="1200">
              <a:solidFill>
                <a:schemeClr val="dk1"/>
              </a:solidFill>
              <a:latin typeface="Calibri"/>
              <a:ea typeface="Calibri"/>
              <a:cs typeface="Calibri"/>
              <a:sym typeface="Calibri"/>
            </a:endParaRPr>
          </a:p>
        </p:txBody>
      </p:sp>
      <p:sp>
        <p:nvSpPr>
          <p:cNvPr id="475" name="Google Shape;475;p23"/>
          <p:cNvSpPr/>
          <p:nvPr/>
        </p:nvSpPr>
        <p:spPr>
          <a:xfrm>
            <a:off x="5119006" y="3261639"/>
            <a:ext cx="1524600" cy="192300"/>
          </a:xfrm>
          <a:prstGeom prst="rect">
            <a:avLst/>
          </a:prstGeom>
          <a:noFill/>
          <a:ln>
            <a:noFill/>
          </a:ln>
        </p:spPr>
        <p:txBody>
          <a:bodyPr spcFirstLastPara="1" wrap="square" lIns="0" tIns="0" rIns="0" bIns="0" anchor="t" anchorCtr="0">
            <a:noAutofit/>
          </a:bodyPr>
          <a:lstStyle/>
          <a:p>
            <a:pPr marL="0" marR="0" lvl="0" indent="0" algn="l" rtl="0">
              <a:lnSpc>
                <a:spcPct val="107142"/>
              </a:lnSpc>
              <a:spcBef>
                <a:spcPts val="0"/>
              </a:spcBef>
              <a:spcAft>
                <a:spcPts val="0"/>
              </a:spcAft>
              <a:buClr>
                <a:srgbClr val="0047AB"/>
              </a:buClr>
              <a:buSzPts val="1400"/>
              <a:buFont typeface="Calibri"/>
              <a:buNone/>
            </a:pPr>
            <a:r>
              <a:rPr lang="en-US" sz="1400" b="1">
                <a:solidFill>
                  <a:srgbClr val="0047AB"/>
                </a:solidFill>
                <a:latin typeface="Calibri"/>
                <a:ea typeface="Calibri"/>
                <a:cs typeface="Calibri"/>
                <a:sym typeface="Calibri"/>
              </a:rPr>
              <a:t>Managerial Warning</a:t>
            </a:r>
            <a:endParaRPr sz="1400">
              <a:solidFill>
                <a:schemeClr val="dk1"/>
              </a:solidFill>
              <a:latin typeface="Calibri"/>
              <a:ea typeface="Calibri"/>
              <a:cs typeface="Calibri"/>
              <a:sym typeface="Calibri"/>
            </a:endParaRPr>
          </a:p>
        </p:txBody>
      </p:sp>
      <p:sp>
        <p:nvSpPr>
          <p:cNvPr id="476" name="Google Shape;476;p23"/>
          <p:cNvSpPr/>
          <p:nvPr/>
        </p:nvSpPr>
        <p:spPr>
          <a:xfrm>
            <a:off x="5119006" y="3571178"/>
            <a:ext cx="3857700" cy="5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Managers should be cautious about combining multiple generative LLMs for both ad writing and LP writing without monitoring for saturation.</a:t>
            </a:r>
            <a:endParaRPr sz="1200">
              <a:solidFill>
                <a:schemeClr val="dk1"/>
              </a:solidFill>
              <a:latin typeface="Calibri"/>
              <a:ea typeface="Calibri"/>
              <a:cs typeface="Calibri"/>
              <a:sym typeface="Calibri"/>
            </a:endParaRPr>
          </a:p>
        </p:txBody>
      </p:sp>
      <p:sp>
        <p:nvSpPr>
          <p:cNvPr id="477" name="Google Shape;477;p23"/>
          <p:cNvSpPr/>
          <p:nvPr/>
        </p:nvSpPr>
        <p:spPr>
          <a:xfrm>
            <a:off x="5119007" y="4270453"/>
            <a:ext cx="1540500" cy="192300"/>
          </a:xfrm>
          <a:prstGeom prst="rect">
            <a:avLst/>
          </a:prstGeom>
          <a:noFill/>
          <a:ln>
            <a:noFill/>
          </a:ln>
        </p:spPr>
        <p:txBody>
          <a:bodyPr spcFirstLastPara="1" wrap="square" lIns="0" tIns="0" rIns="0" bIns="0" anchor="t" anchorCtr="0">
            <a:noAutofit/>
          </a:bodyPr>
          <a:lstStyle/>
          <a:p>
            <a:pPr marL="0" marR="0" lvl="0" indent="0" algn="l" rtl="0">
              <a:lnSpc>
                <a:spcPct val="107142"/>
              </a:lnSpc>
              <a:spcBef>
                <a:spcPts val="0"/>
              </a:spcBef>
              <a:spcAft>
                <a:spcPts val="0"/>
              </a:spcAft>
              <a:buClr>
                <a:srgbClr val="0047AB"/>
              </a:buClr>
              <a:buSzPts val="1400"/>
              <a:buFont typeface="Calibri"/>
              <a:buNone/>
            </a:pPr>
            <a:r>
              <a:rPr lang="en-US" sz="1400" b="1" dirty="0">
                <a:solidFill>
                  <a:srgbClr val="0047AB"/>
                </a:solidFill>
                <a:latin typeface="Calibri"/>
                <a:ea typeface="Calibri"/>
                <a:cs typeface="Calibri"/>
                <a:sym typeface="Calibri"/>
              </a:rPr>
              <a:t>Strategic Implication</a:t>
            </a:r>
            <a:endParaRPr sz="1400" dirty="0">
              <a:solidFill>
                <a:schemeClr val="dk1"/>
              </a:solidFill>
              <a:latin typeface="Calibri"/>
              <a:ea typeface="Calibri"/>
              <a:cs typeface="Calibri"/>
              <a:sym typeface="Calibri"/>
            </a:endParaRPr>
          </a:p>
        </p:txBody>
      </p:sp>
      <p:sp>
        <p:nvSpPr>
          <p:cNvPr id="478" name="Google Shape;478;p23"/>
          <p:cNvSpPr/>
          <p:nvPr/>
        </p:nvSpPr>
        <p:spPr>
          <a:xfrm>
            <a:off x="5137836" y="4491782"/>
            <a:ext cx="3857700" cy="5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en-US" sz="1200" dirty="0">
                <a:solidFill>
                  <a:srgbClr val="333333"/>
                </a:solidFill>
                <a:latin typeface="Calibri"/>
                <a:ea typeface="Calibri"/>
                <a:cs typeface="Calibri"/>
                <a:sym typeface="Calibri"/>
              </a:rPr>
              <a:t>The greatest value of the PPLM workflow lies in optimizing campaigns for standard, non-machine-optimized web environments.</a:t>
            </a:r>
            <a:endParaRPr sz="1200" dirty="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24"/>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5" name="Google Shape;485;p24"/>
          <p:cNvSpPr/>
          <p:nvPr/>
        </p:nvSpPr>
        <p:spPr>
          <a:xfrm>
            <a:off x="4156351" y="1660922"/>
            <a:ext cx="4987500" cy="34827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6" name="Google Shape;486;p24"/>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7" name="Google Shape;487;p24"/>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Study 1 Results: Superiority of the AI Workflow</a:t>
            </a:r>
            <a:endParaRPr sz="2862">
              <a:solidFill>
                <a:schemeClr val="dk1"/>
              </a:solidFill>
              <a:latin typeface="Calibri"/>
              <a:ea typeface="Calibri"/>
              <a:cs typeface="Calibri"/>
              <a:sym typeface="Calibri"/>
            </a:endParaRPr>
          </a:p>
        </p:txBody>
      </p:sp>
      <p:sp>
        <p:nvSpPr>
          <p:cNvPr id="488" name="Google Shape;488;p24"/>
          <p:cNvSpPr/>
          <p:nvPr/>
        </p:nvSpPr>
        <p:spPr>
          <a:xfrm>
            <a:off x="428625" y="1946672"/>
            <a:ext cx="3434700" cy="5823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Significant Performance Lifts</a:t>
            </a:r>
            <a:endParaRPr sz="1499">
              <a:solidFill>
                <a:schemeClr val="dk1"/>
              </a:solidFill>
              <a:latin typeface="Calibri"/>
              <a:ea typeface="Calibri"/>
              <a:cs typeface="Calibri"/>
              <a:sym typeface="Calibri"/>
            </a:endParaRPr>
          </a:p>
        </p:txBody>
      </p:sp>
      <p:sp>
        <p:nvSpPr>
          <p:cNvPr id="489" name="Google Shape;489;p24"/>
          <p:cNvSpPr/>
          <p:nvPr/>
        </p:nvSpPr>
        <p:spPr>
          <a:xfrm>
            <a:off x="428624" y="2328863"/>
            <a:ext cx="3434700" cy="400200"/>
          </a:xfrm>
          <a:prstGeom prst="rect">
            <a:avLst/>
          </a:prstGeom>
          <a:noFill/>
          <a:ln>
            <a:noFill/>
          </a:ln>
        </p:spPr>
        <p:txBody>
          <a:bodyPr spcFirstLastPara="1" wrap="square" lIns="0" tIns="0" rIns="0" bIns="0" anchor="t" anchorCtr="0">
            <a:noAutofit/>
          </a:bodyPr>
          <a:lstStyle/>
          <a:p>
            <a:pPr marL="0" marR="0" lvl="0" indent="0" algn="l" rtl="0">
              <a:lnSpc>
                <a:spcPct val="111809"/>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+112%</a:t>
            </a:r>
            <a:endParaRPr sz="2862">
              <a:solidFill>
                <a:schemeClr val="dk1"/>
              </a:solidFill>
              <a:latin typeface="Calibri"/>
              <a:ea typeface="Calibri"/>
              <a:cs typeface="Calibri"/>
              <a:sym typeface="Calibri"/>
            </a:endParaRPr>
          </a:p>
        </p:txBody>
      </p:sp>
      <p:sp>
        <p:nvSpPr>
          <p:cNvPr id="490" name="Google Shape;490;p24"/>
          <p:cNvSpPr/>
          <p:nvPr/>
        </p:nvSpPr>
        <p:spPr>
          <a:xfrm>
            <a:off x="428624" y="2764631"/>
            <a:ext cx="3434700" cy="251700"/>
          </a:xfrm>
          <a:prstGeom prst="rect">
            <a:avLst/>
          </a:prstGeom>
          <a:noFill/>
          <a:ln>
            <a:noFill/>
          </a:ln>
        </p:spPr>
        <p:txBody>
          <a:bodyPr spcFirstLastPara="1" wrap="square" lIns="0" tIns="0" rIns="0" bIns="0" anchor="t" anchorCtr="0">
            <a:noAutofit/>
          </a:bodyPr>
          <a:lstStyle/>
          <a:p>
            <a:pPr marL="0" marR="0" lvl="0" indent="0" algn="l" rtl="0">
              <a:lnSpc>
                <a:spcPct val="138996"/>
              </a:lnSpc>
              <a:spcBef>
                <a:spcPts val="0"/>
              </a:spcBef>
              <a:spcAft>
                <a:spcPts val="0"/>
              </a:spcAft>
              <a:buClr>
                <a:srgbClr val="333333"/>
              </a:buClr>
              <a:buSzPts val="1295"/>
              <a:buFont typeface="Calibri"/>
              <a:buNone/>
            </a:pPr>
            <a:r>
              <a:rPr lang="en-US" sz="1295" b="1">
                <a:solidFill>
                  <a:srgbClr val="333333"/>
                </a:solidFill>
                <a:latin typeface="Calibri"/>
                <a:ea typeface="Calibri"/>
                <a:cs typeface="Calibri"/>
                <a:sym typeface="Calibri"/>
              </a:rPr>
              <a:t>Increase in Clicks</a:t>
            </a:r>
            <a:endParaRPr sz="1295">
              <a:solidFill>
                <a:schemeClr val="dk1"/>
              </a:solidFill>
              <a:latin typeface="Calibri"/>
              <a:ea typeface="Calibri"/>
              <a:cs typeface="Calibri"/>
              <a:sym typeface="Calibri"/>
            </a:endParaRPr>
          </a:p>
        </p:txBody>
      </p:sp>
      <p:sp>
        <p:nvSpPr>
          <p:cNvPr id="491" name="Google Shape;491;p24"/>
          <p:cNvSpPr/>
          <p:nvPr/>
        </p:nvSpPr>
        <p:spPr>
          <a:xfrm>
            <a:off x="428624" y="3052167"/>
            <a:ext cx="3434700" cy="214200"/>
          </a:xfrm>
          <a:prstGeom prst="rect">
            <a:avLst/>
          </a:prstGeom>
          <a:noFill/>
          <a:ln>
            <a:noFill/>
          </a:ln>
        </p:spPr>
        <p:txBody>
          <a:bodyPr spcFirstLastPara="1" wrap="square" lIns="0" tIns="0" rIns="0" bIns="0" anchor="t" anchorCtr="0">
            <a:noAutofit/>
          </a:bodyPr>
          <a:lstStyle/>
          <a:p>
            <a:pPr marL="0" marR="0" lvl="0" indent="0" algn="l" rtl="0">
              <a:lnSpc>
                <a:spcPct val="129421"/>
              </a:lnSpc>
              <a:spcBef>
                <a:spcPts val="0"/>
              </a:spcBef>
              <a:spcAft>
                <a:spcPts val="0"/>
              </a:spcAft>
              <a:buClr>
                <a:srgbClr val="666666"/>
              </a:buClr>
              <a:buSzPts val="1159"/>
              <a:buFont typeface="Calibri"/>
              <a:buNone/>
            </a:pPr>
            <a:r>
              <a:rPr lang="en-US" sz="1159">
                <a:solidFill>
                  <a:srgbClr val="666666"/>
                </a:solidFill>
                <a:latin typeface="Calibri"/>
                <a:ea typeface="Calibri"/>
                <a:cs typeface="Calibri"/>
                <a:sym typeface="Calibri"/>
              </a:rPr>
              <a:t>Education Sector (B2C)</a:t>
            </a:r>
            <a:endParaRPr sz="1159">
              <a:solidFill>
                <a:schemeClr val="dk1"/>
              </a:solidFill>
              <a:latin typeface="Calibri"/>
              <a:ea typeface="Calibri"/>
              <a:cs typeface="Calibri"/>
              <a:sym typeface="Calibri"/>
            </a:endParaRPr>
          </a:p>
        </p:txBody>
      </p:sp>
      <p:sp>
        <p:nvSpPr>
          <p:cNvPr id="492" name="Google Shape;492;p24"/>
          <p:cNvSpPr/>
          <p:nvPr/>
        </p:nvSpPr>
        <p:spPr>
          <a:xfrm>
            <a:off x="428625" y="3378993"/>
            <a:ext cx="3434700" cy="400200"/>
          </a:xfrm>
          <a:prstGeom prst="rect">
            <a:avLst/>
          </a:prstGeom>
          <a:noFill/>
          <a:ln>
            <a:noFill/>
          </a:ln>
        </p:spPr>
        <p:txBody>
          <a:bodyPr spcFirstLastPara="1" wrap="square" lIns="0" tIns="0" rIns="0" bIns="0" anchor="t" anchorCtr="0">
            <a:noAutofit/>
          </a:bodyPr>
          <a:lstStyle/>
          <a:p>
            <a:pPr marL="0" marR="0" lvl="0" indent="0" algn="l" rtl="0">
              <a:lnSpc>
                <a:spcPct val="111809"/>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+184%</a:t>
            </a:r>
            <a:endParaRPr sz="2862">
              <a:solidFill>
                <a:schemeClr val="dk1"/>
              </a:solidFill>
              <a:latin typeface="Calibri"/>
              <a:ea typeface="Calibri"/>
              <a:cs typeface="Calibri"/>
              <a:sym typeface="Calibri"/>
            </a:endParaRPr>
          </a:p>
        </p:txBody>
      </p:sp>
      <p:sp>
        <p:nvSpPr>
          <p:cNvPr id="493" name="Google Shape;493;p24"/>
          <p:cNvSpPr/>
          <p:nvPr/>
        </p:nvSpPr>
        <p:spPr>
          <a:xfrm>
            <a:off x="428625" y="3814761"/>
            <a:ext cx="3434700" cy="251700"/>
          </a:xfrm>
          <a:prstGeom prst="rect">
            <a:avLst/>
          </a:prstGeom>
          <a:noFill/>
          <a:ln>
            <a:noFill/>
          </a:ln>
        </p:spPr>
        <p:txBody>
          <a:bodyPr spcFirstLastPara="1" wrap="square" lIns="0" tIns="0" rIns="0" bIns="0" anchor="t" anchorCtr="0">
            <a:noAutofit/>
          </a:bodyPr>
          <a:lstStyle/>
          <a:p>
            <a:pPr marL="0" marR="0" lvl="0" indent="0" algn="l" rtl="0">
              <a:lnSpc>
                <a:spcPct val="138996"/>
              </a:lnSpc>
              <a:spcBef>
                <a:spcPts val="0"/>
              </a:spcBef>
              <a:spcAft>
                <a:spcPts val="0"/>
              </a:spcAft>
              <a:buClr>
                <a:srgbClr val="333333"/>
              </a:buClr>
              <a:buSzPts val="1295"/>
              <a:buFont typeface="Calibri"/>
              <a:buNone/>
            </a:pPr>
            <a:r>
              <a:rPr lang="en-US" sz="1295" b="1">
                <a:solidFill>
                  <a:srgbClr val="333333"/>
                </a:solidFill>
                <a:latin typeface="Calibri"/>
                <a:ea typeface="Calibri"/>
                <a:cs typeface="Calibri"/>
                <a:sym typeface="Calibri"/>
              </a:rPr>
              <a:t>Increase in Clicks</a:t>
            </a:r>
            <a:endParaRPr sz="1295">
              <a:solidFill>
                <a:schemeClr val="dk1"/>
              </a:solidFill>
              <a:latin typeface="Calibri"/>
              <a:ea typeface="Calibri"/>
              <a:cs typeface="Calibri"/>
              <a:sym typeface="Calibri"/>
            </a:endParaRPr>
          </a:p>
        </p:txBody>
      </p:sp>
      <p:sp>
        <p:nvSpPr>
          <p:cNvPr id="494" name="Google Shape;494;p24"/>
          <p:cNvSpPr/>
          <p:nvPr/>
        </p:nvSpPr>
        <p:spPr>
          <a:xfrm>
            <a:off x="428625" y="4102297"/>
            <a:ext cx="3434700" cy="214200"/>
          </a:xfrm>
          <a:prstGeom prst="rect">
            <a:avLst/>
          </a:prstGeom>
          <a:noFill/>
          <a:ln>
            <a:noFill/>
          </a:ln>
        </p:spPr>
        <p:txBody>
          <a:bodyPr spcFirstLastPara="1" wrap="square" lIns="0" tIns="0" rIns="0" bIns="0" anchor="t" anchorCtr="0">
            <a:noAutofit/>
          </a:bodyPr>
          <a:lstStyle/>
          <a:p>
            <a:pPr marL="0" marR="0" lvl="0" indent="0" algn="l" rtl="0">
              <a:lnSpc>
                <a:spcPct val="129421"/>
              </a:lnSpc>
              <a:spcBef>
                <a:spcPts val="0"/>
              </a:spcBef>
              <a:spcAft>
                <a:spcPts val="0"/>
              </a:spcAft>
              <a:buClr>
                <a:srgbClr val="666666"/>
              </a:buClr>
              <a:buSzPts val="1159"/>
              <a:buFont typeface="Calibri"/>
              <a:buNone/>
            </a:pPr>
            <a:r>
              <a:rPr lang="en-US" sz="1159">
                <a:solidFill>
                  <a:srgbClr val="666666"/>
                </a:solidFill>
                <a:latin typeface="Calibri"/>
                <a:ea typeface="Calibri"/>
                <a:cs typeface="Calibri"/>
                <a:sym typeface="Calibri"/>
              </a:rPr>
              <a:t>IT &amp; SaaS Sector (B2B)</a:t>
            </a:r>
            <a:endParaRPr sz="1159">
              <a:solidFill>
                <a:schemeClr val="dk1"/>
              </a:solidFill>
              <a:latin typeface="Calibri"/>
              <a:ea typeface="Calibri"/>
              <a:cs typeface="Calibri"/>
              <a:sym typeface="Calibri"/>
            </a:endParaRPr>
          </a:p>
        </p:txBody>
      </p:sp>
      <p:sp>
        <p:nvSpPr>
          <p:cNvPr id="495" name="Google Shape;495;p24"/>
          <p:cNvSpPr/>
          <p:nvPr/>
        </p:nvSpPr>
        <p:spPr>
          <a:xfrm>
            <a:off x="428625" y="4404121"/>
            <a:ext cx="3434700" cy="400200"/>
          </a:xfrm>
          <a:prstGeom prst="rect">
            <a:avLst/>
          </a:prstGeom>
          <a:noFill/>
          <a:ln>
            <a:noFill/>
          </a:ln>
        </p:spPr>
        <p:txBody>
          <a:bodyPr spcFirstLastPara="1" wrap="square" lIns="0" tIns="0" rIns="0" bIns="0" anchor="t" anchorCtr="0">
            <a:noAutofit/>
          </a:bodyPr>
          <a:lstStyle/>
          <a:p>
            <a:pPr marL="0" marR="0" lvl="0" indent="0" algn="l" rtl="0">
              <a:lnSpc>
                <a:spcPct val="111809"/>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+88%</a:t>
            </a:r>
            <a:endParaRPr sz="2862">
              <a:solidFill>
                <a:schemeClr val="dk1"/>
              </a:solidFill>
              <a:latin typeface="Calibri"/>
              <a:ea typeface="Calibri"/>
              <a:cs typeface="Calibri"/>
              <a:sym typeface="Calibri"/>
            </a:endParaRPr>
          </a:p>
        </p:txBody>
      </p:sp>
      <p:sp>
        <p:nvSpPr>
          <p:cNvPr id="496" name="Google Shape;496;p24"/>
          <p:cNvSpPr/>
          <p:nvPr/>
        </p:nvSpPr>
        <p:spPr>
          <a:xfrm>
            <a:off x="428625" y="4891683"/>
            <a:ext cx="3434700" cy="251700"/>
          </a:xfrm>
          <a:prstGeom prst="rect">
            <a:avLst/>
          </a:prstGeom>
          <a:noFill/>
          <a:ln>
            <a:noFill/>
          </a:ln>
        </p:spPr>
        <p:txBody>
          <a:bodyPr spcFirstLastPara="1" wrap="square" lIns="0" tIns="0" rIns="0" bIns="0" anchor="t" anchorCtr="0">
            <a:noAutofit/>
          </a:bodyPr>
          <a:lstStyle/>
          <a:p>
            <a:pPr marL="0" marR="0" lvl="0" indent="0" algn="l" rtl="0">
              <a:lnSpc>
                <a:spcPct val="138996"/>
              </a:lnSpc>
              <a:spcBef>
                <a:spcPts val="0"/>
              </a:spcBef>
              <a:spcAft>
                <a:spcPts val="0"/>
              </a:spcAft>
              <a:buClr>
                <a:srgbClr val="333333"/>
              </a:buClr>
              <a:buSzPts val="1295"/>
              <a:buFont typeface="Calibri"/>
              <a:buNone/>
            </a:pPr>
            <a:r>
              <a:rPr lang="en-US" sz="1295" b="1">
                <a:solidFill>
                  <a:srgbClr val="333333"/>
                </a:solidFill>
                <a:latin typeface="Calibri"/>
                <a:ea typeface="Calibri"/>
                <a:cs typeface="Calibri"/>
                <a:sym typeface="Calibri"/>
              </a:rPr>
              <a:t>Increase in Impressions</a:t>
            </a:r>
            <a:endParaRPr sz="1295">
              <a:solidFill>
                <a:schemeClr val="dk1"/>
              </a:solidFill>
              <a:latin typeface="Calibri"/>
              <a:ea typeface="Calibri"/>
              <a:cs typeface="Calibri"/>
              <a:sym typeface="Calibri"/>
            </a:endParaRPr>
          </a:p>
        </p:txBody>
      </p:sp>
      <p:sp>
        <p:nvSpPr>
          <p:cNvPr id="497" name="Google Shape;497;p24"/>
          <p:cNvSpPr/>
          <p:nvPr/>
        </p:nvSpPr>
        <p:spPr>
          <a:xfrm>
            <a:off x="428624" y="4750525"/>
            <a:ext cx="3434700" cy="214200"/>
          </a:xfrm>
          <a:prstGeom prst="rect">
            <a:avLst/>
          </a:prstGeom>
          <a:noFill/>
          <a:ln>
            <a:noFill/>
          </a:ln>
        </p:spPr>
        <p:txBody>
          <a:bodyPr spcFirstLastPara="1" wrap="square" lIns="0" tIns="0" rIns="0" bIns="0" anchor="t" anchorCtr="0">
            <a:noAutofit/>
          </a:bodyPr>
          <a:lstStyle/>
          <a:p>
            <a:pPr marL="0" marR="0" lvl="0" indent="0" algn="l" rtl="0">
              <a:lnSpc>
                <a:spcPct val="129421"/>
              </a:lnSpc>
              <a:spcBef>
                <a:spcPts val="0"/>
              </a:spcBef>
              <a:spcAft>
                <a:spcPts val="0"/>
              </a:spcAft>
              <a:buClr>
                <a:srgbClr val="666666"/>
              </a:buClr>
              <a:buSzPts val="1159"/>
              <a:buFont typeface="Calibri"/>
              <a:buNone/>
            </a:pPr>
            <a:r>
              <a:rPr lang="en-US" sz="1159">
                <a:solidFill>
                  <a:srgbClr val="666666"/>
                </a:solidFill>
                <a:latin typeface="Calibri"/>
                <a:ea typeface="Calibri"/>
                <a:cs typeface="Calibri"/>
                <a:sym typeface="Calibri"/>
              </a:rPr>
              <a:t>IT &amp; SaaS Sector (B2B)</a:t>
            </a:r>
            <a:endParaRPr sz="1159">
              <a:solidFill>
                <a:schemeClr val="dk1"/>
              </a:solidFill>
              <a:latin typeface="Calibri"/>
              <a:ea typeface="Calibri"/>
              <a:cs typeface="Calibri"/>
              <a:sym typeface="Calibri"/>
            </a:endParaRPr>
          </a:p>
        </p:txBody>
      </p:sp>
      <p:sp>
        <p:nvSpPr>
          <p:cNvPr id="498" name="Google Shape;498;p24"/>
          <p:cNvSpPr/>
          <p:nvPr/>
        </p:nvSpPr>
        <p:spPr>
          <a:xfrm>
            <a:off x="4442101" y="1946672"/>
            <a:ext cx="42732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Sector-Wise Comparison</a:t>
            </a:r>
            <a:endParaRPr sz="1499">
              <a:solidFill>
                <a:schemeClr val="dk1"/>
              </a:solidFill>
              <a:latin typeface="Calibri"/>
              <a:ea typeface="Calibri"/>
              <a:cs typeface="Calibri"/>
              <a:sym typeface="Calibri"/>
            </a:endParaRPr>
          </a:p>
        </p:txBody>
      </p:sp>
      <p:sp>
        <p:nvSpPr>
          <p:cNvPr id="499" name="Google Shape;499;p24"/>
          <p:cNvSpPr/>
          <p:nvPr/>
        </p:nvSpPr>
        <p:spPr>
          <a:xfrm>
            <a:off x="4442101" y="2271551"/>
            <a:ext cx="1327200" cy="6000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500" name="Google Shape;500;p24"/>
          <p:cNvSpPr/>
          <p:nvPr/>
        </p:nvSpPr>
        <p:spPr>
          <a:xfrm>
            <a:off x="4442101" y="2377721"/>
            <a:ext cx="1327200" cy="387600"/>
          </a:xfrm>
          <a:prstGeom prst="rect">
            <a:avLst/>
          </a:prstGeom>
          <a:noFill/>
          <a:ln>
            <a:noFill/>
          </a:ln>
        </p:spPr>
        <p:txBody>
          <a:bodyPr spcFirstLastPara="1" wrap="square" lIns="102100" tIns="102100" rIns="102100" bIns="102100" anchor="ctr" anchorCtr="0">
            <a:noAutofit/>
          </a:bodyPr>
          <a:lstStyle/>
          <a:p>
            <a:pPr marL="0" marR="0" lvl="0" indent="0" algn="l" rtl="0">
              <a:lnSpc>
                <a:spcPct val="136363"/>
              </a:lnSpc>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Sector</a:t>
            </a:r>
            <a:endParaRPr sz="1100">
              <a:solidFill>
                <a:schemeClr val="dk1"/>
              </a:solidFill>
              <a:latin typeface="Calibri"/>
              <a:ea typeface="Calibri"/>
              <a:cs typeface="Calibri"/>
              <a:sym typeface="Calibri"/>
            </a:endParaRPr>
          </a:p>
        </p:txBody>
      </p:sp>
      <p:sp>
        <p:nvSpPr>
          <p:cNvPr id="501" name="Google Shape;501;p24"/>
          <p:cNvSpPr/>
          <p:nvPr/>
        </p:nvSpPr>
        <p:spPr>
          <a:xfrm>
            <a:off x="5769359" y="2271551"/>
            <a:ext cx="1077300" cy="6000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502" name="Google Shape;502;p24"/>
          <p:cNvSpPr/>
          <p:nvPr/>
        </p:nvSpPr>
        <p:spPr>
          <a:xfrm>
            <a:off x="5769359" y="2377721"/>
            <a:ext cx="1077300" cy="387600"/>
          </a:xfrm>
          <a:prstGeom prst="rect">
            <a:avLst/>
          </a:prstGeom>
          <a:noFill/>
          <a:ln>
            <a:noFill/>
          </a:ln>
        </p:spPr>
        <p:txBody>
          <a:bodyPr spcFirstLastPara="1" wrap="square" lIns="102100" tIns="102100" rIns="102100" bIns="102100" anchor="ctr" anchorCtr="0">
            <a:noAutofit/>
          </a:bodyPr>
          <a:lstStyle/>
          <a:p>
            <a:pPr marL="0" marR="0" lvl="0" indent="0" algn="l" rtl="0">
              <a:lnSpc>
                <a:spcPct val="136363"/>
              </a:lnSpc>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Metric</a:t>
            </a:r>
            <a:endParaRPr sz="1100">
              <a:solidFill>
                <a:schemeClr val="dk1"/>
              </a:solidFill>
              <a:latin typeface="Calibri"/>
              <a:ea typeface="Calibri"/>
              <a:cs typeface="Calibri"/>
              <a:sym typeface="Calibri"/>
            </a:endParaRPr>
          </a:p>
        </p:txBody>
      </p:sp>
      <p:sp>
        <p:nvSpPr>
          <p:cNvPr id="503" name="Google Shape;503;p24"/>
          <p:cNvSpPr/>
          <p:nvPr/>
        </p:nvSpPr>
        <p:spPr>
          <a:xfrm>
            <a:off x="6846698" y="2271551"/>
            <a:ext cx="1868700" cy="6000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504" name="Google Shape;504;p24"/>
          <p:cNvSpPr/>
          <p:nvPr/>
        </p:nvSpPr>
        <p:spPr>
          <a:xfrm>
            <a:off x="6846698" y="2377721"/>
            <a:ext cx="1868700" cy="387600"/>
          </a:xfrm>
          <a:prstGeom prst="rect">
            <a:avLst/>
          </a:prstGeom>
          <a:noFill/>
          <a:ln>
            <a:noFill/>
          </a:ln>
        </p:spPr>
        <p:txBody>
          <a:bodyPr spcFirstLastPara="1" wrap="square" lIns="102100" tIns="102100" rIns="102100" bIns="102100" anchor="ctr" anchorCtr="0">
            <a:noAutofit/>
          </a:bodyPr>
          <a:lstStyle/>
          <a:p>
            <a:pPr marL="0" marR="0" lvl="0" indent="0" algn="l" rtl="0">
              <a:lnSpc>
                <a:spcPct val="136363"/>
              </a:lnSpc>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PPLM vs. Human (Lift)</a:t>
            </a:r>
            <a:endParaRPr sz="1100">
              <a:solidFill>
                <a:schemeClr val="dk1"/>
              </a:solidFill>
              <a:latin typeface="Calibri"/>
              <a:ea typeface="Calibri"/>
              <a:cs typeface="Calibri"/>
              <a:sym typeface="Calibri"/>
            </a:endParaRPr>
          </a:p>
        </p:txBody>
      </p:sp>
      <p:sp>
        <p:nvSpPr>
          <p:cNvPr id="505" name="Google Shape;505;p24"/>
          <p:cNvSpPr/>
          <p:nvPr/>
        </p:nvSpPr>
        <p:spPr>
          <a:xfrm>
            <a:off x="4442101" y="2977883"/>
            <a:ext cx="1327200" cy="391200"/>
          </a:xfrm>
          <a:prstGeom prst="rect">
            <a:avLst/>
          </a:prstGeom>
          <a:noFill/>
          <a:ln>
            <a:noFill/>
          </a:ln>
        </p:spPr>
        <p:txBody>
          <a:bodyPr spcFirstLastPara="1" wrap="square" lIns="102100" tIns="102100" rIns="102100" bIns="102100" anchor="ctr" anchorCtr="0">
            <a:noAutofit/>
          </a:bodyPr>
          <a:lstStyle/>
          <a:p>
            <a:pPr marL="0" marR="0" lvl="0" indent="0" algn="l" rtl="0">
              <a:lnSpc>
                <a:spcPct val="125000"/>
              </a:lnSpc>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Education (B2C)</a:t>
            </a:r>
            <a:endParaRPr sz="1200">
              <a:solidFill>
                <a:schemeClr val="dk1"/>
              </a:solidFill>
              <a:latin typeface="Calibri"/>
              <a:ea typeface="Calibri"/>
              <a:cs typeface="Calibri"/>
              <a:sym typeface="Calibri"/>
            </a:endParaRPr>
          </a:p>
        </p:txBody>
      </p:sp>
      <p:sp>
        <p:nvSpPr>
          <p:cNvPr id="506" name="Google Shape;506;p24"/>
          <p:cNvSpPr/>
          <p:nvPr/>
        </p:nvSpPr>
        <p:spPr>
          <a:xfrm>
            <a:off x="5769359" y="2974164"/>
            <a:ext cx="1077300" cy="398700"/>
          </a:xfrm>
          <a:prstGeom prst="rect">
            <a:avLst/>
          </a:prstGeom>
          <a:noFill/>
          <a:ln>
            <a:noFill/>
          </a:ln>
        </p:spPr>
        <p:txBody>
          <a:bodyPr spcFirstLastPara="1" wrap="square" lIns="102100" tIns="102100" rIns="102100" bIns="102100" anchor="ctr" anchorCtr="0">
            <a:noAutofit/>
          </a:bodyPr>
          <a:lstStyle/>
          <a:p>
            <a:pPr marL="0" marR="0" lvl="0" indent="0" algn="l" rtl="0">
              <a:lnSpc>
                <a:spcPct val="125000"/>
              </a:lnSpc>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Impressions</a:t>
            </a:r>
            <a:endParaRPr sz="1200">
              <a:solidFill>
                <a:schemeClr val="dk1"/>
              </a:solidFill>
              <a:latin typeface="Calibri"/>
              <a:ea typeface="Calibri"/>
              <a:cs typeface="Calibri"/>
              <a:sym typeface="Calibri"/>
            </a:endParaRPr>
          </a:p>
        </p:txBody>
      </p:sp>
      <p:sp>
        <p:nvSpPr>
          <p:cNvPr id="507" name="Google Shape;507;p24"/>
          <p:cNvSpPr/>
          <p:nvPr/>
        </p:nvSpPr>
        <p:spPr>
          <a:xfrm>
            <a:off x="6846698" y="2974164"/>
            <a:ext cx="1868700" cy="398700"/>
          </a:xfrm>
          <a:prstGeom prst="rect">
            <a:avLst/>
          </a:prstGeom>
          <a:noFill/>
          <a:ln>
            <a:noFill/>
          </a:ln>
        </p:spPr>
        <p:txBody>
          <a:bodyPr spcFirstLastPara="1" wrap="square" lIns="102100" tIns="102100" rIns="102100" bIns="102100" anchor="ctr" anchorCtr="0">
            <a:noAutofit/>
          </a:bodyPr>
          <a:lstStyle/>
          <a:p>
            <a:pPr marL="0" marR="0" lvl="0" indent="0" algn="l" rtl="0">
              <a:lnSpc>
                <a:spcPct val="125000"/>
              </a:lnSpc>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+45%</a:t>
            </a:r>
            <a:endParaRPr sz="1200">
              <a:solidFill>
                <a:schemeClr val="dk1"/>
              </a:solidFill>
              <a:latin typeface="Calibri"/>
              <a:ea typeface="Calibri"/>
              <a:cs typeface="Calibri"/>
              <a:sym typeface="Calibri"/>
            </a:endParaRPr>
          </a:p>
        </p:txBody>
      </p:sp>
      <p:sp>
        <p:nvSpPr>
          <p:cNvPr id="508" name="Google Shape;508;p24"/>
          <p:cNvSpPr/>
          <p:nvPr/>
        </p:nvSpPr>
        <p:spPr>
          <a:xfrm>
            <a:off x="4442101" y="3475273"/>
            <a:ext cx="4273200" cy="607200"/>
          </a:xfrm>
          <a:prstGeom prst="rect">
            <a:avLst/>
          </a:prstGeom>
          <a:solidFill>
            <a:srgbClr val="E6EE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509" name="Google Shape;509;p24"/>
          <p:cNvSpPr/>
          <p:nvPr/>
        </p:nvSpPr>
        <p:spPr>
          <a:xfrm>
            <a:off x="4442101" y="3585015"/>
            <a:ext cx="1327200" cy="387600"/>
          </a:xfrm>
          <a:prstGeom prst="rect">
            <a:avLst/>
          </a:prstGeom>
          <a:noFill/>
          <a:ln>
            <a:noFill/>
          </a:ln>
        </p:spPr>
        <p:txBody>
          <a:bodyPr spcFirstLastPara="1" wrap="square" lIns="102100" tIns="102100" rIns="102100" bIns="102100" anchor="ctr" anchorCtr="0">
            <a:noAutofit/>
          </a:bodyPr>
          <a:lstStyle/>
          <a:p>
            <a:pPr marL="0" marR="0" lvl="0" indent="0" algn="l" rtl="0">
              <a:lnSpc>
                <a:spcPct val="136363"/>
              </a:lnSpc>
              <a:spcBef>
                <a:spcPts val="0"/>
              </a:spcBef>
              <a:spcAft>
                <a:spcPts val="0"/>
              </a:spcAft>
              <a:buClr>
                <a:srgbClr val="333333"/>
              </a:buClr>
              <a:buSzPts val="1100"/>
              <a:buFont typeface="Calibri"/>
              <a:buNone/>
            </a:pPr>
            <a:r>
              <a:rPr lang="en-US" sz="1100" b="1">
                <a:solidFill>
                  <a:srgbClr val="333333"/>
                </a:solidFill>
                <a:latin typeface="Calibri"/>
                <a:ea typeface="Calibri"/>
                <a:cs typeface="Calibri"/>
                <a:sym typeface="Calibri"/>
              </a:rPr>
              <a:t>Education (B2C)</a:t>
            </a:r>
            <a:endParaRPr sz="1100">
              <a:solidFill>
                <a:schemeClr val="dk1"/>
              </a:solidFill>
              <a:latin typeface="Calibri"/>
              <a:ea typeface="Calibri"/>
              <a:cs typeface="Calibri"/>
              <a:sym typeface="Calibri"/>
            </a:endParaRPr>
          </a:p>
        </p:txBody>
      </p:sp>
      <p:sp>
        <p:nvSpPr>
          <p:cNvPr id="510" name="Google Shape;510;p24"/>
          <p:cNvSpPr/>
          <p:nvPr/>
        </p:nvSpPr>
        <p:spPr>
          <a:xfrm>
            <a:off x="5769359" y="3585015"/>
            <a:ext cx="1077300" cy="387600"/>
          </a:xfrm>
          <a:prstGeom prst="rect">
            <a:avLst/>
          </a:prstGeom>
          <a:noFill/>
          <a:ln>
            <a:noFill/>
          </a:ln>
        </p:spPr>
        <p:txBody>
          <a:bodyPr spcFirstLastPara="1" wrap="square" lIns="102100" tIns="102100" rIns="102100" bIns="102100" anchor="ctr" anchorCtr="0">
            <a:noAutofit/>
          </a:bodyPr>
          <a:lstStyle/>
          <a:p>
            <a:pPr marL="0" marR="0" lvl="0" indent="0" algn="l" rtl="0">
              <a:lnSpc>
                <a:spcPct val="136363"/>
              </a:lnSpc>
              <a:spcBef>
                <a:spcPts val="0"/>
              </a:spcBef>
              <a:spcAft>
                <a:spcPts val="0"/>
              </a:spcAft>
              <a:buClr>
                <a:srgbClr val="333333"/>
              </a:buClr>
              <a:buSzPts val="1100"/>
              <a:buFont typeface="Calibri"/>
              <a:buNone/>
            </a:pPr>
            <a:r>
              <a:rPr lang="en-US" sz="1100" b="1">
                <a:solidFill>
                  <a:srgbClr val="333333"/>
                </a:solidFill>
                <a:latin typeface="Calibri"/>
                <a:ea typeface="Calibri"/>
                <a:cs typeface="Calibri"/>
                <a:sym typeface="Calibri"/>
              </a:rPr>
              <a:t>Clicks</a:t>
            </a:r>
            <a:endParaRPr sz="1100">
              <a:solidFill>
                <a:schemeClr val="dk1"/>
              </a:solidFill>
              <a:latin typeface="Calibri"/>
              <a:ea typeface="Calibri"/>
              <a:cs typeface="Calibri"/>
              <a:sym typeface="Calibri"/>
            </a:endParaRPr>
          </a:p>
        </p:txBody>
      </p:sp>
      <p:sp>
        <p:nvSpPr>
          <p:cNvPr id="511" name="Google Shape;511;p24"/>
          <p:cNvSpPr/>
          <p:nvPr/>
        </p:nvSpPr>
        <p:spPr>
          <a:xfrm>
            <a:off x="6846698" y="3585015"/>
            <a:ext cx="1868700" cy="387600"/>
          </a:xfrm>
          <a:prstGeom prst="rect">
            <a:avLst/>
          </a:prstGeom>
          <a:noFill/>
          <a:ln>
            <a:noFill/>
          </a:ln>
        </p:spPr>
        <p:txBody>
          <a:bodyPr spcFirstLastPara="1" wrap="square" lIns="102100" tIns="102100" rIns="102100" bIns="102100" anchor="ctr" anchorCtr="0">
            <a:noAutofit/>
          </a:bodyPr>
          <a:lstStyle/>
          <a:p>
            <a:pPr marL="0" marR="0" lvl="0" indent="0" algn="l" rtl="0">
              <a:lnSpc>
                <a:spcPct val="136363"/>
              </a:lnSpc>
              <a:spcBef>
                <a:spcPts val="0"/>
              </a:spcBef>
              <a:spcAft>
                <a:spcPts val="0"/>
              </a:spcAft>
              <a:buClr>
                <a:srgbClr val="333333"/>
              </a:buClr>
              <a:buSzPts val="1100"/>
              <a:buFont typeface="Calibri"/>
              <a:buNone/>
            </a:pPr>
            <a:r>
              <a:rPr lang="en-US" sz="1100" b="1">
                <a:solidFill>
                  <a:srgbClr val="333333"/>
                </a:solidFill>
                <a:latin typeface="Calibri"/>
                <a:ea typeface="Calibri"/>
                <a:cs typeface="Calibri"/>
                <a:sym typeface="Calibri"/>
              </a:rPr>
              <a:t>+112%</a:t>
            </a:r>
            <a:endParaRPr sz="1100">
              <a:solidFill>
                <a:schemeClr val="dk1"/>
              </a:solidFill>
              <a:latin typeface="Calibri"/>
              <a:ea typeface="Calibri"/>
              <a:cs typeface="Calibri"/>
              <a:sym typeface="Calibri"/>
            </a:endParaRPr>
          </a:p>
        </p:txBody>
      </p:sp>
      <p:sp>
        <p:nvSpPr>
          <p:cNvPr id="512" name="Google Shape;512;p24"/>
          <p:cNvSpPr/>
          <p:nvPr/>
        </p:nvSpPr>
        <p:spPr>
          <a:xfrm>
            <a:off x="4442101" y="4079659"/>
            <a:ext cx="1327200" cy="398700"/>
          </a:xfrm>
          <a:prstGeom prst="rect">
            <a:avLst/>
          </a:prstGeom>
          <a:noFill/>
          <a:ln>
            <a:noFill/>
          </a:ln>
        </p:spPr>
        <p:txBody>
          <a:bodyPr spcFirstLastPara="1" wrap="square" lIns="102100" tIns="102100" rIns="102100" bIns="102100" anchor="ctr" anchorCtr="0">
            <a:noAutofit/>
          </a:bodyPr>
          <a:lstStyle/>
          <a:p>
            <a:pPr marL="0" marR="0" lvl="0" indent="0" algn="l" rtl="0">
              <a:lnSpc>
                <a:spcPct val="125000"/>
              </a:lnSpc>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IT &amp; SaaS (B2B)</a:t>
            </a:r>
            <a:endParaRPr sz="1200">
              <a:solidFill>
                <a:schemeClr val="dk1"/>
              </a:solidFill>
              <a:latin typeface="Calibri"/>
              <a:ea typeface="Calibri"/>
              <a:cs typeface="Calibri"/>
              <a:sym typeface="Calibri"/>
            </a:endParaRPr>
          </a:p>
        </p:txBody>
      </p:sp>
      <p:sp>
        <p:nvSpPr>
          <p:cNvPr id="513" name="Google Shape;513;p24"/>
          <p:cNvSpPr/>
          <p:nvPr/>
        </p:nvSpPr>
        <p:spPr>
          <a:xfrm>
            <a:off x="5769359" y="4079659"/>
            <a:ext cx="1077300" cy="398700"/>
          </a:xfrm>
          <a:prstGeom prst="rect">
            <a:avLst/>
          </a:prstGeom>
          <a:noFill/>
          <a:ln>
            <a:noFill/>
          </a:ln>
        </p:spPr>
        <p:txBody>
          <a:bodyPr spcFirstLastPara="1" wrap="square" lIns="102100" tIns="102100" rIns="102100" bIns="102100" anchor="ctr" anchorCtr="0">
            <a:noAutofit/>
          </a:bodyPr>
          <a:lstStyle/>
          <a:p>
            <a:pPr marL="0" marR="0" lvl="0" indent="0" algn="l" rtl="0">
              <a:lnSpc>
                <a:spcPct val="125000"/>
              </a:lnSpc>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Impressions</a:t>
            </a:r>
            <a:endParaRPr sz="1200">
              <a:solidFill>
                <a:schemeClr val="dk1"/>
              </a:solidFill>
              <a:latin typeface="Calibri"/>
              <a:ea typeface="Calibri"/>
              <a:cs typeface="Calibri"/>
              <a:sym typeface="Calibri"/>
            </a:endParaRPr>
          </a:p>
        </p:txBody>
      </p:sp>
      <p:sp>
        <p:nvSpPr>
          <p:cNvPr id="514" name="Google Shape;514;p24"/>
          <p:cNvSpPr/>
          <p:nvPr/>
        </p:nvSpPr>
        <p:spPr>
          <a:xfrm>
            <a:off x="6846698" y="4079659"/>
            <a:ext cx="1868700" cy="398700"/>
          </a:xfrm>
          <a:prstGeom prst="rect">
            <a:avLst/>
          </a:prstGeom>
          <a:noFill/>
          <a:ln>
            <a:noFill/>
          </a:ln>
        </p:spPr>
        <p:txBody>
          <a:bodyPr spcFirstLastPara="1" wrap="square" lIns="102100" tIns="102100" rIns="102100" bIns="102100" anchor="ctr" anchorCtr="0">
            <a:noAutofit/>
          </a:bodyPr>
          <a:lstStyle/>
          <a:p>
            <a:pPr marL="0" marR="0" lvl="0" indent="0" algn="l" rtl="0">
              <a:lnSpc>
                <a:spcPct val="125000"/>
              </a:lnSpc>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+88%</a:t>
            </a:r>
            <a:endParaRPr sz="1200">
              <a:solidFill>
                <a:schemeClr val="dk1"/>
              </a:solidFill>
              <a:latin typeface="Calibri"/>
              <a:ea typeface="Calibri"/>
              <a:cs typeface="Calibri"/>
              <a:sym typeface="Calibri"/>
            </a:endParaRPr>
          </a:p>
        </p:txBody>
      </p:sp>
      <p:sp>
        <p:nvSpPr>
          <p:cNvPr id="515" name="Google Shape;515;p24"/>
          <p:cNvSpPr/>
          <p:nvPr/>
        </p:nvSpPr>
        <p:spPr>
          <a:xfrm>
            <a:off x="4442101" y="4427177"/>
            <a:ext cx="4273200" cy="607200"/>
          </a:xfrm>
          <a:prstGeom prst="rect">
            <a:avLst/>
          </a:prstGeom>
          <a:solidFill>
            <a:srgbClr val="E6EE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516" name="Google Shape;516;p24"/>
          <p:cNvSpPr/>
          <p:nvPr/>
        </p:nvSpPr>
        <p:spPr>
          <a:xfrm>
            <a:off x="4442101" y="4536919"/>
            <a:ext cx="1327200" cy="387600"/>
          </a:xfrm>
          <a:prstGeom prst="rect">
            <a:avLst/>
          </a:prstGeom>
          <a:noFill/>
          <a:ln>
            <a:noFill/>
          </a:ln>
        </p:spPr>
        <p:txBody>
          <a:bodyPr spcFirstLastPara="1" wrap="square" lIns="102100" tIns="102100" rIns="102100" bIns="102100" anchor="ctr" anchorCtr="0">
            <a:noAutofit/>
          </a:bodyPr>
          <a:lstStyle/>
          <a:p>
            <a:pPr marL="0" marR="0" lvl="0" indent="0" algn="l" rtl="0">
              <a:lnSpc>
                <a:spcPct val="136363"/>
              </a:lnSpc>
              <a:spcBef>
                <a:spcPts val="0"/>
              </a:spcBef>
              <a:spcAft>
                <a:spcPts val="0"/>
              </a:spcAft>
              <a:buClr>
                <a:srgbClr val="333333"/>
              </a:buClr>
              <a:buSzPts val="1100"/>
              <a:buFont typeface="Calibri"/>
              <a:buNone/>
            </a:pPr>
            <a:r>
              <a:rPr lang="en-US" sz="1100" b="1">
                <a:solidFill>
                  <a:srgbClr val="333333"/>
                </a:solidFill>
                <a:latin typeface="Calibri"/>
                <a:ea typeface="Calibri"/>
                <a:cs typeface="Calibri"/>
                <a:sym typeface="Calibri"/>
              </a:rPr>
              <a:t>IT &amp; SaaS (B2B)</a:t>
            </a:r>
            <a:endParaRPr sz="1100">
              <a:solidFill>
                <a:schemeClr val="dk1"/>
              </a:solidFill>
              <a:latin typeface="Calibri"/>
              <a:ea typeface="Calibri"/>
              <a:cs typeface="Calibri"/>
              <a:sym typeface="Calibri"/>
            </a:endParaRPr>
          </a:p>
        </p:txBody>
      </p:sp>
      <p:sp>
        <p:nvSpPr>
          <p:cNvPr id="517" name="Google Shape;517;p24"/>
          <p:cNvSpPr/>
          <p:nvPr/>
        </p:nvSpPr>
        <p:spPr>
          <a:xfrm>
            <a:off x="5769359" y="4536919"/>
            <a:ext cx="1077300" cy="387600"/>
          </a:xfrm>
          <a:prstGeom prst="rect">
            <a:avLst/>
          </a:prstGeom>
          <a:noFill/>
          <a:ln>
            <a:noFill/>
          </a:ln>
        </p:spPr>
        <p:txBody>
          <a:bodyPr spcFirstLastPara="1" wrap="square" lIns="102100" tIns="102100" rIns="102100" bIns="102100" anchor="ctr" anchorCtr="0">
            <a:noAutofit/>
          </a:bodyPr>
          <a:lstStyle/>
          <a:p>
            <a:pPr marL="0" marR="0" lvl="0" indent="0" algn="l" rtl="0">
              <a:lnSpc>
                <a:spcPct val="136363"/>
              </a:lnSpc>
              <a:spcBef>
                <a:spcPts val="0"/>
              </a:spcBef>
              <a:spcAft>
                <a:spcPts val="0"/>
              </a:spcAft>
              <a:buClr>
                <a:srgbClr val="333333"/>
              </a:buClr>
              <a:buSzPts val="1100"/>
              <a:buFont typeface="Calibri"/>
              <a:buNone/>
            </a:pPr>
            <a:r>
              <a:rPr lang="en-US" sz="1100" b="1">
                <a:solidFill>
                  <a:srgbClr val="333333"/>
                </a:solidFill>
                <a:latin typeface="Calibri"/>
                <a:ea typeface="Calibri"/>
                <a:cs typeface="Calibri"/>
                <a:sym typeface="Calibri"/>
              </a:rPr>
              <a:t>Clicks</a:t>
            </a:r>
            <a:endParaRPr sz="1100">
              <a:solidFill>
                <a:schemeClr val="dk1"/>
              </a:solidFill>
              <a:latin typeface="Calibri"/>
              <a:ea typeface="Calibri"/>
              <a:cs typeface="Calibri"/>
              <a:sym typeface="Calibri"/>
            </a:endParaRPr>
          </a:p>
        </p:txBody>
      </p:sp>
      <p:sp>
        <p:nvSpPr>
          <p:cNvPr id="518" name="Google Shape;518;p24"/>
          <p:cNvSpPr/>
          <p:nvPr/>
        </p:nvSpPr>
        <p:spPr>
          <a:xfrm>
            <a:off x="6846698" y="4536919"/>
            <a:ext cx="1868700" cy="387600"/>
          </a:xfrm>
          <a:prstGeom prst="rect">
            <a:avLst/>
          </a:prstGeom>
          <a:noFill/>
          <a:ln>
            <a:noFill/>
          </a:ln>
        </p:spPr>
        <p:txBody>
          <a:bodyPr spcFirstLastPara="1" wrap="square" lIns="102100" tIns="102100" rIns="102100" bIns="102100" anchor="ctr" anchorCtr="0">
            <a:noAutofit/>
          </a:bodyPr>
          <a:lstStyle/>
          <a:p>
            <a:pPr marL="0" marR="0" lvl="0" indent="0" algn="l" rtl="0">
              <a:lnSpc>
                <a:spcPct val="136363"/>
              </a:lnSpc>
              <a:spcBef>
                <a:spcPts val="0"/>
              </a:spcBef>
              <a:spcAft>
                <a:spcPts val="0"/>
              </a:spcAft>
              <a:buClr>
                <a:srgbClr val="333333"/>
              </a:buClr>
              <a:buSzPts val="1100"/>
              <a:buFont typeface="Calibri"/>
              <a:buNone/>
            </a:pPr>
            <a:r>
              <a:rPr lang="en-US" sz="1100" b="1">
                <a:solidFill>
                  <a:srgbClr val="333333"/>
                </a:solidFill>
                <a:latin typeface="Calibri"/>
                <a:ea typeface="Calibri"/>
                <a:cs typeface="Calibri"/>
                <a:sym typeface="Calibri"/>
              </a:rPr>
              <a:t>+184%</a:t>
            </a:r>
            <a:endParaRPr sz="1100">
              <a:solidFill>
                <a:schemeClr val="dk1"/>
              </a:solidFill>
              <a:latin typeface="Calibri"/>
              <a:ea typeface="Calibri"/>
              <a:cs typeface="Calibri"/>
              <a:sym typeface="Calibri"/>
            </a:endParaRPr>
          </a:p>
        </p:txBody>
      </p:sp>
      <p:sp>
        <p:nvSpPr>
          <p:cNvPr id="519" name="Google Shape;519;p24"/>
          <p:cNvSpPr/>
          <p:nvPr/>
        </p:nvSpPr>
        <p:spPr>
          <a:xfrm>
            <a:off x="4156351" y="1060464"/>
            <a:ext cx="4273200" cy="140700"/>
          </a:xfrm>
          <a:prstGeom prst="rect">
            <a:avLst/>
          </a:prstGeom>
          <a:noFill/>
          <a:ln>
            <a:noFill/>
          </a:ln>
        </p:spPr>
        <p:txBody>
          <a:bodyPr spcFirstLastPara="1" wrap="square" lIns="0" tIns="0" rIns="0" bIns="0" anchor="t" anchorCtr="0">
            <a:noAutofit/>
          </a:bodyPr>
          <a:lstStyle/>
          <a:p>
            <a:pPr marL="0" marR="0" lvl="0" indent="0" algn="l" rtl="0">
              <a:lnSpc>
                <a:spcPct val="56250"/>
              </a:lnSpc>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25"/>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6" name="Google Shape;526;p25"/>
          <p:cNvSpPr/>
          <p:nvPr/>
        </p:nvSpPr>
        <p:spPr>
          <a:xfrm>
            <a:off x="4572000" y="1660922"/>
            <a:ext cx="4572000" cy="34827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7" name="Google Shape;527;p25"/>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8" name="Google Shape;528;p25"/>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Study 2: Benchmarking Against Frontier LLMs</a:t>
            </a:r>
            <a:endParaRPr sz="2862">
              <a:solidFill>
                <a:schemeClr val="dk1"/>
              </a:solidFill>
              <a:latin typeface="Calibri"/>
              <a:ea typeface="Calibri"/>
              <a:cs typeface="Calibri"/>
              <a:sym typeface="Calibri"/>
            </a:endParaRPr>
          </a:p>
        </p:txBody>
      </p:sp>
      <p:sp>
        <p:nvSpPr>
          <p:cNvPr id="529" name="Google Shape;529;p25"/>
          <p:cNvSpPr/>
          <p:nvPr/>
        </p:nvSpPr>
        <p:spPr>
          <a:xfrm>
            <a:off x="428625" y="2089547"/>
            <a:ext cx="1964400" cy="2466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5F00"/>
              </a:buClr>
              <a:buSzPts val="1600"/>
              <a:buFont typeface="Calibri"/>
              <a:buNone/>
            </a:pPr>
            <a:r>
              <a:rPr lang="en-US" sz="1600" b="1">
                <a:solidFill>
                  <a:srgbClr val="FF5F00"/>
                </a:solidFill>
                <a:latin typeface="Calibri"/>
                <a:ea typeface="Calibri"/>
                <a:cs typeface="Calibri"/>
                <a:sym typeface="Calibri"/>
              </a:rPr>
              <a:t>The Research Question</a:t>
            </a:r>
            <a:endParaRPr sz="1600">
              <a:solidFill>
                <a:schemeClr val="dk1"/>
              </a:solidFill>
              <a:latin typeface="Calibri"/>
              <a:ea typeface="Calibri"/>
              <a:cs typeface="Calibri"/>
              <a:sym typeface="Calibri"/>
            </a:endParaRPr>
          </a:p>
        </p:txBody>
      </p:sp>
      <p:sp>
        <p:nvSpPr>
          <p:cNvPr id="530" name="Google Shape;530;p25"/>
          <p:cNvSpPr/>
          <p:nvPr/>
        </p:nvSpPr>
        <p:spPr>
          <a:xfrm>
            <a:off x="428625" y="2418741"/>
            <a:ext cx="3850500" cy="2057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2016"/>
              <a:buFont typeface="Calibri"/>
              <a:buNone/>
            </a:pPr>
            <a:r>
              <a:rPr lang="en-US" sz="2016" b="1" dirty="0">
                <a:solidFill>
                  <a:srgbClr val="000000"/>
                </a:solidFill>
                <a:latin typeface="Calibri"/>
                <a:ea typeface="Calibri"/>
                <a:cs typeface="Calibri"/>
                <a:sym typeface="Calibri"/>
              </a:rPr>
              <a:t>Can a smaller, tailored model (GPT-2 + PPLM) outperform the world's most powerful generic LLMs in a specialized domain?</a:t>
            </a:r>
            <a:endParaRPr sz="2016" dirty="0">
              <a:solidFill>
                <a:schemeClr val="dk1"/>
              </a:solidFill>
              <a:latin typeface="Calibri"/>
              <a:ea typeface="Calibri"/>
              <a:cs typeface="Calibri"/>
              <a:sym typeface="Calibri"/>
            </a:endParaRPr>
          </a:p>
        </p:txBody>
      </p:sp>
      <p:sp>
        <p:nvSpPr>
          <p:cNvPr id="531" name="Google Shape;531;p25"/>
          <p:cNvSpPr/>
          <p:nvPr/>
        </p:nvSpPr>
        <p:spPr>
          <a:xfrm>
            <a:off x="427026" y="3795191"/>
            <a:ext cx="3852099" cy="118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i="1" dirty="0">
                <a:solidFill>
                  <a:srgbClr val="333333"/>
                </a:solidFill>
                <a:latin typeface="Calibri"/>
                <a:ea typeface="Calibri"/>
                <a:cs typeface="Calibri"/>
                <a:sym typeface="Calibri"/>
              </a:rPr>
              <a:t>This study addresses whether the success of the workflow is due to the power of LLMs in general or the specific design of the application layer.</a:t>
            </a:r>
            <a:endParaRPr sz="1377" i="1" dirty="0">
              <a:solidFill>
                <a:schemeClr val="dk1"/>
              </a:solidFill>
              <a:latin typeface="Calibri"/>
              <a:ea typeface="Calibri"/>
              <a:cs typeface="Calibri"/>
              <a:sym typeface="Calibri"/>
            </a:endParaRPr>
          </a:p>
        </p:txBody>
      </p:sp>
      <p:sp>
        <p:nvSpPr>
          <p:cNvPr id="532" name="Google Shape;532;p25"/>
          <p:cNvSpPr/>
          <p:nvPr/>
        </p:nvSpPr>
        <p:spPr>
          <a:xfrm>
            <a:off x="4857750" y="2089547"/>
            <a:ext cx="1930200" cy="2466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5F00"/>
              </a:buClr>
              <a:buSzPts val="1600"/>
              <a:buFont typeface="Calibri"/>
              <a:buNone/>
            </a:pPr>
            <a:r>
              <a:rPr lang="en-US" sz="1600" b="1">
                <a:solidFill>
                  <a:srgbClr val="FF5F00"/>
                </a:solidFill>
                <a:latin typeface="Calibri"/>
                <a:ea typeface="Calibri"/>
                <a:cs typeface="Calibri"/>
                <a:sym typeface="Calibri"/>
              </a:rPr>
              <a:t>Benchmark Conditions</a:t>
            </a:r>
            <a:endParaRPr sz="1600">
              <a:solidFill>
                <a:schemeClr val="dk1"/>
              </a:solidFill>
              <a:latin typeface="Calibri"/>
              <a:ea typeface="Calibri"/>
              <a:cs typeface="Calibri"/>
              <a:sym typeface="Calibri"/>
            </a:endParaRPr>
          </a:p>
        </p:txBody>
      </p:sp>
      <p:sp>
        <p:nvSpPr>
          <p:cNvPr id="533" name="Google Shape;533;p25"/>
          <p:cNvSpPr/>
          <p:nvPr/>
        </p:nvSpPr>
        <p:spPr>
          <a:xfrm>
            <a:off x="4857750" y="2416373"/>
            <a:ext cx="3857700" cy="214200"/>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47AB"/>
              </a:buClr>
              <a:buSzPts val="1090"/>
              <a:buFont typeface="Calibri"/>
              <a:buNone/>
            </a:pPr>
            <a:r>
              <a:rPr lang="en-US" sz="1090" b="1">
                <a:solidFill>
                  <a:srgbClr val="0047AB"/>
                </a:solidFill>
                <a:latin typeface="Calibri"/>
                <a:ea typeface="Calibri"/>
                <a:cs typeface="Calibri"/>
                <a:sym typeface="Calibri"/>
              </a:rPr>
              <a:t>PPLM Workflow</a:t>
            </a:r>
            <a:endParaRPr sz="1090">
              <a:solidFill>
                <a:schemeClr val="dk1"/>
              </a:solidFill>
              <a:latin typeface="Calibri"/>
              <a:ea typeface="Calibri"/>
              <a:cs typeface="Calibri"/>
              <a:sym typeface="Calibri"/>
            </a:endParaRPr>
          </a:p>
        </p:txBody>
      </p:sp>
      <p:sp>
        <p:nvSpPr>
          <p:cNvPr id="534" name="Google Shape;534;p25"/>
          <p:cNvSpPr/>
          <p:nvPr/>
        </p:nvSpPr>
        <p:spPr>
          <a:xfrm>
            <a:off x="4857750" y="2618734"/>
            <a:ext cx="3857700" cy="2397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333333"/>
              </a:buClr>
              <a:buSzPts val="1400"/>
              <a:buFont typeface="Calibri"/>
              <a:buNone/>
            </a:pPr>
            <a:r>
              <a:rPr lang="en-US" sz="1400">
                <a:solidFill>
                  <a:srgbClr val="333333"/>
                </a:solidFill>
                <a:latin typeface="Calibri"/>
                <a:ea typeface="Calibri"/>
                <a:cs typeface="Calibri"/>
                <a:sym typeface="Calibri"/>
              </a:rPr>
              <a:t>The proposed tailored application layer.</a:t>
            </a:r>
            <a:endParaRPr sz="1400">
              <a:solidFill>
                <a:schemeClr val="dk1"/>
              </a:solidFill>
              <a:latin typeface="Calibri"/>
              <a:ea typeface="Calibri"/>
              <a:cs typeface="Calibri"/>
              <a:sym typeface="Calibri"/>
            </a:endParaRPr>
          </a:p>
        </p:txBody>
      </p:sp>
      <p:sp>
        <p:nvSpPr>
          <p:cNvPr id="535" name="Google Shape;535;p25"/>
          <p:cNvSpPr/>
          <p:nvPr/>
        </p:nvSpPr>
        <p:spPr>
          <a:xfrm>
            <a:off x="4859274" y="3020020"/>
            <a:ext cx="3857700" cy="214200"/>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47AB"/>
              </a:buClr>
              <a:buSzPts val="1090"/>
              <a:buFont typeface="Calibri"/>
              <a:buNone/>
            </a:pPr>
            <a:r>
              <a:rPr lang="en-US" sz="1090" b="1">
                <a:solidFill>
                  <a:srgbClr val="0047AB"/>
                </a:solidFill>
                <a:latin typeface="Calibri"/>
                <a:ea typeface="Calibri"/>
                <a:cs typeface="Calibri"/>
                <a:sym typeface="Calibri"/>
              </a:rPr>
              <a:t>GPT-4</a:t>
            </a:r>
            <a:endParaRPr sz="1090">
              <a:solidFill>
                <a:schemeClr val="dk1"/>
              </a:solidFill>
              <a:latin typeface="Calibri"/>
              <a:ea typeface="Calibri"/>
              <a:cs typeface="Calibri"/>
              <a:sym typeface="Calibri"/>
            </a:endParaRPr>
          </a:p>
        </p:txBody>
      </p:sp>
      <p:sp>
        <p:nvSpPr>
          <p:cNvPr id="536" name="Google Shape;536;p25"/>
          <p:cNvSpPr/>
          <p:nvPr/>
        </p:nvSpPr>
        <p:spPr>
          <a:xfrm>
            <a:off x="4859274" y="3207741"/>
            <a:ext cx="3857700" cy="2397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333333"/>
              </a:buClr>
              <a:buSzPts val="1400"/>
              <a:buFont typeface="Calibri"/>
              <a:buNone/>
            </a:pPr>
            <a:r>
              <a:rPr lang="en-US" sz="1400">
                <a:solidFill>
                  <a:srgbClr val="333333"/>
                </a:solidFill>
                <a:latin typeface="Calibri"/>
                <a:ea typeface="Calibri"/>
                <a:cs typeface="Calibri"/>
                <a:sym typeface="Calibri"/>
              </a:rPr>
              <a:t>Basic and advanced prompting strategies.</a:t>
            </a:r>
            <a:endParaRPr sz="1400">
              <a:solidFill>
                <a:schemeClr val="dk1"/>
              </a:solidFill>
              <a:latin typeface="Calibri"/>
              <a:ea typeface="Calibri"/>
              <a:cs typeface="Calibri"/>
              <a:sym typeface="Calibri"/>
            </a:endParaRPr>
          </a:p>
        </p:txBody>
      </p:sp>
      <p:sp>
        <p:nvSpPr>
          <p:cNvPr id="537" name="Google Shape;537;p25"/>
          <p:cNvSpPr/>
          <p:nvPr/>
        </p:nvSpPr>
        <p:spPr>
          <a:xfrm>
            <a:off x="4859274" y="3593893"/>
            <a:ext cx="3857700" cy="214200"/>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47AB"/>
              </a:buClr>
              <a:buSzPts val="1090"/>
              <a:buFont typeface="Calibri"/>
              <a:buNone/>
            </a:pPr>
            <a:r>
              <a:rPr lang="en-US" sz="1090" b="1">
                <a:solidFill>
                  <a:srgbClr val="0047AB"/>
                </a:solidFill>
                <a:latin typeface="Calibri"/>
                <a:ea typeface="Calibri"/>
                <a:cs typeface="Calibri"/>
                <a:sym typeface="Calibri"/>
              </a:rPr>
              <a:t>GPT-3.5 Fine-tuned</a:t>
            </a:r>
            <a:endParaRPr sz="1090">
              <a:solidFill>
                <a:schemeClr val="dk1"/>
              </a:solidFill>
              <a:latin typeface="Calibri"/>
              <a:ea typeface="Calibri"/>
              <a:cs typeface="Calibri"/>
              <a:sym typeface="Calibri"/>
            </a:endParaRPr>
          </a:p>
        </p:txBody>
      </p:sp>
      <p:sp>
        <p:nvSpPr>
          <p:cNvPr id="538" name="Google Shape;538;p25"/>
          <p:cNvSpPr/>
          <p:nvPr/>
        </p:nvSpPr>
        <p:spPr>
          <a:xfrm>
            <a:off x="4857750" y="3795191"/>
            <a:ext cx="2665500" cy="2397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333333"/>
              </a:buClr>
              <a:buSzPts val="1400"/>
              <a:buFont typeface="Calibri"/>
              <a:buNone/>
            </a:pPr>
            <a:r>
              <a:rPr lang="en-US" sz="1400">
                <a:solidFill>
                  <a:srgbClr val="333333"/>
                </a:solidFill>
                <a:latin typeface="Calibri"/>
                <a:ea typeface="Calibri"/>
                <a:cs typeface="Calibri"/>
                <a:sym typeface="Calibri"/>
              </a:rPr>
              <a:t>Fine-tuned on thousands of SEA ads.</a:t>
            </a:r>
            <a:endParaRPr sz="1400">
              <a:solidFill>
                <a:schemeClr val="dk1"/>
              </a:solidFill>
              <a:latin typeface="Calibri"/>
              <a:ea typeface="Calibri"/>
              <a:cs typeface="Calibri"/>
              <a:sym typeface="Calibri"/>
            </a:endParaRPr>
          </a:p>
        </p:txBody>
      </p:sp>
      <p:sp>
        <p:nvSpPr>
          <p:cNvPr id="539" name="Google Shape;539;p25"/>
          <p:cNvSpPr/>
          <p:nvPr/>
        </p:nvSpPr>
        <p:spPr>
          <a:xfrm>
            <a:off x="4857750" y="4652233"/>
            <a:ext cx="3857700" cy="214200"/>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47AB"/>
              </a:buClr>
              <a:buSzPts val="1090"/>
              <a:buFont typeface="Calibri"/>
              <a:buNone/>
            </a:pPr>
            <a:r>
              <a:rPr lang="en-US" sz="1090" b="1">
                <a:solidFill>
                  <a:srgbClr val="0047AB"/>
                </a:solidFill>
                <a:latin typeface="Calibri"/>
                <a:ea typeface="Calibri"/>
                <a:cs typeface="Calibri"/>
                <a:sym typeface="Calibri"/>
              </a:rPr>
              <a:t>Gemini</a:t>
            </a:r>
            <a:endParaRPr sz="1090">
              <a:solidFill>
                <a:schemeClr val="dk1"/>
              </a:solidFill>
              <a:latin typeface="Calibri"/>
              <a:ea typeface="Calibri"/>
              <a:cs typeface="Calibri"/>
              <a:sym typeface="Calibri"/>
            </a:endParaRPr>
          </a:p>
        </p:txBody>
      </p:sp>
      <p:sp>
        <p:nvSpPr>
          <p:cNvPr id="540" name="Google Shape;540;p25"/>
          <p:cNvSpPr/>
          <p:nvPr/>
        </p:nvSpPr>
        <p:spPr>
          <a:xfrm>
            <a:off x="4862238" y="4824055"/>
            <a:ext cx="2661000" cy="2397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333333"/>
              </a:buClr>
              <a:buSzPts val="1400"/>
              <a:buFont typeface="Calibri"/>
              <a:buNone/>
            </a:pPr>
            <a:r>
              <a:rPr lang="en-US" sz="1400">
                <a:solidFill>
                  <a:srgbClr val="333333"/>
                </a:solidFill>
                <a:latin typeface="Calibri"/>
                <a:ea typeface="Calibri"/>
                <a:cs typeface="Calibri"/>
                <a:sym typeface="Calibri"/>
              </a:rPr>
              <a:t>Google's frontier multimodal model.</a:t>
            </a:r>
            <a:endParaRPr sz="1400">
              <a:solidFill>
                <a:schemeClr val="dk1"/>
              </a:solidFill>
              <a:latin typeface="Calibri"/>
              <a:ea typeface="Calibri"/>
              <a:cs typeface="Calibri"/>
              <a:sym typeface="Calibri"/>
            </a:endParaRPr>
          </a:p>
        </p:txBody>
      </p:sp>
      <p:sp>
        <p:nvSpPr>
          <p:cNvPr id="541" name="Google Shape;541;p25"/>
          <p:cNvSpPr/>
          <p:nvPr/>
        </p:nvSpPr>
        <p:spPr>
          <a:xfrm>
            <a:off x="4857750" y="4125860"/>
            <a:ext cx="3857700" cy="214200"/>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0047AB"/>
              </a:buClr>
              <a:buSzPts val="1090"/>
              <a:buFont typeface="Calibri"/>
              <a:buNone/>
            </a:pPr>
            <a:r>
              <a:rPr lang="en-US" sz="1090" b="1">
                <a:solidFill>
                  <a:srgbClr val="0047AB"/>
                </a:solidFill>
                <a:latin typeface="Calibri"/>
                <a:ea typeface="Calibri"/>
                <a:cs typeface="Calibri"/>
                <a:sym typeface="Calibri"/>
              </a:rPr>
              <a:t>Proprietary Tool</a:t>
            </a:r>
            <a:endParaRPr sz="1090">
              <a:solidFill>
                <a:schemeClr val="dk1"/>
              </a:solidFill>
              <a:latin typeface="Calibri"/>
              <a:ea typeface="Calibri"/>
              <a:cs typeface="Calibri"/>
              <a:sym typeface="Calibri"/>
            </a:endParaRPr>
          </a:p>
        </p:txBody>
      </p:sp>
      <p:sp>
        <p:nvSpPr>
          <p:cNvPr id="542" name="Google Shape;542;p25"/>
          <p:cNvSpPr/>
          <p:nvPr/>
        </p:nvSpPr>
        <p:spPr>
          <a:xfrm>
            <a:off x="4859274" y="4321664"/>
            <a:ext cx="3857700" cy="2397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333333"/>
              </a:buClr>
              <a:buSzPts val="1400"/>
              <a:buFont typeface="Calibri"/>
              <a:buNone/>
            </a:pPr>
            <a:r>
              <a:rPr lang="en-US" sz="1400">
                <a:solidFill>
                  <a:srgbClr val="333333"/>
                </a:solidFill>
                <a:latin typeface="Calibri"/>
                <a:ea typeface="Calibri"/>
                <a:cs typeface="Calibri"/>
                <a:sym typeface="Calibri"/>
              </a:rPr>
              <a:t>Leading industry-standard SEA generator.</a:t>
            </a:r>
            <a:endParaRPr sz="14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26"/>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9" name="Google Shape;549;p26"/>
          <p:cNvSpPr/>
          <p:nvPr/>
        </p:nvSpPr>
        <p:spPr>
          <a:xfrm>
            <a:off x="4156351" y="1660922"/>
            <a:ext cx="4987500" cy="34827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0" name="Google Shape;550;p26"/>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1" name="Google Shape;551;p26"/>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Study 2 Results: The Value of Specialization</a:t>
            </a:r>
            <a:endParaRPr sz="2862">
              <a:solidFill>
                <a:schemeClr val="dk1"/>
              </a:solidFill>
              <a:latin typeface="Calibri"/>
              <a:ea typeface="Calibri"/>
              <a:cs typeface="Calibri"/>
              <a:sym typeface="Calibri"/>
            </a:endParaRPr>
          </a:p>
        </p:txBody>
      </p:sp>
      <p:sp>
        <p:nvSpPr>
          <p:cNvPr id="552" name="Google Shape;552;p26"/>
          <p:cNvSpPr/>
          <p:nvPr/>
        </p:nvSpPr>
        <p:spPr>
          <a:xfrm>
            <a:off x="428625" y="1946672"/>
            <a:ext cx="34347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Core Finding</a:t>
            </a:r>
            <a:endParaRPr sz="1499">
              <a:solidFill>
                <a:schemeClr val="dk1"/>
              </a:solidFill>
              <a:latin typeface="Calibri"/>
              <a:ea typeface="Calibri"/>
              <a:cs typeface="Calibri"/>
              <a:sym typeface="Calibri"/>
            </a:endParaRPr>
          </a:p>
        </p:txBody>
      </p:sp>
      <p:sp>
        <p:nvSpPr>
          <p:cNvPr id="553" name="Google Shape;553;p26"/>
          <p:cNvSpPr/>
          <p:nvPr/>
        </p:nvSpPr>
        <p:spPr>
          <a:xfrm>
            <a:off x="428625" y="2380655"/>
            <a:ext cx="34347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Tailoring Beats Scale</a:t>
            </a:r>
            <a:endParaRPr sz="1397">
              <a:solidFill>
                <a:schemeClr val="dk1"/>
              </a:solidFill>
              <a:latin typeface="Calibri"/>
              <a:ea typeface="Calibri"/>
              <a:cs typeface="Calibri"/>
              <a:sym typeface="Calibri"/>
            </a:endParaRPr>
          </a:p>
        </p:txBody>
      </p:sp>
      <p:sp>
        <p:nvSpPr>
          <p:cNvPr id="554" name="Google Shape;554;p26"/>
          <p:cNvSpPr/>
          <p:nvPr/>
        </p:nvSpPr>
        <p:spPr>
          <a:xfrm>
            <a:off x="428625" y="2692128"/>
            <a:ext cx="3434700" cy="118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dirty="0">
                <a:solidFill>
                  <a:srgbClr val="333333"/>
                </a:solidFill>
                <a:latin typeface="Calibri"/>
                <a:ea typeface="Calibri"/>
                <a:cs typeface="Calibri"/>
                <a:sym typeface="Calibri"/>
              </a:rPr>
              <a:t>The specialized PPLM workflow outperformed massive frontier models like GPT-4 and Gemini in both visibility and engagement.</a:t>
            </a:r>
            <a:endParaRPr sz="1377" dirty="0">
              <a:solidFill>
                <a:schemeClr val="dk1"/>
              </a:solidFill>
              <a:latin typeface="Calibri"/>
              <a:ea typeface="Calibri"/>
              <a:cs typeface="Calibri"/>
              <a:sym typeface="Calibri"/>
            </a:endParaRPr>
          </a:p>
        </p:txBody>
      </p:sp>
      <p:sp>
        <p:nvSpPr>
          <p:cNvPr id="555" name="Google Shape;555;p26"/>
          <p:cNvSpPr/>
          <p:nvPr/>
        </p:nvSpPr>
        <p:spPr>
          <a:xfrm>
            <a:off x="428625" y="3701171"/>
            <a:ext cx="34347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Strategic Insight</a:t>
            </a:r>
            <a:endParaRPr sz="1397">
              <a:solidFill>
                <a:schemeClr val="dk1"/>
              </a:solidFill>
              <a:latin typeface="Calibri"/>
              <a:ea typeface="Calibri"/>
              <a:cs typeface="Calibri"/>
              <a:sym typeface="Calibri"/>
            </a:endParaRPr>
          </a:p>
        </p:txBody>
      </p:sp>
      <p:sp>
        <p:nvSpPr>
          <p:cNvPr id="556" name="Google Shape;556;p26"/>
          <p:cNvSpPr/>
          <p:nvPr/>
        </p:nvSpPr>
        <p:spPr>
          <a:xfrm>
            <a:off x="428625" y="3965129"/>
            <a:ext cx="3434700" cy="118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dirty="0">
                <a:solidFill>
                  <a:srgbClr val="333333"/>
                </a:solidFill>
                <a:latin typeface="Calibri"/>
                <a:ea typeface="Calibri"/>
                <a:cs typeface="Calibri"/>
                <a:sym typeface="Calibri"/>
              </a:rPr>
              <a:t>Raw model size is less critical than </a:t>
            </a:r>
            <a:r>
              <a:rPr lang="en-US" sz="1295" b="1" dirty="0">
                <a:solidFill>
                  <a:srgbClr val="333333"/>
                </a:solidFill>
                <a:latin typeface="Calibri"/>
                <a:ea typeface="Calibri"/>
                <a:cs typeface="Calibri"/>
                <a:sym typeface="Calibri"/>
              </a:rPr>
              <a:t>contextual alignment</a:t>
            </a:r>
            <a:r>
              <a:rPr lang="en-US" sz="1377" dirty="0">
                <a:solidFill>
                  <a:srgbClr val="333333"/>
                </a:solidFill>
                <a:latin typeface="Calibri"/>
                <a:ea typeface="Calibri"/>
                <a:cs typeface="Calibri"/>
                <a:sym typeface="Calibri"/>
              </a:rPr>
              <a:t>. Generic models often lack the precise keyword density required for SEA auctions.</a:t>
            </a:r>
            <a:endParaRPr sz="1377" dirty="0">
              <a:solidFill>
                <a:schemeClr val="dk1"/>
              </a:solidFill>
              <a:latin typeface="Calibri"/>
              <a:ea typeface="Calibri"/>
              <a:cs typeface="Calibri"/>
              <a:sym typeface="Calibri"/>
            </a:endParaRPr>
          </a:p>
        </p:txBody>
      </p:sp>
      <p:sp>
        <p:nvSpPr>
          <p:cNvPr id="557" name="Google Shape;557;p26"/>
          <p:cNvSpPr/>
          <p:nvPr/>
        </p:nvSpPr>
        <p:spPr>
          <a:xfrm>
            <a:off x="4442101" y="1946672"/>
            <a:ext cx="42732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Benchmarking Comparison</a:t>
            </a:r>
            <a:endParaRPr sz="1499">
              <a:solidFill>
                <a:schemeClr val="dk1"/>
              </a:solidFill>
              <a:latin typeface="Calibri"/>
              <a:ea typeface="Calibri"/>
              <a:cs typeface="Calibri"/>
              <a:sym typeface="Calibri"/>
            </a:endParaRPr>
          </a:p>
        </p:txBody>
      </p:sp>
      <p:sp>
        <p:nvSpPr>
          <p:cNvPr id="558" name="Google Shape;558;p26"/>
          <p:cNvSpPr/>
          <p:nvPr/>
        </p:nvSpPr>
        <p:spPr>
          <a:xfrm>
            <a:off x="4442101" y="2380655"/>
            <a:ext cx="1479600" cy="3858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9" name="Google Shape;559;p26"/>
          <p:cNvSpPr/>
          <p:nvPr/>
        </p:nvSpPr>
        <p:spPr>
          <a:xfrm>
            <a:off x="4442101" y="2380655"/>
            <a:ext cx="1479600" cy="385800"/>
          </a:xfrm>
          <a:prstGeom prst="rect">
            <a:avLst/>
          </a:prstGeom>
          <a:noFill/>
          <a:ln>
            <a:noFill/>
          </a:ln>
        </p:spPr>
        <p:txBody>
          <a:bodyPr spcFirstLastPara="1" wrap="square" lIns="102100" tIns="102100" rIns="102100" bIns="102100" anchor="ctr" anchorCtr="0">
            <a:noAutofit/>
          </a:bodyPr>
          <a:lstStyle/>
          <a:p>
            <a:pPr marL="0" marR="0" lvl="0" indent="0" algn="l" rtl="0">
              <a:lnSpc>
                <a:spcPct val="137614"/>
              </a:lnSpc>
              <a:spcBef>
                <a:spcPts val="0"/>
              </a:spcBef>
              <a:spcAft>
                <a:spcPts val="0"/>
              </a:spcAft>
              <a:buClr>
                <a:srgbClr val="FFFFFF"/>
              </a:buClr>
              <a:buSzPts val="1090"/>
              <a:buFont typeface="Calibri"/>
              <a:buNone/>
            </a:pPr>
            <a:r>
              <a:rPr lang="en-US" sz="1090" b="1">
                <a:solidFill>
                  <a:srgbClr val="FFFFFF"/>
                </a:solidFill>
                <a:latin typeface="Calibri"/>
                <a:ea typeface="Calibri"/>
                <a:cs typeface="Calibri"/>
                <a:sym typeface="Calibri"/>
              </a:rPr>
              <a:t>Model / Tool</a:t>
            </a:r>
            <a:endParaRPr sz="1090">
              <a:solidFill>
                <a:schemeClr val="dk1"/>
              </a:solidFill>
              <a:latin typeface="Calibri"/>
              <a:ea typeface="Calibri"/>
              <a:cs typeface="Calibri"/>
              <a:sym typeface="Calibri"/>
            </a:endParaRPr>
          </a:p>
        </p:txBody>
      </p:sp>
      <p:sp>
        <p:nvSpPr>
          <p:cNvPr id="560" name="Google Shape;560;p26"/>
          <p:cNvSpPr/>
          <p:nvPr/>
        </p:nvSpPr>
        <p:spPr>
          <a:xfrm>
            <a:off x="5921750" y="2380655"/>
            <a:ext cx="1674000" cy="3858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1" name="Google Shape;561;p26"/>
          <p:cNvSpPr/>
          <p:nvPr/>
        </p:nvSpPr>
        <p:spPr>
          <a:xfrm>
            <a:off x="5921750" y="2380655"/>
            <a:ext cx="1674000" cy="385800"/>
          </a:xfrm>
          <a:prstGeom prst="rect">
            <a:avLst/>
          </a:prstGeom>
          <a:noFill/>
          <a:ln>
            <a:noFill/>
          </a:ln>
        </p:spPr>
        <p:txBody>
          <a:bodyPr spcFirstLastPara="1" wrap="square" lIns="102100" tIns="102100" rIns="102100" bIns="102100" anchor="ctr" anchorCtr="0">
            <a:noAutofit/>
          </a:bodyPr>
          <a:lstStyle/>
          <a:p>
            <a:pPr marL="0" marR="0" lvl="0" indent="0" algn="l" rtl="0">
              <a:lnSpc>
                <a:spcPct val="137614"/>
              </a:lnSpc>
              <a:spcBef>
                <a:spcPts val="0"/>
              </a:spcBef>
              <a:spcAft>
                <a:spcPts val="0"/>
              </a:spcAft>
              <a:buClr>
                <a:srgbClr val="FFFFFF"/>
              </a:buClr>
              <a:buSzPts val="1090"/>
              <a:buFont typeface="Calibri"/>
              <a:buNone/>
            </a:pPr>
            <a:r>
              <a:rPr lang="en-US" sz="1090" b="1">
                <a:solidFill>
                  <a:srgbClr val="FFFFFF"/>
                </a:solidFill>
                <a:latin typeface="Calibri"/>
                <a:ea typeface="Calibri"/>
                <a:cs typeface="Calibri"/>
                <a:sym typeface="Calibri"/>
              </a:rPr>
              <a:t>Rel. Impressions</a:t>
            </a:r>
            <a:endParaRPr sz="1090">
              <a:solidFill>
                <a:schemeClr val="dk1"/>
              </a:solidFill>
              <a:latin typeface="Calibri"/>
              <a:ea typeface="Calibri"/>
              <a:cs typeface="Calibri"/>
              <a:sym typeface="Calibri"/>
            </a:endParaRPr>
          </a:p>
        </p:txBody>
      </p:sp>
      <p:sp>
        <p:nvSpPr>
          <p:cNvPr id="562" name="Google Shape;562;p26"/>
          <p:cNvSpPr/>
          <p:nvPr/>
        </p:nvSpPr>
        <p:spPr>
          <a:xfrm>
            <a:off x="7595815" y="2380655"/>
            <a:ext cx="1119600" cy="3858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3" name="Google Shape;563;p26"/>
          <p:cNvSpPr/>
          <p:nvPr/>
        </p:nvSpPr>
        <p:spPr>
          <a:xfrm>
            <a:off x="7595815" y="2380655"/>
            <a:ext cx="1119600" cy="385800"/>
          </a:xfrm>
          <a:prstGeom prst="rect">
            <a:avLst/>
          </a:prstGeom>
          <a:noFill/>
          <a:ln>
            <a:noFill/>
          </a:ln>
        </p:spPr>
        <p:txBody>
          <a:bodyPr spcFirstLastPara="1" wrap="square" lIns="102100" tIns="102100" rIns="102100" bIns="102100" anchor="ctr" anchorCtr="0">
            <a:noAutofit/>
          </a:bodyPr>
          <a:lstStyle/>
          <a:p>
            <a:pPr marL="0" marR="0" lvl="0" indent="0" algn="l" rtl="0">
              <a:lnSpc>
                <a:spcPct val="137614"/>
              </a:lnSpc>
              <a:spcBef>
                <a:spcPts val="0"/>
              </a:spcBef>
              <a:spcAft>
                <a:spcPts val="0"/>
              </a:spcAft>
              <a:buClr>
                <a:srgbClr val="FFFFFF"/>
              </a:buClr>
              <a:buSzPts val="1090"/>
              <a:buFont typeface="Calibri"/>
              <a:buNone/>
            </a:pPr>
            <a:r>
              <a:rPr lang="en-US" sz="1090" b="1">
                <a:solidFill>
                  <a:srgbClr val="FFFFFF"/>
                </a:solidFill>
                <a:latin typeface="Calibri"/>
                <a:ea typeface="Calibri"/>
                <a:cs typeface="Calibri"/>
                <a:sym typeface="Calibri"/>
              </a:rPr>
              <a:t>Rel. Clicks</a:t>
            </a:r>
            <a:endParaRPr sz="1090">
              <a:solidFill>
                <a:schemeClr val="dk1"/>
              </a:solidFill>
              <a:latin typeface="Calibri"/>
              <a:ea typeface="Calibri"/>
              <a:cs typeface="Calibri"/>
              <a:sym typeface="Calibri"/>
            </a:endParaRPr>
          </a:p>
        </p:txBody>
      </p:sp>
      <p:sp>
        <p:nvSpPr>
          <p:cNvPr id="564" name="Google Shape;564;p26"/>
          <p:cNvSpPr/>
          <p:nvPr/>
        </p:nvSpPr>
        <p:spPr>
          <a:xfrm>
            <a:off x="4442101" y="2766417"/>
            <a:ext cx="4273200" cy="389400"/>
          </a:xfrm>
          <a:prstGeom prst="rect">
            <a:avLst/>
          </a:prstGeom>
          <a:solidFill>
            <a:srgbClr val="E6EE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5" name="Google Shape;565;p26"/>
          <p:cNvSpPr/>
          <p:nvPr/>
        </p:nvSpPr>
        <p:spPr>
          <a:xfrm>
            <a:off x="4527826" y="2852142"/>
            <a:ext cx="1276200" cy="214200"/>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333333"/>
              </a:buClr>
              <a:buSzPts val="1090"/>
              <a:buFont typeface="Calibri"/>
              <a:buNone/>
            </a:pPr>
            <a:r>
              <a:rPr lang="en-US" sz="1090" b="1">
                <a:solidFill>
                  <a:srgbClr val="333333"/>
                </a:solidFill>
                <a:latin typeface="Calibri"/>
                <a:ea typeface="Calibri"/>
                <a:cs typeface="Calibri"/>
                <a:sym typeface="Calibri"/>
              </a:rPr>
              <a:t>PPLM Workflow</a:t>
            </a:r>
            <a:endParaRPr sz="1090">
              <a:solidFill>
                <a:schemeClr val="dk1"/>
              </a:solidFill>
              <a:latin typeface="Calibri"/>
              <a:ea typeface="Calibri"/>
              <a:cs typeface="Calibri"/>
              <a:sym typeface="Calibri"/>
            </a:endParaRPr>
          </a:p>
        </p:txBody>
      </p:sp>
      <p:sp>
        <p:nvSpPr>
          <p:cNvPr id="566" name="Google Shape;566;p26"/>
          <p:cNvSpPr/>
          <p:nvPr/>
        </p:nvSpPr>
        <p:spPr>
          <a:xfrm>
            <a:off x="6007475" y="2852142"/>
            <a:ext cx="425400" cy="214200"/>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333333"/>
              </a:buClr>
              <a:buSzPts val="1090"/>
              <a:buFont typeface="Calibri"/>
              <a:buNone/>
            </a:pPr>
            <a:r>
              <a:rPr lang="en-US" sz="1090" b="1">
                <a:solidFill>
                  <a:srgbClr val="333333"/>
                </a:solidFill>
                <a:latin typeface="Calibri"/>
                <a:ea typeface="Calibri"/>
                <a:cs typeface="Calibri"/>
                <a:sym typeface="Calibri"/>
              </a:rPr>
              <a:t>100%</a:t>
            </a:r>
            <a:endParaRPr sz="1090">
              <a:solidFill>
                <a:schemeClr val="dk1"/>
              </a:solidFill>
              <a:latin typeface="Calibri"/>
              <a:ea typeface="Calibri"/>
              <a:cs typeface="Calibri"/>
              <a:sym typeface="Calibri"/>
            </a:endParaRPr>
          </a:p>
        </p:txBody>
      </p:sp>
      <p:sp>
        <p:nvSpPr>
          <p:cNvPr id="567" name="Google Shape;567;p26"/>
          <p:cNvSpPr/>
          <p:nvPr/>
        </p:nvSpPr>
        <p:spPr>
          <a:xfrm>
            <a:off x="7681540" y="2852142"/>
            <a:ext cx="425400" cy="214200"/>
          </a:xfrm>
          <a:prstGeom prst="rect">
            <a:avLst/>
          </a:prstGeom>
          <a:noFill/>
          <a:ln>
            <a:noFill/>
          </a:ln>
        </p:spPr>
        <p:txBody>
          <a:bodyPr spcFirstLastPara="1" wrap="square" lIns="0" tIns="0" rIns="0" bIns="0" anchor="t" anchorCtr="0">
            <a:noAutofit/>
          </a:bodyPr>
          <a:lstStyle/>
          <a:p>
            <a:pPr marL="0" marR="0" lvl="0" indent="0" algn="l" rtl="0">
              <a:lnSpc>
                <a:spcPct val="137614"/>
              </a:lnSpc>
              <a:spcBef>
                <a:spcPts val="0"/>
              </a:spcBef>
              <a:spcAft>
                <a:spcPts val="0"/>
              </a:spcAft>
              <a:buClr>
                <a:srgbClr val="333333"/>
              </a:buClr>
              <a:buSzPts val="1090"/>
              <a:buFont typeface="Calibri"/>
              <a:buNone/>
            </a:pPr>
            <a:r>
              <a:rPr lang="en-US" sz="1090" b="1">
                <a:solidFill>
                  <a:srgbClr val="333333"/>
                </a:solidFill>
                <a:latin typeface="Calibri"/>
                <a:ea typeface="Calibri"/>
                <a:cs typeface="Calibri"/>
                <a:sym typeface="Calibri"/>
              </a:rPr>
              <a:t>100%</a:t>
            </a:r>
            <a:endParaRPr sz="1090">
              <a:solidFill>
                <a:schemeClr val="dk1"/>
              </a:solidFill>
              <a:latin typeface="Calibri"/>
              <a:ea typeface="Calibri"/>
              <a:cs typeface="Calibri"/>
              <a:sym typeface="Calibri"/>
            </a:endParaRPr>
          </a:p>
        </p:txBody>
      </p:sp>
      <p:sp>
        <p:nvSpPr>
          <p:cNvPr id="568" name="Google Shape;568;p26"/>
          <p:cNvSpPr/>
          <p:nvPr/>
        </p:nvSpPr>
        <p:spPr>
          <a:xfrm>
            <a:off x="4442101" y="3155752"/>
            <a:ext cx="1479600" cy="393000"/>
          </a:xfrm>
          <a:prstGeom prst="rect">
            <a:avLst/>
          </a:prstGeom>
          <a:noFill/>
          <a:ln>
            <a:noFill/>
          </a:ln>
        </p:spPr>
        <p:txBody>
          <a:bodyPr spcFirstLastPara="1" wrap="square" lIns="102100" tIns="102100" rIns="102100" bIns="102100" anchor="ctr"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GPT-4 (Advanced)</a:t>
            </a:r>
            <a:endParaRPr sz="1159">
              <a:solidFill>
                <a:schemeClr val="dk1"/>
              </a:solidFill>
              <a:latin typeface="Calibri"/>
              <a:ea typeface="Calibri"/>
              <a:cs typeface="Calibri"/>
              <a:sym typeface="Calibri"/>
            </a:endParaRPr>
          </a:p>
        </p:txBody>
      </p:sp>
      <p:sp>
        <p:nvSpPr>
          <p:cNvPr id="569" name="Google Shape;569;p26"/>
          <p:cNvSpPr/>
          <p:nvPr/>
        </p:nvSpPr>
        <p:spPr>
          <a:xfrm>
            <a:off x="5921750" y="3155752"/>
            <a:ext cx="1674000" cy="393000"/>
          </a:xfrm>
          <a:prstGeom prst="rect">
            <a:avLst/>
          </a:prstGeom>
          <a:noFill/>
          <a:ln>
            <a:noFill/>
          </a:ln>
        </p:spPr>
        <p:txBody>
          <a:bodyPr spcFirstLastPara="1" wrap="square" lIns="102100" tIns="102100" rIns="102100" bIns="102100" anchor="ctr"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72%</a:t>
            </a:r>
            <a:endParaRPr sz="1159">
              <a:solidFill>
                <a:schemeClr val="dk1"/>
              </a:solidFill>
              <a:latin typeface="Calibri"/>
              <a:ea typeface="Calibri"/>
              <a:cs typeface="Calibri"/>
              <a:sym typeface="Calibri"/>
            </a:endParaRPr>
          </a:p>
        </p:txBody>
      </p:sp>
      <p:sp>
        <p:nvSpPr>
          <p:cNvPr id="570" name="Google Shape;570;p26"/>
          <p:cNvSpPr/>
          <p:nvPr/>
        </p:nvSpPr>
        <p:spPr>
          <a:xfrm>
            <a:off x="7595815" y="3155752"/>
            <a:ext cx="1119600" cy="393000"/>
          </a:xfrm>
          <a:prstGeom prst="rect">
            <a:avLst/>
          </a:prstGeom>
          <a:noFill/>
          <a:ln>
            <a:noFill/>
          </a:ln>
        </p:spPr>
        <p:txBody>
          <a:bodyPr spcFirstLastPara="1" wrap="square" lIns="102100" tIns="102100" rIns="102100" bIns="102100" anchor="ctr"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68%</a:t>
            </a:r>
            <a:endParaRPr sz="1159">
              <a:solidFill>
                <a:schemeClr val="dk1"/>
              </a:solidFill>
              <a:latin typeface="Calibri"/>
              <a:ea typeface="Calibri"/>
              <a:cs typeface="Calibri"/>
              <a:sym typeface="Calibri"/>
            </a:endParaRPr>
          </a:p>
        </p:txBody>
      </p:sp>
      <p:sp>
        <p:nvSpPr>
          <p:cNvPr id="571" name="Google Shape;571;p26"/>
          <p:cNvSpPr/>
          <p:nvPr/>
        </p:nvSpPr>
        <p:spPr>
          <a:xfrm>
            <a:off x="4442101" y="3548658"/>
            <a:ext cx="1479600" cy="393000"/>
          </a:xfrm>
          <a:prstGeom prst="rect">
            <a:avLst/>
          </a:prstGeom>
          <a:noFill/>
          <a:ln>
            <a:noFill/>
          </a:ln>
        </p:spPr>
        <p:txBody>
          <a:bodyPr spcFirstLastPara="1" wrap="square" lIns="102100" tIns="102100" rIns="102100" bIns="102100" anchor="ctr"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Gemini</a:t>
            </a:r>
            <a:endParaRPr sz="1159">
              <a:solidFill>
                <a:schemeClr val="dk1"/>
              </a:solidFill>
              <a:latin typeface="Calibri"/>
              <a:ea typeface="Calibri"/>
              <a:cs typeface="Calibri"/>
              <a:sym typeface="Calibri"/>
            </a:endParaRPr>
          </a:p>
        </p:txBody>
      </p:sp>
      <p:sp>
        <p:nvSpPr>
          <p:cNvPr id="572" name="Google Shape;572;p26"/>
          <p:cNvSpPr/>
          <p:nvPr/>
        </p:nvSpPr>
        <p:spPr>
          <a:xfrm>
            <a:off x="5921750" y="3548658"/>
            <a:ext cx="1674000" cy="393000"/>
          </a:xfrm>
          <a:prstGeom prst="rect">
            <a:avLst/>
          </a:prstGeom>
          <a:noFill/>
          <a:ln>
            <a:noFill/>
          </a:ln>
        </p:spPr>
        <p:txBody>
          <a:bodyPr spcFirstLastPara="1" wrap="square" lIns="102100" tIns="102100" rIns="102100" bIns="102100" anchor="ctr"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65%</a:t>
            </a:r>
            <a:endParaRPr sz="1159">
              <a:solidFill>
                <a:schemeClr val="dk1"/>
              </a:solidFill>
              <a:latin typeface="Calibri"/>
              <a:ea typeface="Calibri"/>
              <a:cs typeface="Calibri"/>
              <a:sym typeface="Calibri"/>
            </a:endParaRPr>
          </a:p>
        </p:txBody>
      </p:sp>
      <p:sp>
        <p:nvSpPr>
          <p:cNvPr id="573" name="Google Shape;573;p26"/>
          <p:cNvSpPr/>
          <p:nvPr/>
        </p:nvSpPr>
        <p:spPr>
          <a:xfrm>
            <a:off x="7595815" y="3548658"/>
            <a:ext cx="1119600" cy="393000"/>
          </a:xfrm>
          <a:prstGeom prst="rect">
            <a:avLst/>
          </a:prstGeom>
          <a:noFill/>
          <a:ln>
            <a:noFill/>
          </a:ln>
        </p:spPr>
        <p:txBody>
          <a:bodyPr spcFirstLastPara="1" wrap="square" lIns="102100" tIns="102100" rIns="102100" bIns="102100" anchor="ctr"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59%</a:t>
            </a:r>
            <a:endParaRPr sz="1159">
              <a:solidFill>
                <a:schemeClr val="dk1"/>
              </a:solidFill>
              <a:latin typeface="Calibri"/>
              <a:ea typeface="Calibri"/>
              <a:cs typeface="Calibri"/>
              <a:sym typeface="Calibri"/>
            </a:endParaRPr>
          </a:p>
        </p:txBody>
      </p:sp>
      <p:sp>
        <p:nvSpPr>
          <p:cNvPr id="574" name="Google Shape;574;p26"/>
          <p:cNvSpPr/>
          <p:nvPr/>
        </p:nvSpPr>
        <p:spPr>
          <a:xfrm>
            <a:off x="4442101" y="3941564"/>
            <a:ext cx="1479600" cy="393000"/>
          </a:xfrm>
          <a:prstGeom prst="rect">
            <a:avLst/>
          </a:prstGeom>
          <a:noFill/>
          <a:ln>
            <a:noFill/>
          </a:ln>
        </p:spPr>
        <p:txBody>
          <a:bodyPr spcFirstLastPara="1" wrap="square" lIns="102100" tIns="102100" rIns="102100" bIns="102100" anchor="ctr"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Proprietary Tool</a:t>
            </a:r>
            <a:endParaRPr sz="1159">
              <a:solidFill>
                <a:schemeClr val="dk1"/>
              </a:solidFill>
              <a:latin typeface="Calibri"/>
              <a:ea typeface="Calibri"/>
              <a:cs typeface="Calibri"/>
              <a:sym typeface="Calibri"/>
            </a:endParaRPr>
          </a:p>
        </p:txBody>
      </p:sp>
      <p:sp>
        <p:nvSpPr>
          <p:cNvPr id="575" name="Google Shape;575;p26"/>
          <p:cNvSpPr/>
          <p:nvPr/>
        </p:nvSpPr>
        <p:spPr>
          <a:xfrm>
            <a:off x="5921750" y="3941564"/>
            <a:ext cx="1674000" cy="393000"/>
          </a:xfrm>
          <a:prstGeom prst="rect">
            <a:avLst/>
          </a:prstGeom>
          <a:noFill/>
          <a:ln>
            <a:noFill/>
          </a:ln>
        </p:spPr>
        <p:txBody>
          <a:bodyPr spcFirstLastPara="1" wrap="square" lIns="102100" tIns="102100" rIns="102100" bIns="102100" anchor="ctr"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58%</a:t>
            </a:r>
            <a:endParaRPr sz="1159">
              <a:solidFill>
                <a:schemeClr val="dk1"/>
              </a:solidFill>
              <a:latin typeface="Calibri"/>
              <a:ea typeface="Calibri"/>
              <a:cs typeface="Calibri"/>
              <a:sym typeface="Calibri"/>
            </a:endParaRPr>
          </a:p>
        </p:txBody>
      </p:sp>
      <p:sp>
        <p:nvSpPr>
          <p:cNvPr id="576" name="Google Shape;576;p26"/>
          <p:cNvSpPr/>
          <p:nvPr/>
        </p:nvSpPr>
        <p:spPr>
          <a:xfrm>
            <a:off x="7595815" y="3941564"/>
            <a:ext cx="1119600" cy="393000"/>
          </a:xfrm>
          <a:prstGeom prst="rect">
            <a:avLst/>
          </a:prstGeom>
          <a:noFill/>
          <a:ln>
            <a:noFill/>
          </a:ln>
        </p:spPr>
        <p:txBody>
          <a:bodyPr spcFirstLastPara="1" wrap="square" lIns="102100" tIns="102100" rIns="102100" bIns="102100" anchor="ctr" anchorCtr="0">
            <a:noAutofit/>
          </a:bodyPr>
          <a:lstStyle/>
          <a:p>
            <a:pPr marL="0" marR="0" lvl="0" indent="0" algn="l" rtl="0">
              <a:lnSpc>
                <a:spcPct val="129421"/>
              </a:lnSpc>
              <a:spcBef>
                <a:spcPts val="0"/>
              </a:spcBef>
              <a:spcAft>
                <a:spcPts val="0"/>
              </a:spcAft>
              <a:buClr>
                <a:srgbClr val="333333"/>
              </a:buClr>
              <a:buSzPts val="1159"/>
              <a:buFont typeface="Calibri"/>
              <a:buNone/>
            </a:pPr>
            <a:r>
              <a:rPr lang="en-US" sz="1159">
                <a:solidFill>
                  <a:srgbClr val="333333"/>
                </a:solidFill>
                <a:latin typeface="Calibri"/>
                <a:ea typeface="Calibri"/>
                <a:cs typeface="Calibri"/>
                <a:sym typeface="Calibri"/>
              </a:rPr>
              <a:t>54%</a:t>
            </a:r>
            <a:endParaRPr sz="1159">
              <a:solidFill>
                <a:schemeClr val="dk1"/>
              </a:solidFill>
              <a:latin typeface="Calibri"/>
              <a:ea typeface="Calibri"/>
              <a:cs typeface="Calibri"/>
              <a:sym typeface="Calibri"/>
            </a:endParaRPr>
          </a:p>
        </p:txBody>
      </p:sp>
      <p:sp>
        <p:nvSpPr>
          <p:cNvPr id="577" name="Google Shape;577;p26"/>
          <p:cNvSpPr/>
          <p:nvPr/>
        </p:nvSpPr>
        <p:spPr>
          <a:xfrm>
            <a:off x="4513538" y="4547113"/>
            <a:ext cx="4273200" cy="2358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666666"/>
              </a:buClr>
              <a:buSzPts val="1000"/>
              <a:buFont typeface="Calibri"/>
              <a:buNone/>
            </a:pPr>
            <a:r>
              <a:rPr lang="en-US" sz="1000" i="1">
                <a:solidFill>
                  <a:srgbClr val="666666"/>
                </a:solidFill>
                <a:latin typeface="Calibri"/>
                <a:ea typeface="Calibri"/>
                <a:cs typeface="Calibri"/>
                <a:sym typeface="Calibri"/>
              </a:rPr>
              <a:t>The "one-shot" nature of simple prompting fails to achieve the precise alignment that controlled decoding and the CS_ad selection layer provide.</a:t>
            </a:r>
            <a:endParaRPr sz="10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27"/>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4" name="Google Shape;584;p27"/>
          <p:cNvSpPr/>
          <p:nvPr/>
        </p:nvSpPr>
        <p:spPr>
          <a:xfrm>
            <a:off x="4707731" y="1660922"/>
            <a:ext cx="4440300" cy="34827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5" name="Google Shape;585;p27"/>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6" name="Google Shape;586;p27"/>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Study 3: Performance Under Cost Constraints</a:t>
            </a:r>
            <a:endParaRPr sz="2862">
              <a:solidFill>
                <a:schemeClr val="dk1"/>
              </a:solidFill>
              <a:latin typeface="Calibri"/>
              <a:ea typeface="Calibri"/>
              <a:cs typeface="Calibri"/>
              <a:sym typeface="Calibri"/>
            </a:endParaRPr>
          </a:p>
        </p:txBody>
      </p:sp>
      <p:sp>
        <p:nvSpPr>
          <p:cNvPr id="587" name="Google Shape;587;p27"/>
          <p:cNvSpPr/>
          <p:nvPr/>
        </p:nvSpPr>
        <p:spPr>
          <a:xfrm>
            <a:off x="428625" y="1825779"/>
            <a:ext cx="38505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Objective &amp; Method</a:t>
            </a:r>
            <a:endParaRPr sz="1499">
              <a:solidFill>
                <a:schemeClr val="dk1"/>
              </a:solidFill>
              <a:latin typeface="Calibri"/>
              <a:ea typeface="Calibri"/>
              <a:cs typeface="Calibri"/>
              <a:sym typeface="Calibri"/>
            </a:endParaRPr>
          </a:p>
        </p:txBody>
      </p:sp>
      <p:sp>
        <p:nvSpPr>
          <p:cNvPr id="588" name="Google Shape;588;p27"/>
          <p:cNvSpPr/>
          <p:nvPr/>
        </p:nvSpPr>
        <p:spPr>
          <a:xfrm>
            <a:off x="428625" y="2259762"/>
            <a:ext cx="38505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Cost-Aware Selection</a:t>
            </a:r>
            <a:endParaRPr sz="1397">
              <a:solidFill>
                <a:schemeClr val="dk1"/>
              </a:solidFill>
              <a:latin typeface="Calibri"/>
              <a:ea typeface="Calibri"/>
              <a:cs typeface="Calibri"/>
              <a:sym typeface="Calibri"/>
            </a:endParaRPr>
          </a:p>
        </p:txBody>
      </p:sp>
      <p:sp>
        <p:nvSpPr>
          <p:cNvPr id="589" name="Google Shape;589;p27"/>
          <p:cNvSpPr/>
          <p:nvPr/>
        </p:nvSpPr>
        <p:spPr>
          <a:xfrm>
            <a:off x="428625" y="2640166"/>
            <a:ext cx="3850500" cy="646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400"/>
              <a:buFont typeface="Calibri"/>
              <a:buNone/>
            </a:pPr>
            <a:r>
              <a:rPr lang="en-US" sz="1400">
                <a:solidFill>
                  <a:srgbClr val="333333"/>
                </a:solidFill>
                <a:latin typeface="Calibri"/>
                <a:ea typeface="Calibri"/>
                <a:cs typeface="Calibri"/>
                <a:sym typeface="Calibri"/>
              </a:rPr>
              <a:t>Test if the workflow can maintain high performance while strictly controlling costs by selecting ads with high </a:t>
            </a:r>
            <a:r>
              <a:rPr lang="en-US" sz="1400" b="1">
                <a:solidFill>
                  <a:srgbClr val="0047AB"/>
                </a:solidFill>
                <a:latin typeface="Calibri"/>
                <a:ea typeface="Calibri"/>
                <a:cs typeface="Calibri"/>
                <a:sym typeface="Calibri"/>
              </a:rPr>
              <a:t>CS_ad</a:t>
            </a:r>
            <a:r>
              <a:rPr lang="en-US" sz="1400">
                <a:solidFill>
                  <a:srgbClr val="333333"/>
                </a:solidFill>
                <a:latin typeface="Calibri"/>
                <a:ea typeface="Calibri"/>
                <a:cs typeface="Calibri"/>
                <a:sym typeface="Calibri"/>
              </a:rPr>
              <a:t> but low predicted </a:t>
            </a:r>
            <a:r>
              <a:rPr lang="en-US" sz="1400" b="1">
                <a:solidFill>
                  <a:srgbClr val="0047AB"/>
                </a:solidFill>
                <a:latin typeface="Calibri"/>
                <a:ea typeface="Calibri"/>
                <a:cs typeface="Calibri"/>
                <a:sym typeface="Calibri"/>
              </a:rPr>
              <a:t>CPC</a:t>
            </a:r>
            <a:r>
              <a:rPr lang="en-US" sz="1400">
                <a:solidFill>
                  <a:srgbClr val="333333"/>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590" name="Google Shape;590;p27"/>
          <p:cNvSpPr/>
          <p:nvPr/>
        </p:nvSpPr>
        <p:spPr>
          <a:xfrm>
            <a:off x="428625" y="3657364"/>
            <a:ext cx="38505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Methodology</a:t>
            </a:r>
            <a:endParaRPr sz="1397">
              <a:solidFill>
                <a:schemeClr val="dk1"/>
              </a:solidFill>
              <a:latin typeface="Calibri"/>
              <a:ea typeface="Calibri"/>
              <a:cs typeface="Calibri"/>
              <a:sym typeface="Calibri"/>
            </a:endParaRPr>
          </a:p>
        </p:txBody>
      </p:sp>
      <p:sp>
        <p:nvSpPr>
          <p:cNvPr id="591" name="Google Shape;591;p27"/>
          <p:cNvSpPr/>
          <p:nvPr/>
        </p:nvSpPr>
        <p:spPr>
          <a:xfrm>
            <a:off x="428624" y="3940324"/>
            <a:ext cx="3850500" cy="646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400"/>
              <a:buFont typeface="Calibri"/>
              <a:buNone/>
            </a:pPr>
            <a:r>
              <a:rPr lang="en-US" sz="1400">
                <a:solidFill>
                  <a:srgbClr val="333333"/>
                </a:solidFill>
                <a:latin typeface="Calibri"/>
                <a:ea typeface="Calibri"/>
                <a:cs typeface="Calibri"/>
                <a:sym typeface="Calibri"/>
              </a:rPr>
              <a:t>Field test in IT &amp; SaaS sector on 38 low-cost keywords, using the CPC prediction module to filter candidates before deployment.</a:t>
            </a:r>
            <a:endParaRPr sz="1400">
              <a:solidFill>
                <a:schemeClr val="dk1"/>
              </a:solidFill>
              <a:latin typeface="Calibri"/>
              <a:ea typeface="Calibri"/>
              <a:cs typeface="Calibri"/>
              <a:sym typeface="Calibri"/>
            </a:endParaRPr>
          </a:p>
        </p:txBody>
      </p:sp>
      <p:sp>
        <p:nvSpPr>
          <p:cNvPr id="592" name="Google Shape;592;p27"/>
          <p:cNvSpPr/>
          <p:nvPr/>
        </p:nvSpPr>
        <p:spPr>
          <a:xfrm>
            <a:off x="4857750" y="1825779"/>
            <a:ext cx="38577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Key Findings</a:t>
            </a:r>
            <a:endParaRPr sz="1499">
              <a:solidFill>
                <a:schemeClr val="dk1"/>
              </a:solidFill>
              <a:latin typeface="Calibri"/>
              <a:ea typeface="Calibri"/>
              <a:cs typeface="Calibri"/>
              <a:sym typeface="Calibri"/>
            </a:endParaRPr>
          </a:p>
        </p:txBody>
      </p:sp>
      <p:sp>
        <p:nvSpPr>
          <p:cNvPr id="593" name="Google Shape;593;p27"/>
          <p:cNvSpPr/>
          <p:nvPr/>
        </p:nvSpPr>
        <p:spPr>
          <a:xfrm>
            <a:off x="4864896" y="2197252"/>
            <a:ext cx="1240800" cy="192300"/>
          </a:xfrm>
          <a:prstGeom prst="rect">
            <a:avLst/>
          </a:prstGeom>
          <a:noFill/>
          <a:ln>
            <a:noFill/>
          </a:ln>
        </p:spPr>
        <p:txBody>
          <a:bodyPr spcFirstLastPara="1" wrap="square" lIns="0" tIns="0" rIns="0" bIns="0" anchor="t" anchorCtr="0">
            <a:noAutofit/>
          </a:bodyPr>
          <a:lstStyle/>
          <a:p>
            <a:pPr marL="0" marR="0" lvl="0" indent="0" algn="l" rtl="0">
              <a:lnSpc>
                <a:spcPct val="107142"/>
              </a:lnSpc>
              <a:spcBef>
                <a:spcPts val="0"/>
              </a:spcBef>
              <a:spcAft>
                <a:spcPts val="0"/>
              </a:spcAft>
              <a:buClr>
                <a:srgbClr val="000000"/>
              </a:buClr>
              <a:buSzPts val="1400"/>
              <a:buFont typeface="Calibri"/>
              <a:buNone/>
            </a:pPr>
            <a:r>
              <a:rPr lang="en-US" sz="1400" b="1">
                <a:solidFill>
                  <a:srgbClr val="000000"/>
                </a:solidFill>
                <a:latin typeface="Calibri"/>
                <a:ea typeface="Calibri"/>
                <a:cs typeface="Calibri"/>
                <a:sym typeface="Calibri"/>
              </a:rPr>
              <a:t>Performance Lift</a:t>
            </a:r>
            <a:endParaRPr sz="1400">
              <a:solidFill>
                <a:schemeClr val="dk1"/>
              </a:solidFill>
              <a:latin typeface="Calibri"/>
              <a:ea typeface="Calibri"/>
              <a:cs typeface="Calibri"/>
              <a:sym typeface="Calibri"/>
            </a:endParaRPr>
          </a:p>
        </p:txBody>
      </p:sp>
      <p:sp>
        <p:nvSpPr>
          <p:cNvPr id="594" name="Google Shape;594;p27"/>
          <p:cNvSpPr/>
          <p:nvPr/>
        </p:nvSpPr>
        <p:spPr>
          <a:xfrm>
            <a:off x="4864896" y="2468716"/>
            <a:ext cx="3857700" cy="646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400"/>
              <a:buFont typeface="Calibri"/>
              <a:buNone/>
            </a:pPr>
            <a:r>
              <a:rPr lang="en-US" sz="1400">
                <a:solidFill>
                  <a:srgbClr val="333333"/>
                </a:solidFill>
                <a:latin typeface="Calibri"/>
                <a:ea typeface="Calibri"/>
                <a:cs typeface="Calibri"/>
                <a:sym typeface="Calibri"/>
              </a:rPr>
              <a:t>Still significantly outperformed human experts in both impressions and clicks, even under cost constraints.</a:t>
            </a:r>
            <a:endParaRPr sz="1400">
              <a:solidFill>
                <a:schemeClr val="dk1"/>
              </a:solidFill>
              <a:latin typeface="Calibri"/>
              <a:ea typeface="Calibri"/>
              <a:cs typeface="Calibri"/>
              <a:sym typeface="Calibri"/>
            </a:endParaRPr>
          </a:p>
        </p:txBody>
      </p:sp>
      <p:sp>
        <p:nvSpPr>
          <p:cNvPr id="595" name="Google Shape;595;p27"/>
          <p:cNvSpPr/>
          <p:nvPr/>
        </p:nvSpPr>
        <p:spPr>
          <a:xfrm>
            <a:off x="4857749" y="3234061"/>
            <a:ext cx="914400" cy="192300"/>
          </a:xfrm>
          <a:prstGeom prst="rect">
            <a:avLst/>
          </a:prstGeom>
          <a:noFill/>
          <a:ln>
            <a:noFill/>
          </a:ln>
        </p:spPr>
        <p:txBody>
          <a:bodyPr spcFirstLastPara="1" wrap="square" lIns="0" tIns="0" rIns="0" bIns="0" anchor="t" anchorCtr="0">
            <a:noAutofit/>
          </a:bodyPr>
          <a:lstStyle/>
          <a:p>
            <a:pPr marL="0" marR="0" lvl="0" indent="0" algn="l" rtl="0">
              <a:lnSpc>
                <a:spcPct val="107142"/>
              </a:lnSpc>
              <a:spcBef>
                <a:spcPts val="0"/>
              </a:spcBef>
              <a:spcAft>
                <a:spcPts val="0"/>
              </a:spcAft>
              <a:buClr>
                <a:srgbClr val="000000"/>
              </a:buClr>
              <a:buSzPts val="1400"/>
              <a:buFont typeface="Calibri"/>
              <a:buNone/>
            </a:pPr>
            <a:r>
              <a:rPr lang="en-US" sz="1400" b="1">
                <a:solidFill>
                  <a:srgbClr val="000000"/>
                </a:solidFill>
                <a:latin typeface="Calibri"/>
                <a:ea typeface="Calibri"/>
                <a:cs typeface="Calibri"/>
                <a:sym typeface="Calibri"/>
              </a:rPr>
              <a:t>Cost Control</a:t>
            </a:r>
            <a:endParaRPr sz="1400">
              <a:solidFill>
                <a:schemeClr val="dk1"/>
              </a:solidFill>
              <a:latin typeface="Calibri"/>
              <a:ea typeface="Calibri"/>
              <a:cs typeface="Calibri"/>
              <a:sym typeface="Calibri"/>
            </a:endParaRPr>
          </a:p>
        </p:txBody>
      </p:sp>
      <p:sp>
        <p:nvSpPr>
          <p:cNvPr id="596" name="Google Shape;596;p27"/>
          <p:cNvSpPr/>
          <p:nvPr/>
        </p:nvSpPr>
        <p:spPr>
          <a:xfrm>
            <a:off x="4857749" y="3445516"/>
            <a:ext cx="3857700" cy="646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400"/>
              <a:buFont typeface="Calibri"/>
              <a:buNone/>
            </a:pPr>
            <a:r>
              <a:rPr lang="en-US" sz="1400">
                <a:solidFill>
                  <a:srgbClr val="333333"/>
                </a:solidFill>
                <a:latin typeface="Calibri"/>
                <a:ea typeface="Calibri"/>
                <a:cs typeface="Calibri"/>
                <a:sym typeface="Calibri"/>
              </a:rPr>
              <a:t>Median CPC was statistically identical to human ads, successfully avoiding the "cost spikes" seen with high-relevance AI ads.</a:t>
            </a:r>
            <a:endParaRPr sz="1400">
              <a:solidFill>
                <a:schemeClr val="dk1"/>
              </a:solidFill>
              <a:latin typeface="Calibri"/>
              <a:ea typeface="Calibri"/>
              <a:cs typeface="Calibri"/>
              <a:sym typeface="Calibri"/>
            </a:endParaRPr>
          </a:p>
        </p:txBody>
      </p:sp>
      <p:sp>
        <p:nvSpPr>
          <p:cNvPr id="597" name="Google Shape;597;p27"/>
          <p:cNvSpPr/>
          <p:nvPr/>
        </p:nvSpPr>
        <p:spPr>
          <a:xfrm>
            <a:off x="4857748" y="4236234"/>
            <a:ext cx="747000" cy="192300"/>
          </a:xfrm>
          <a:prstGeom prst="rect">
            <a:avLst/>
          </a:prstGeom>
          <a:noFill/>
          <a:ln>
            <a:noFill/>
          </a:ln>
        </p:spPr>
        <p:txBody>
          <a:bodyPr spcFirstLastPara="1" wrap="square" lIns="0" tIns="0" rIns="0" bIns="0" anchor="t" anchorCtr="0">
            <a:noAutofit/>
          </a:bodyPr>
          <a:lstStyle/>
          <a:p>
            <a:pPr marL="0" marR="0" lvl="0" indent="0" algn="l" rtl="0">
              <a:lnSpc>
                <a:spcPct val="107142"/>
              </a:lnSpc>
              <a:spcBef>
                <a:spcPts val="0"/>
              </a:spcBef>
              <a:spcAft>
                <a:spcPts val="0"/>
              </a:spcAft>
              <a:buClr>
                <a:srgbClr val="000000"/>
              </a:buClr>
              <a:buSzPts val="1400"/>
              <a:buFont typeface="Calibri"/>
              <a:buNone/>
            </a:pPr>
            <a:r>
              <a:rPr lang="en-US" sz="1400" b="1">
                <a:solidFill>
                  <a:srgbClr val="000000"/>
                </a:solidFill>
                <a:latin typeface="Calibri"/>
                <a:ea typeface="Calibri"/>
                <a:cs typeface="Calibri"/>
                <a:sym typeface="Calibri"/>
              </a:rPr>
              <a:t>Takeaway</a:t>
            </a:r>
            <a:endParaRPr sz="1400">
              <a:solidFill>
                <a:schemeClr val="dk1"/>
              </a:solidFill>
              <a:latin typeface="Calibri"/>
              <a:ea typeface="Calibri"/>
              <a:cs typeface="Calibri"/>
              <a:sym typeface="Calibri"/>
            </a:endParaRPr>
          </a:p>
        </p:txBody>
      </p:sp>
      <p:sp>
        <p:nvSpPr>
          <p:cNvPr id="598" name="Google Shape;598;p27"/>
          <p:cNvSpPr/>
          <p:nvPr/>
        </p:nvSpPr>
        <p:spPr>
          <a:xfrm>
            <a:off x="4864896" y="4451003"/>
            <a:ext cx="3857700" cy="646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400"/>
              <a:buFont typeface="Calibri"/>
              <a:buNone/>
            </a:pPr>
            <a:r>
              <a:rPr lang="en-US" sz="1400">
                <a:solidFill>
                  <a:srgbClr val="333333"/>
                </a:solidFill>
                <a:latin typeface="Calibri"/>
                <a:ea typeface="Calibri"/>
                <a:cs typeface="Calibri"/>
                <a:sym typeface="Calibri"/>
              </a:rPr>
              <a:t>Predictive modeling enables "budget discipline" without sacrificing the visibility gains of AI-driven content.</a:t>
            </a:r>
            <a:endParaRPr sz="14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28"/>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5" name="Google Shape;605;p28"/>
          <p:cNvSpPr/>
          <p:nvPr/>
        </p:nvSpPr>
        <p:spPr>
          <a:xfrm>
            <a:off x="4572000" y="1660922"/>
            <a:ext cx="4572000" cy="34827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6" name="Google Shape;606;p28"/>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7" name="Google Shape;607;p28"/>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Boundary Condition: Landing Page Optimization</a:t>
            </a:r>
            <a:endParaRPr sz="2862">
              <a:solidFill>
                <a:schemeClr val="dk1"/>
              </a:solidFill>
              <a:latin typeface="Calibri"/>
              <a:ea typeface="Calibri"/>
              <a:cs typeface="Calibri"/>
              <a:sym typeface="Calibri"/>
            </a:endParaRPr>
          </a:p>
        </p:txBody>
      </p:sp>
      <p:sp>
        <p:nvSpPr>
          <p:cNvPr id="608" name="Google Shape;608;p28"/>
          <p:cNvSpPr/>
          <p:nvPr/>
        </p:nvSpPr>
        <p:spPr>
          <a:xfrm>
            <a:off x="428625" y="1860947"/>
            <a:ext cx="1393800" cy="2466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5F00"/>
              </a:buClr>
              <a:buSzPts val="1600"/>
              <a:buFont typeface="Calibri"/>
              <a:buNone/>
            </a:pPr>
            <a:r>
              <a:rPr lang="en-US" sz="1600" b="1">
                <a:solidFill>
                  <a:srgbClr val="FF5F00"/>
                </a:solidFill>
                <a:latin typeface="Calibri"/>
                <a:ea typeface="Calibri"/>
                <a:cs typeface="Calibri"/>
                <a:sym typeface="Calibri"/>
              </a:rPr>
              <a:t>Study 4 Findings</a:t>
            </a:r>
            <a:endParaRPr sz="1600">
              <a:solidFill>
                <a:schemeClr val="dk1"/>
              </a:solidFill>
              <a:latin typeface="Calibri"/>
              <a:ea typeface="Calibri"/>
              <a:cs typeface="Calibri"/>
              <a:sym typeface="Calibri"/>
            </a:endParaRPr>
          </a:p>
        </p:txBody>
      </p:sp>
      <p:sp>
        <p:nvSpPr>
          <p:cNvPr id="609" name="Google Shape;609;p28"/>
          <p:cNvSpPr/>
          <p:nvPr/>
        </p:nvSpPr>
        <p:spPr>
          <a:xfrm>
            <a:off x="428625" y="2246571"/>
            <a:ext cx="2890200" cy="2301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The Pairing Effect – Human-in-the-loop</a:t>
            </a:r>
            <a:endParaRPr sz="1397">
              <a:solidFill>
                <a:schemeClr val="dk1"/>
              </a:solidFill>
              <a:latin typeface="Calibri"/>
              <a:ea typeface="Calibri"/>
              <a:cs typeface="Calibri"/>
              <a:sym typeface="Calibri"/>
            </a:endParaRPr>
          </a:p>
        </p:txBody>
      </p:sp>
      <p:sp>
        <p:nvSpPr>
          <p:cNvPr id="610" name="Google Shape;610;p28"/>
          <p:cNvSpPr/>
          <p:nvPr/>
        </p:nvSpPr>
        <p:spPr>
          <a:xfrm>
            <a:off x="428625" y="2571750"/>
            <a:ext cx="3850500" cy="118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dirty="0">
                <a:solidFill>
                  <a:srgbClr val="333333"/>
                </a:solidFill>
                <a:latin typeface="Calibri"/>
                <a:ea typeface="Calibri"/>
                <a:cs typeface="Calibri"/>
                <a:sym typeface="Calibri"/>
              </a:rPr>
              <a:t>PPLM ads performed best when paired with </a:t>
            </a:r>
            <a:r>
              <a:rPr lang="en-US" sz="1295" b="1" dirty="0">
                <a:solidFill>
                  <a:srgbClr val="0047AB"/>
                </a:solidFill>
                <a:latin typeface="Calibri"/>
                <a:ea typeface="Calibri"/>
                <a:cs typeface="Calibri"/>
                <a:sym typeface="Calibri"/>
              </a:rPr>
              <a:t>Human-designed Landing Pages</a:t>
            </a:r>
            <a:r>
              <a:rPr lang="en-US" sz="1377" dirty="0">
                <a:solidFill>
                  <a:srgbClr val="333333"/>
                </a:solidFill>
                <a:latin typeface="Calibri"/>
                <a:ea typeface="Calibri"/>
                <a:cs typeface="Calibri"/>
                <a:sym typeface="Calibri"/>
              </a:rPr>
              <a:t>, providing the greatest incremental lift in impressions and clicks.</a:t>
            </a:r>
            <a:endParaRPr sz="1377" dirty="0">
              <a:solidFill>
                <a:schemeClr val="dk1"/>
              </a:solidFill>
              <a:latin typeface="Calibri"/>
              <a:ea typeface="Calibri"/>
              <a:cs typeface="Calibri"/>
              <a:sym typeface="Calibri"/>
            </a:endParaRPr>
          </a:p>
        </p:txBody>
      </p:sp>
      <p:sp>
        <p:nvSpPr>
          <p:cNvPr id="611" name="Google Shape;611;p28"/>
          <p:cNvSpPr/>
          <p:nvPr/>
        </p:nvSpPr>
        <p:spPr>
          <a:xfrm>
            <a:off x="428625" y="3588008"/>
            <a:ext cx="38505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dirty="0">
                <a:solidFill>
                  <a:srgbClr val="000000"/>
                </a:solidFill>
                <a:latin typeface="Calibri"/>
                <a:ea typeface="Calibri"/>
                <a:cs typeface="Calibri"/>
                <a:sym typeface="Calibri"/>
              </a:rPr>
              <a:t>Saturation Effect</a:t>
            </a:r>
            <a:endParaRPr sz="1397" dirty="0">
              <a:solidFill>
                <a:schemeClr val="dk1"/>
              </a:solidFill>
              <a:latin typeface="Calibri"/>
              <a:ea typeface="Calibri"/>
              <a:cs typeface="Calibri"/>
              <a:sym typeface="Calibri"/>
            </a:endParaRPr>
          </a:p>
        </p:txBody>
      </p:sp>
      <p:sp>
        <p:nvSpPr>
          <p:cNvPr id="612" name="Google Shape;612;p28"/>
          <p:cNvSpPr/>
          <p:nvPr/>
        </p:nvSpPr>
        <p:spPr>
          <a:xfrm>
            <a:off x="428625" y="3861308"/>
            <a:ext cx="3850500" cy="89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dirty="0">
                <a:solidFill>
                  <a:srgbClr val="333333"/>
                </a:solidFill>
                <a:latin typeface="Calibri"/>
                <a:ea typeface="Calibri"/>
                <a:cs typeface="Calibri"/>
                <a:sym typeface="Calibri"/>
              </a:rPr>
              <a:t>When the LP was already highly optimized for SEO by a machine, the incremental benefit of an AI-optimized ad was reduced.</a:t>
            </a:r>
            <a:endParaRPr sz="1377" dirty="0">
              <a:solidFill>
                <a:schemeClr val="dk1"/>
              </a:solidFill>
              <a:latin typeface="Calibri"/>
              <a:ea typeface="Calibri"/>
              <a:cs typeface="Calibri"/>
              <a:sym typeface="Calibri"/>
            </a:endParaRPr>
          </a:p>
        </p:txBody>
      </p:sp>
      <p:sp>
        <p:nvSpPr>
          <p:cNvPr id="613" name="Google Shape;613;p28"/>
          <p:cNvSpPr/>
          <p:nvPr/>
        </p:nvSpPr>
        <p:spPr>
          <a:xfrm>
            <a:off x="4857750" y="1860947"/>
            <a:ext cx="1215600" cy="2466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5F00"/>
              </a:buClr>
              <a:buSzPts val="1600"/>
              <a:buFont typeface="Calibri"/>
              <a:buNone/>
            </a:pPr>
            <a:r>
              <a:rPr lang="en-US" sz="1600" b="1">
                <a:solidFill>
                  <a:srgbClr val="FF5F00"/>
                </a:solidFill>
                <a:latin typeface="Calibri"/>
                <a:ea typeface="Calibri"/>
                <a:cs typeface="Calibri"/>
                <a:sym typeface="Calibri"/>
              </a:rPr>
              <a:t>Interpretation</a:t>
            </a:r>
            <a:endParaRPr sz="1600">
              <a:solidFill>
                <a:schemeClr val="dk1"/>
              </a:solidFill>
              <a:latin typeface="Calibri"/>
              <a:ea typeface="Calibri"/>
              <a:cs typeface="Calibri"/>
              <a:sym typeface="Calibri"/>
            </a:endParaRPr>
          </a:p>
        </p:txBody>
      </p:sp>
      <p:sp>
        <p:nvSpPr>
          <p:cNvPr id="614" name="Google Shape;614;p28"/>
          <p:cNvSpPr/>
          <p:nvPr/>
        </p:nvSpPr>
        <p:spPr>
          <a:xfrm>
            <a:off x="4923102" y="2246709"/>
            <a:ext cx="1503000" cy="192300"/>
          </a:xfrm>
          <a:prstGeom prst="rect">
            <a:avLst/>
          </a:prstGeom>
          <a:noFill/>
          <a:ln>
            <a:noFill/>
          </a:ln>
        </p:spPr>
        <p:txBody>
          <a:bodyPr spcFirstLastPara="1" wrap="square" lIns="0" tIns="0" rIns="0" bIns="0" anchor="t" anchorCtr="0">
            <a:noAutofit/>
          </a:bodyPr>
          <a:lstStyle/>
          <a:p>
            <a:pPr marL="0" marR="0" lvl="0" indent="0" algn="l" rtl="0">
              <a:lnSpc>
                <a:spcPct val="107142"/>
              </a:lnSpc>
              <a:spcBef>
                <a:spcPts val="0"/>
              </a:spcBef>
              <a:spcAft>
                <a:spcPts val="0"/>
              </a:spcAft>
              <a:buClr>
                <a:srgbClr val="000000"/>
              </a:buClr>
              <a:buSzPts val="1400"/>
              <a:buFont typeface="Calibri"/>
              <a:buNone/>
            </a:pPr>
            <a:r>
              <a:rPr lang="en-US" sz="1400" b="1">
                <a:solidFill>
                  <a:srgbClr val="000000"/>
                </a:solidFill>
                <a:latin typeface="Calibri"/>
                <a:ea typeface="Calibri"/>
                <a:cs typeface="Calibri"/>
                <a:sym typeface="Calibri"/>
              </a:rPr>
              <a:t>Diminishing Returns</a:t>
            </a:r>
            <a:endParaRPr sz="1400">
              <a:solidFill>
                <a:schemeClr val="dk1"/>
              </a:solidFill>
              <a:latin typeface="Calibri"/>
              <a:ea typeface="Calibri"/>
              <a:cs typeface="Calibri"/>
              <a:sym typeface="Calibri"/>
            </a:endParaRPr>
          </a:p>
        </p:txBody>
      </p:sp>
      <p:sp>
        <p:nvSpPr>
          <p:cNvPr id="615" name="Google Shape;615;p28"/>
          <p:cNvSpPr/>
          <p:nvPr/>
        </p:nvSpPr>
        <p:spPr>
          <a:xfrm>
            <a:off x="4923101" y="2578171"/>
            <a:ext cx="3857700" cy="605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00"/>
              <a:buFont typeface="Calibri"/>
              <a:buNone/>
            </a:pPr>
            <a:r>
              <a:rPr lang="en-US" sz="1300" dirty="0">
                <a:solidFill>
                  <a:srgbClr val="333333"/>
                </a:solidFill>
                <a:latin typeface="Calibri"/>
                <a:ea typeface="Calibri"/>
                <a:cs typeface="Calibri"/>
                <a:sym typeface="Calibri"/>
              </a:rPr>
              <a:t>Possible "saturation" or substitution between paid and organic optimization when both are machine-driven.</a:t>
            </a:r>
            <a:endParaRPr sz="1300" dirty="0">
              <a:solidFill>
                <a:schemeClr val="dk1"/>
              </a:solidFill>
              <a:latin typeface="Calibri"/>
              <a:ea typeface="Calibri"/>
              <a:cs typeface="Calibri"/>
              <a:sym typeface="Calibri"/>
            </a:endParaRPr>
          </a:p>
        </p:txBody>
      </p:sp>
      <p:sp>
        <p:nvSpPr>
          <p:cNvPr id="616" name="Google Shape;616;p28"/>
          <p:cNvSpPr/>
          <p:nvPr/>
        </p:nvSpPr>
        <p:spPr>
          <a:xfrm>
            <a:off x="4923101" y="3614394"/>
            <a:ext cx="2159981" cy="192300"/>
          </a:xfrm>
          <a:prstGeom prst="rect">
            <a:avLst/>
          </a:prstGeom>
          <a:noFill/>
          <a:ln>
            <a:noFill/>
          </a:ln>
        </p:spPr>
        <p:txBody>
          <a:bodyPr spcFirstLastPara="1" wrap="square" lIns="0" tIns="0" rIns="0" bIns="0" anchor="t" anchorCtr="0">
            <a:noAutofit/>
          </a:bodyPr>
          <a:lstStyle/>
          <a:p>
            <a:pPr marL="0" marR="0" lvl="0" indent="0" algn="l" rtl="0">
              <a:lnSpc>
                <a:spcPct val="107142"/>
              </a:lnSpc>
              <a:spcBef>
                <a:spcPts val="0"/>
              </a:spcBef>
              <a:spcAft>
                <a:spcPts val="0"/>
              </a:spcAft>
              <a:buClr>
                <a:srgbClr val="000000"/>
              </a:buClr>
              <a:buSzPts val="1400"/>
              <a:buFont typeface="Calibri"/>
              <a:buNone/>
            </a:pPr>
            <a:r>
              <a:rPr lang="en-US" sz="1400" b="1" dirty="0">
                <a:solidFill>
                  <a:srgbClr val="000000"/>
                </a:solidFill>
                <a:latin typeface="Calibri"/>
                <a:ea typeface="Calibri"/>
                <a:cs typeface="Calibri"/>
                <a:sym typeface="Calibri"/>
              </a:rPr>
              <a:t>Strategic Value</a:t>
            </a:r>
            <a:endParaRPr sz="1400" dirty="0">
              <a:solidFill>
                <a:schemeClr val="dk1"/>
              </a:solidFill>
              <a:latin typeface="Calibri"/>
              <a:ea typeface="Calibri"/>
              <a:cs typeface="Calibri"/>
              <a:sym typeface="Calibri"/>
            </a:endParaRPr>
          </a:p>
        </p:txBody>
      </p:sp>
      <p:sp>
        <p:nvSpPr>
          <p:cNvPr id="617" name="Google Shape;617;p28"/>
          <p:cNvSpPr/>
          <p:nvPr/>
        </p:nvSpPr>
        <p:spPr>
          <a:xfrm>
            <a:off x="4923101" y="3861308"/>
            <a:ext cx="3857700" cy="605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00"/>
              <a:buFont typeface="Calibri"/>
              <a:buNone/>
            </a:pPr>
            <a:r>
              <a:rPr lang="en-US" sz="1300" dirty="0">
                <a:solidFill>
                  <a:srgbClr val="333333"/>
                </a:solidFill>
                <a:latin typeface="Calibri"/>
                <a:ea typeface="Calibri"/>
                <a:cs typeface="Calibri"/>
                <a:sym typeface="Calibri"/>
              </a:rPr>
              <a:t>AI ads are most valuable when they bridge the gap between user intent and existing, less-optimized content.</a:t>
            </a:r>
            <a:endParaRPr sz="1300" dirty="0">
              <a:solidFill>
                <a:schemeClr val="dk1"/>
              </a:solidFill>
              <a:latin typeface="Calibri"/>
              <a:ea typeface="Calibri"/>
              <a:cs typeface="Calibri"/>
              <a:sym typeface="Calibri"/>
            </a:endParaRPr>
          </a:p>
        </p:txBody>
      </p:sp>
      <p:sp>
        <p:nvSpPr>
          <p:cNvPr id="618" name="Google Shape;618;p28"/>
          <p:cNvSpPr/>
          <p:nvPr/>
        </p:nvSpPr>
        <p:spPr>
          <a:xfrm>
            <a:off x="8304334" y="3088818"/>
            <a:ext cx="3857700" cy="291300"/>
          </a:xfrm>
          <a:prstGeom prst="rect">
            <a:avLst/>
          </a:prstGeom>
          <a:noFill/>
          <a:ln>
            <a:noFill/>
          </a:ln>
        </p:spPr>
        <p:txBody>
          <a:bodyPr spcFirstLastPara="1" wrap="square" lIns="0" tIns="0" rIns="0" bIns="0" anchor="t" anchorCtr="0">
            <a:noAutofit/>
          </a:bodyPr>
          <a:lstStyle/>
          <a:p>
            <a:pPr marL="0" marR="0" lvl="0" indent="0" algn="l" rtl="0">
              <a:lnSpc>
                <a:spcPct val="166777"/>
              </a:lnSpc>
              <a:spcBef>
                <a:spcPts val="0"/>
              </a:spcBef>
              <a:spcAft>
                <a:spcPts val="0"/>
              </a:spcAft>
              <a:buClr>
                <a:schemeClr val="dk1"/>
              </a:buClr>
              <a:buSzPts val="1499"/>
              <a:buFont typeface="Calibri"/>
              <a:buNone/>
            </a:pPr>
            <a:endParaRPr sz="1499">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29"/>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5" name="Google Shape;625;p29"/>
          <p:cNvSpPr/>
          <p:nvPr/>
        </p:nvSpPr>
        <p:spPr>
          <a:xfrm>
            <a:off x="4572000" y="1660922"/>
            <a:ext cx="4572000" cy="3482700"/>
          </a:xfrm>
          <a:prstGeom prst="rect">
            <a:avLst/>
          </a:prstGeom>
          <a:solidFill>
            <a:srgbClr val="F5F5F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6" name="Google Shape;626;p29"/>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7" name="Google Shape;627;p29"/>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Boundary Condition: The Impact of Budget Constraints</a:t>
            </a:r>
            <a:endParaRPr sz="2862">
              <a:solidFill>
                <a:schemeClr val="dk1"/>
              </a:solidFill>
              <a:latin typeface="Calibri"/>
              <a:ea typeface="Calibri"/>
              <a:cs typeface="Calibri"/>
              <a:sym typeface="Calibri"/>
            </a:endParaRPr>
          </a:p>
        </p:txBody>
      </p:sp>
      <p:sp>
        <p:nvSpPr>
          <p:cNvPr id="628" name="Google Shape;628;p29"/>
          <p:cNvSpPr/>
          <p:nvPr/>
        </p:nvSpPr>
        <p:spPr>
          <a:xfrm>
            <a:off x="428625" y="1946672"/>
            <a:ext cx="38505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Budget Regime Comparison</a:t>
            </a:r>
            <a:endParaRPr sz="1499">
              <a:solidFill>
                <a:schemeClr val="dk1"/>
              </a:solidFill>
              <a:latin typeface="Calibri"/>
              <a:ea typeface="Calibri"/>
              <a:cs typeface="Calibri"/>
              <a:sym typeface="Calibri"/>
            </a:endParaRPr>
          </a:p>
        </p:txBody>
      </p:sp>
      <p:sp>
        <p:nvSpPr>
          <p:cNvPr id="629" name="Google Shape;629;p29"/>
          <p:cNvSpPr/>
          <p:nvPr/>
        </p:nvSpPr>
        <p:spPr>
          <a:xfrm>
            <a:off x="428625" y="2380655"/>
            <a:ext cx="2201100" cy="6000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0" name="Google Shape;630;p29"/>
          <p:cNvSpPr/>
          <p:nvPr/>
        </p:nvSpPr>
        <p:spPr>
          <a:xfrm>
            <a:off x="428625" y="2380655"/>
            <a:ext cx="2201100" cy="600000"/>
          </a:xfrm>
          <a:prstGeom prst="rect">
            <a:avLst/>
          </a:prstGeom>
          <a:noFill/>
          <a:ln>
            <a:noFill/>
          </a:ln>
        </p:spPr>
        <p:txBody>
          <a:bodyPr spcFirstLastPara="1" wrap="square" lIns="102100" tIns="102100" rIns="102100" bIns="102100" anchor="ctr" anchorCtr="0">
            <a:noAutofit/>
          </a:bodyPr>
          <a:lstStyle/>
          <a:p>
            <a:pPr marL="0" marR="0" lvl="0" indent="0" algn="l" rtl="0">
              <a:lnSpc>
                <a:spcPct val="137614"/>
              </a:lnSpc>
              <a:spcBef>
                <a:spcPts val="0"/>
              </a:spcBef>
              <a:spcAft>
                <a:spcPts val="0"/>
              </a:spcAft>
              <a:buClr>
                <a:srgbClr val="FFFFFF"/>
              </a:buClr>
              <a:buSzPts val="1090"/>
              <a:buFont typeface="Calibri"/>
              <a:buNone/>
            </a:pPr>
            <a:r>
              <a:rPr lang="en-US" sz="1090" b="1">
                <a:solidFill>
                  <a:srgbClr val="FFFFFF"/>
                </a:solidFill>
                <a:latin typeface="Calibri"/>
                <a:ea typeface="Calibri"/>
                <a:cs typeface="Calibri"/>
                <a:sym typeface="Calibri"/>
              </a:rPr>
              <a:t>Budget Level</a:t>
            </a:r>
            <a:endParaRPr sz="1090">
              <a:solidFill>
                <a:schemeClr val="dk1"/>
              </a:solidFill>
              <a:latin typeface="Calibri"/>
              <a:ea typeface="Calibri"/>
              <a:cs typeface="Calibri"/>
              <a:sym typeface="Calibri"/>
            </a:endParaRPr>
          </a:p>
        </p:txBody>
      </p:sp>
      <p:sp>
        <p:nvSpPr>
          <p:cNvPr id="631" name="Google Shape;631;p29"/>
          <p:cNvSpPr/>
          <p:nvPr/>
        </p:nvSpPr>
        <p:spPr>
          <a:xfrm>
            <a:off x="2629821" y="2380655"/>
            <a:ext cx="1649400" cy="6000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2" name="Google Shape;632;p29"/>
          <p:cNvSpPr/>
          <p:nvPr/>
        </p:nvSpPr>
        <p:spPr>
          <a:xfrm>
            <a:off x="2629821" y="2380655"/>
            <a:ext cx="1649400" cy="600000"/>
          </a:xfrm>
          <a:prstGeom prst="rect">
            <a:avLst/>
          </a:prstGeom>
          <a:noFill/>
          <a:ln>
            <a:noFill/>
          </a:ln>
        </p:spPr>
        <p:txBody>
          <a:bodyPr spcFirstLastPara="1" wrap="square" lIns="102100" tIns="102100" rIns="102100" bIns="102100" anchor="ctr" anchorCtr="0">
            <a:noAutofit/>
          </a:bodyPr>
          <a:lstStyle/>
          <a:p>
            <a:pPr marL="0" marR="0" lvl="0" indent="0" algn="l" rtl="0">
              <a:lnSpc>
                <a:spcPct val="137614"/>
              </a:lnSpc>
              <a:spcBef>
                <a:spcPts val="0"/>
              </a:spcBef>
              <a:spcAft>
                <a:spcPts val="0"/>
              </a:spcAft>
              <a:buClr>
                <a:srgbClr val="FFFFFF"/>
              </a:buClr>
              <a:buSzPts val="1090"/>
              <a:buFont typeface="Calibri"/>
              <a:buNone/>
            </a:pPr>
            <a:r>
              <a:rPr lang="en-US" sz="1090" b="1">
                <a:solidFill>
                  <a:srgbClr val="FFFFFF"/>
                </a:solidFill>
                <a:latin typeface="Calibri"/>
                <a:ea typeface="Calibri"/>
                <a:cs typeface="Calibri"/>
                <a:sym typeface="Calibri"/>
              </a:rPr>
              <a:t>PPLM vs. Human Lift</a:t>
            </a:r>
            <a:endParaRPr sz="1090">
              <a:solidFill>
                <a:schemeClr val="dk1"/>
              </a:solidFill>
              <a:latin typeface="Calibri"/>
              <a:ea typeface="Calibri"/>
              <a:cs typeface="Calibri"/>
              <a:sym typeface="Calibri"/>
            </a:endParaRPr>
          </a:p>
        </p:txBody>
      </p:sp>
      <p:sp>
        <p:nvSpPr>
          <p:cNvPr id="633" name="Google Shape;633;p29"/>
          <p:cNvSpPr/>
          <p:nvPr/>
        </p:nvSpPr>
        <p:spPr>
          <a:xfrm>
            <a:off x="428625" y="2980730"/>
            <a:ext cx="2201100" cy="800100"/>
          </a:xfrm>
          <a:prstGeom prst="rect">
            <a:avLst/>
          </a:prstGeom>
          <a:noFill/>
          <a:ln>
            <a:noFill/>
          </a:ln>
        </p:spPr>
        <p:txBody>
          <a:bodyPr spcFirstLastPara="1" wrap="square" lIns="102100" tIns="127500" rIns="102100" bIns="127500" anchor="ctr" anchorCtr="0">
            <a:noAutofit/>
          </a:bodyPr>
          <a:lstStyle/>
          <a:p>
            <a:pPr marL="0" marR="0" lvl="0" indent="0" algn="l" rtl="0">
              <a:lnSpc>
                <a:spcPct val="125391"/>
              </a:lnSpc>
              <a:spcBef>
                <a:spcPts val="0"/>
              </a:spcBef>
              <a:spcAft>
                <a:spcPts val="0"/>
              </a:spcAft>
              <a:buClr>
                <a:srgbClr val="333333"/>
              </a:buClr>
              <a:buSzPts val="1595"/>
              <a:buFont typeface="Calibri"/>
              <a:buNone/>
            </a:pPr>
            <a:r>
              <a:rPr lang="en-US" sz="1595">
                <a:solidFill>
                  <a:srgbClr val="333333"/>
                </a:solidFill>
                <a:latin typeface="Calibri"/>
                <a:ea typeface="Calibri"/>
                <a:cs typeface="Calibri"/>
                <a:sym typeface="Calibri"/>
              </a:rPr>
              <a:t>High Budget (~€90/day)</a:t>
            </a:r>
            <a:endParaRPr sz="1595">
              <a:solidFill>
                <a:schemeClr val="dk1"/>
              </a:solidFill>
              <a:latin typeface="Calibri"/>
              <a:ea typeface="Calibri"/>
              <a:cs typeface="Calibri"/>
              <a:sym typeface="Calibri"/>
            </a:endParaRPr>
          </a:p>
        </p:txBody>
      </p:sp>
      <p:sp>
        <p:nvSpPr>
          <p:cNvPr id="634" name="Google Shape;634;p29"/>
          <p:cNvSpPr/>
          <p:nvPr/>
        </p:nvSpPr>
        <p:spPr>
          <a:xfrm>
            <a:off x="2629821" y="3130487"/>
            <a:ext cx="1649400" cy="500700"/>
          </a:xfrm>
          <a:prstGeom prst="rect">
            <a:avLst/>
          </a:prstGeom>
          <a:noFill/>
          <a:ln>
            <a:noFill/>
          </a:ln>
        </p:spPr>
        <p:txBody>
          <a:bodyPr spcFirstLastPara="1" wrap="square" lIns="102100" tIns="127500" rIns="102100" bIns="127500" anchor="ctr" anchorCtr="0">
            <a:noAutofit/>
          </a:bodyPr>
          <a:lstStyle/>
          <a:p>
            <a:pPr marL="0" marR="0" lvl="0" indent="0" algn="l" rtl="0">
              <a:lnSpc>
                <a:spcPct val="133422"/>
              </a:lnSpc>
              <a:spcBef>
                <a:spcPts val="0"/>
              </a:spcBef>
              <a:spcAft>
                <a:spcPts val="0"/>
              </a:spcAft>
              <a:buClr>
                <a:srgbClr val="333333"/>
              </a:buClr>
              <a:buSzPts val="1499"/>
              <a:buFont typeface="Calibri"/>
              <a:buNone/>
            </a:pPr>
            <a:r>
              <a:rPr lang="en-US" sz="1499">
                <a:solidFill>
                  <a:srgbClr val="333333"/>
                </a:solidFill>
                <a:latin typeface="Calibri"/>
                <a:ea typeface="Calibri"/>
                <a:cs typeface="Calibri"/>
                <a:sym typeface="Calibri"/>
              </a:rPr>
              <a:t>2.84x</a:t>
            </a:r>
            <a:endParaRPr sz="1499">
              <a:solidFill>
                <a:schemeClr val="dk1"/>
              </a:solidFill>
              <a:latin typeface="Calibri"/>
              <a:ea typeface="Calibri"/>
              <a:cs typeface="Calibri"/>
              <a:sym typeface="Calibri"/>
            </a:endParaRPr>
          </a:p>
        </p:txBody>
      </p:sp>
      <p:sp>
        <p:nvSpPr>
          <p:cNvPr id="635" name="Google Shape;635;p29"/>
          <p:cNvSpPr/>
          <p:nvPr/>
        </p:nvSpPr>
        <p:spPr>
          <a:xfrm>
            <a:off x="428625" y="3780830"/>
            <a:ext cx="2201100" cy="803700"/>
          </a:xfrm>
          <a:prstGeom prst="rect">
            <a:avLst/>
          </a:prstGeom>
          <a:noFill/>
          <a:ln>
            <a:noFill/>
          </a:ln>
        </p:spPr>
        <p:txBody>
          <a:bodyPr spcFirstLastPara="1" wrap="square" lIns="102100" tIns="127500" rIns="102100" bIns="127500" anchor="ctr" anchorCtr="0">
            <a:noAutofit/>
          </a:bodyPr>
          <a:lstStyle/>
          <a:p>
            <a:pPr marL="0" marR="0" lvl="0" indent="0" algn="l" rtl="0">
              <a:lnSpc>
                <a:spcPct val="125391"/>
              </a:lnSpc>
              <a:spcBef>
                <a:spcPts val="0"/>
              </a:spcBef>
              <a:spcAft>
                <a:spcPts val="0"/>
              </a:spcAft>
              <a:buClr>
                <a:srgbClr val="333333"/>
              </a:buClr>
              <a:buSzPts val="1595"/>
              <a:buFont typeface="Calibri"/>
              <a:buNone/>
            </a:pPr>
            <a:r>
              <a:rPr lang="en-US" sz="1595">
                <a:solidFill>
                  <a:srgbClr val="333333"/>
                </a:solidFill>
                <a:latin typeface="Calibri"/>
                <a:ea typeface="Calibri"/>
                <a:cs typeface="Calibri"/>
                <a:sym typeface="Calibri"/>
              </a:rPr>
              <a:t>Low Budget (~€5/day)</a:t>
            </a:r>
            <a:endParaRPr sz="1595">
              <a:solidFill>
                <a:schemeClr val="dk1"/>
              </a:solidFill>
              <a:latin typeface="Calibri"/>
              <a:ea typeface="Calibri"/>
              <a:cs typeface="Calibri"/>
              <a:sym typeface="Calibri"/>
            </a:endParaRPr>
          </a:p>
        </p:txBody>
      </p:sp>
      <p:sp>
        <p:nvSpPr>
          <p:cNvPr id="636" name="Google Shape;636;p29"/>
          <p:cNvSpPr/>
          <p:nvPr/>
        </p:nvSpPr>
        <p:spPr>
          <a:xfrm>
            <a:off x="2629821" y="3780830"/>
            <a:ext cx="1649400" cy="803700"/>
          </a:xfrm>
          <a:prstGeom prst="rect">
            <a:avLst/>
          </a:prstGeom>
          <a:noFill/>
          <a:ln>
            <a:noFill/>
          </a:ln>
        </p:spPr>
        <p:txBody>
          <a:bodyPr spcFirstLastPara="1" wrap="square" lIns="102100" tIns="127500" rIns="102100" bIns="127500" anchor="ctr" anchorCtr="0">
            <a:noAutofit/>
          </a:bodyPr>
          <a:lstStyle/>
          <a:p>
            <a:pPr marL="0" marR="0" lvl="0" indent="0" algn="l" rtl="0">
              <a:lnSpc>
                <a:spcPct val="133422"/>
              </a:lnSpc>
              <a:spcBef>
                <a:spcPts val="0"/>
              </a:spcBef>
              <a:spcAft>
                <a:spcPts val="0"/>
              </a:spcAft>
              <a:buClr>
                <a:srgbClr val="333333"/>
              </a:buClr>
              <a:buSzPts val="1499"/>
              <a:buFont typeface="Calibri"/>
              <a:buNone/>
            </a:pPr>
            <a:r>
              <a:rPr lang="en-US" sz="1499" b="1">
                <a:solidFill>
                  <a:srgbClr val="333333"/>
                </a:solidFill>
                <a:latin typeface="Calibri"/>
                <a:ea typeface="Calibri"/>
                <a:cs typeface="Calibri"/>
                <a:sym typeface="Calibri"/>
              </a:rPr>
              <a:t>3.62x</a:t>
            </a:r>
            <a:endParaRPr sz="1499">
              <a:solidFill>
                <a:schemeClr val="dk1"/>
              </a:solidFill>
              <a:latin typeface="Calibri"/>
              <a:ea typeface="Calibri"/>
              <a:cs typeface="Calibri"/>
              <a:sym typeface="Calibri"/>
            </a:endParaRPr>
          </a:p>
        </p:txBody>
      </p:sp>
      <p:sp>
        <p:nvSpPr>
          <p:cNvPr id="637" name="Google Shape;637;p29"/>
          <p:cNvSpPr/>
          <p:nvPr/>
        </p:nvSpPr>
        <p:spPr>
          <a:xfrm>
            <a:off x="575072" y="4421811"/>
            <a:ext cx="3850500" cy="553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100"/>
              <a:buFont typeface="Calibri"/>
              <a:buNone/>
            </a:pPr>
            <a:r>
              <a:rPr lang="en-US" sz="1100" i="1">
                <a:solidFill>
                  <a:srgbClr val="333333"/>
                </a:solidFill>
                <a:latin typeface="Calibri"/>
                <a:ea typeface="Calibri"/>
                <a:cs typeface="Calibri"/>
                <a:sym typeface="Calibri"/>
              </a:rPr>
              <a:t>Lower budgets reduce overall impressions and clicks but significantly increase the relative importance of content quality.</a:t>
            </a:r>
            <a:endParaRPr sz="1100">
              <a:solidFill>
                <a:schemeClr val="dk1"/>
              </a:solidFill>
              <a:latin typeface="Calibri"/>
              <a:ea typeface="Calibri"/>
              <a:cs typeface="Calibri"/>
              <a:sym typeface="Calibri"/>
            </a:endParaRPr>
          </a:p>
        </p:txBody>
      </p:sp>
      <p:sp>
        <p:nvSpPr>
          <p:cNvPr id="638" name="Google Shape;638;p29"/>
          <p:cNvSpPr/>
          <p:nvPr/>
        </p:nvSpPr>
        <p:spPr>
          <a:xfrm>
            <a:off x="4857750" y="1946672"/>
            <a:ext cx="38577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Key Insight</a:t>
            </a:r>
            <a:endParaRPr sz="1499">
              <a:solidFill>
                <a:schemeClr val="dk1"/>
              </a:solidFill>
              <a:latin typeface="Calibri"/>
              <a:ea typeface="Calibri"/>
              <a:cs typeface="Calibri"/>
              <a:sym typeface="Calibri"/>
            </a:endParaRPr>
          </a:p>
        </p:txBody>
      </p:sp>
      <p:sp>
        <p:nvSpPr>
          <p:cNvPr id="639" name="Google Shape;639;p29"/>
          <p:cNvSpPr/>
          <p:nvPr/>
        </p:nvSpPr>
        <p:spPr>
          <a:xfrm>
            <a:off x="4857750" y="2284118"/>
            <a:ext cx="3857700" cy="273300"/>
          </a:xfrm>
          <a:prstGeom prst="rect">
            <a:avLst/>
          </a:prstGeom>
          <a:noFill/>
          <a:ln>
            <a:noFill/>
          </a:ln>
        </p:spPr>
        <p:txBody>
          <a:bodyPr spcFirstLastPara="1" wrap="square" lIns="0" tIns="0" rIns="0" bIns="0" anchor="t" anchorCtr="0">
            <a:noAutofit/>
          </a:bodyPr>
          <a:lstStyle/>
          <a:p>
            <a:pPr marL="0" marR="0" lvl="0" indent="0" algn="l" rtl="0">
              <a:lnSpc>
                <a:spcPct val="136005"/>
              </a:lnSpc>
              <a:spcBef>
                <a:spcPts val="0"/>
              </a:spcBef>
              <a:spcAft>
                <a:spcPts val="0"/>
              </a:spcAft>
              <a:buClr>
                <a:srgbClr val="000000"/>
              </a:buClr>
              <a:buSzPts val="1397"/>
              <a:buFont typeface="Calibri"/>
              <a:buNone/>
            </a:pPr>
            <a:r>
              <a:rPr lang="en-US" sz="1397" b="1">
                <a:solidFill>
                  <a:srgbClr val="000000"/>
                </a:solidFill>
                <a:latin typeface="Calibri"/>
                <a:ea typeface="Calibri"/>
                <a:cs typeface="Calibri"/>
                <a:sym typeface="Calibri"/>
              </a:rPr>
              <a:t>The Leverage of Relevance</a:t>
            </a:r>
            <a:endParaRPr sz="1397">
              <a:solidFill>
                <a:schemeClr val="dk1"/>
              </a:solidFill>
              <a:latin typeface="Calibri"/>
              <a:ea typeface="Calibri"/>
              <a:cs typeface="Calibri"/>
              <a:sym typeface="Calibri"/>
            </a:endParaRPr>
          </a:p>
        </p:txBody>
      </p:sp>
      <p:sp>
        <p:nvSpPr>
          <p:cNvPr id="640" name="Google Shape;640;p29"/>
          <p:cNvSpPr/>
          <p:nvPr/>
        </p:nvSpPr>
        <p:spPr>
          <a:xfrm>
            <a:off x="4877380" y="2557366"/>
            <a:ext cx="3857700" cy="118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a:solidFill>
                  <a:srgbClr val="333333"/>
                </a:solidFill>
                <a:latin typeface="Calibri"/>
                <a:ea typeface="Calibri"/>
                <a:cs typeface="Calibri"/>
                <a:sym typeface="Calibri"/>
              </a:rPr>
              <a:t>When advertisers cannot "buy" their way to the top with high bids, content relevance (driven by AI) becomes the primary lever for visibility.</a:t>
            </a:r>
            <a:endParaRPr sz="1377">
              <a:solidFill>
                <a:schemeClr val="dk1"/>
              </a:solidFill>
              <a:latin typeface="Calibri"/>
              <a:ea typeface="Calibri"/>
              <a:cs typeface="Calibri"/>
              <a:sym typeface="Calibri"/>
            </a:endParaRPr>
          </a:p>
        </p:txBody>
      </p:sp>
      <p:sp>
        <p:nvSpPr>
          <p:cNvPr id="641" name="Google Shape;641;p29"/>
          <p:cNvSpPr/>
          <p:nvPr/>
        </p:nvSpPr>
        <p:spPr>
          <a:xfrm>
            <a:off x="4857750" y="3635276"/>
            <a:ext cx="38577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Managerial Implication</a:t>
            </a:r>
            <a:endParaRPr sz="1499">
              <a:solidFill>
                <a:schemeClr val="dk1"/>
              </a:solidFill>
              <a:latin typeface="Calibri"/>
              <a:ea typeface="Calibri"/>
              <a:cs typeface="Calibri"/>
              <a:sym typeface="Calibri"/>
            </a:endParaRPr>
          </a:p>
        </p:txBody>
      </p:sp>
      <p:sp>
        <p:nvSpPr>
          <p:cNvPr id="642" name="Google Shape;642;p29"/>
          <p:cNvSpPr/>
          <p:nvPr/>
        </p:nvSpPr>
        <p:spPr>
          <a:xfrm>
            <a:off x="4867565" y="3929407"/>
            <a:ext cx="3857700" cy="118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377"/>
              <a:buFont typeface="Calibri"/>
              <a:buNone/>
            </a:pPr>
            <a:r>
              <a:rPr lang="en-US" sz="1377" dirty="0">
                <a:solidFill>
                  <a:srgbClr val="333333"/>
                </a:solidFill>
                <a:latin typeface="Calibri"/>
                <a:ea typeface="Calibri"/>
                <a:cs typeface="Calibri"/>
                <a:sym typeface="Calibri"/>
              </a:rPr>
              <a:t>Prioritize AI-driven optimization for </a:t>
            </a:r>
            <a:r>
              <a:rPr lang="en-US" sz="1377" b="1" dirty="0">
                <a:solidFill>
                  <a:srgbClr val="333333"/>
                </a:solidFill>
                <a:latin typeface="Calibri"/>
                <a:ea typeface="Calibri"/>
                <a:cs typeface="Calibri"/>
                <a:sym typeface="Calibri"/>
              </a:rPr>
              <a:t>budget-limited</a:t>
            </a:r>
            <a:r>
              <a:rPr lang="en-US" sz="1377" dirty="0">
                <a:solidFill>
                  <a:srgbClr val="333333"/>
                </a:solidFill>
                <a:latin typeface="Calibri"/>
                <a:ea typeface="Calibri"/>
                <a:cs typeface="Calibri"/>
                <a:sym typeface="Calibri"/>
              </a:rPr>
              <a:t> campaigns where financial resources are restricted, as this is where AI provides the greatest marginal advantage.</a:t>
            </a:r>
            <a:endParaRPr sz="1377" dirty="0">
              <a:solidFill>
                <a:schemeClr val="dk1"/>
              </a:solidFill>
              <a:latin typeface="Calibri"/>
              <a:ea typeface="Calibri"/>
              <a:cs typeface="Calibri"/>
              <a:sym typeface="Calibri"/>
            </a:endParaRPr>
          </a:p>
        </p:txBody>
      </p:sp>
      <p:grpSp>
        <p:nvGrpSpPr>
          <p:cNvPr id="643" name="Google Shape;643;p29"/>
          <p:cNvGrpSpPr/>
          <p:nvPr/>
        </p:nvGrpSpPr>
        <p:grpSpPr>
          <a:xfrm>
            <a:off x="6819947" y="3561347"/>
            <a:ext cx="2119500" cy="342507"/>
            <a:chOff x="4857750" y="4814887"/>
            <a:chExt cx="2119500" cy="328500"/>
          </a:xfrm>
        </p:grpSpPr>
        <p:sp>
          <p:nvSpPr>
            <p:cNvPr id="644" name="Google Shape;644;p29"/>
            <p:cNvSpPr/>
            <p:nvPr/>
          </p:nvSpPr>
          <p:spPr>
            <a:xfrm>
              <a:off x="4857750" y="4814887"/>
              <a:ext cx="1886100" cy="328500"/>
            </a:xfrm>
            <a:prstGeom prst="rect">
              <a:avLst/>
            </a:prstGeom>
            <a:solidFill>
              <a:srgbClr val="0047A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5" name="Google Shape;645;p29"/>
            <p:cNvSpPr/>
            <p:nvPr/>
          </p:nvSpPr>
          <p:spPr>
            <a:xfrm>
              <a:off x="4857750" y="4818151"/>
              <a:ext cx="2119500" cy="318600"/>
            </a:xfrm>
            <a:prstGeom prst="rect">
              <a:avLst/>
            </a:prstGeom>
            <a:noFill/>
            <a:ln>
              <a:noFill/>
            </a:ln>
          </p:spPr>
          <p:txBody>
            <a:bodyPr spcFirstLastPara="1" wrap="square" lIns="136000" tIns="68050" rIns="136000" bIns="68050" anchor="t" anchorCtr="0">
              <a:noAutofit/>
            </a:bodyPr>
            <a:lstStyle/>
            <a:p>
              <a:pPr marL="0" marR="0" lvl="0" indent="0" algn="l" rtl="0">
                <a:lnSpc>
                  <a:spcPct val="137614"/>
                </a:lnSpc>
                <a:spcBef>
                  <a:spcPts val="0"/>
                </a:spcBef>
                <a:spcAft>
                  <a:spcPts val="0"/>
                </a:spcAft>
                <a:buClr>
                  <a:srgbClr val="FFFFFF"/>
                </a:buClr>
                <a:buSzPts val="1090"/>
                <a:buFont typeface="Calibri"/>
                <a:buNone/>
              </a:pPr>
              <a:r>
                <a:rPr lang="en-US" sz="1090" b="1">
                  <a:solidFill>
                    <a:srgbClr val="FFFFFF"/>
                  </a:solidFill>
                  <a:latin typeface="Calibri"/>
                  <a:ea typeface="Calibri"/>
                  <a:cs typeface="Calibri"/>
                  <a:sym typeface="Calibri"/>
                </a:rPr>
                <a:t>Strategic Resource Allocation</a:t>
              </a:r>
              <a:endParaRPr sz="1090">
                <a:solidFill>
                  <a:schemeClr val="dk1"/>
                </a:solidFill>
                <a:latin typeface="Calibri"/>
                <a:ea typeface="Calibri"/>
                <a:cs typeface="Calibri"/>
                <a:sym typeface="Calibri"/>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30"/>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2" name="Google Shape;652;p30"/>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3" name="Google Shape;653;p30"/>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Mechanisms of Success: Why the Workflow Wins</a:t>
            </a:r>
            <a:endParaRPr sz="2862">
              <a:solidFill>
                <a:schemeClr val="dk1"/>
              </a:solidFill>
              <a:latin typeface="Calibri"/>
              <a:ea typeface="Calibri"/>
              <a:cs typeface="Calibri"/>
              <a:sym typeface="Calibri"/>
            </a:endParaRPr>
          </a:p>
        </p:txBody>
      </p:sp>
      <p:sp>
        <p:nvSpPr>
          <p:cNvPr id="654" name="Google Shape;654;p30"/>
          <p:cNvSpPr/>
          <p:nvPr/>
        </p:nvSpPr>
        <p:spPr>
          <a:xfrm>
            <a:off x="428625" y="2146697"/>
            <a:ext cx="1089900" cy="133800"/>
          </a:xfrm>
          <a:prstGeom prst="rect">
            <a:avLst/>
          </a:prstGeom>
          <a:noFill/>
          <a:ln>
            <a:noFill/>
          </a:ln>
        </p:spPr>
        <p:txBody>
          <a:bodyPr spcFirstLastPara="1" wrap="square" lIns="0" tIns="0" rIns="0" bIns="0" anchor="t" anchorCtr="0">
            <a:noAutofit/>
          </a:bodyPr>
          <a:lstStyle/>
          <a:p>
            <a:pPr marL="0" marR="0" lvl="0" indent="0" algn="l" rtl="0">
              <a:lnSpc>
                <a:spcPct val="64285"/>
              </a:lnSpc>
              <a:spcBef>
                <a:spcPts val="0"/>
              </a:spcBef>
              <a:spcAft>
                <a:spcPts val="0"/>
              </a:spcAft>
              <a:buClr>
                <a:srgbClr val="FF5F00"/>
              </a:buClr>
              <a:buSzPts val="1400"/>
              <a:buFont typeface="Calibri"/>
              <a:buNone/>
            </a:pPr>
            <a:r>
              <a:rPr lang="en-US" sz="1400" b="1">
                <a:solidFill>
                  <a:srgbClr val="FF5F00"/>
                </a:solidFill>
                <a:latin typeface="Calibri"/>
                <a:ea typeface="Calibri"/>
                <a:cs typeface="Calibri"/>
                <a:sym typeface="Calibri"/>
              </a:rPr>
              <a:t>Mechanism 01</a:t>
            </a:r>
            <a:endParaRPr sz="1400">
              <a:solidFill>
                <a:schemeClr val="dk1"/>
              </a:solidFill>
              <a:latin typeface="Calibri"/>
              <a:ea typeface="Calibri"/>
              <a:cs typeface="Calibri"/>
              <a:sym typeface="Calibri"/>
            </a:endParaRPr>
          </a:p>
        </p:txBody>
      </p:sp>
      <p:sp>
        <p:nvSpPr>
          <p:cNvPr id="655" name="Google Shape;655;p30"/>
          <p:cNvSpPr/>
          <p:nvPr/>
        </p:nvSpPr>
        <p:spPr>
          <a:xfrm>
            <a:off x="428625" y="2318147"/>
            <a:ext cx="2753700" cy="243600"/>
          </a:xfrm>
          <a:prstGeom prst="rect">
            <a:avLst/>
          </a:prstGeom>
          <a:noFill/>
          <a:ln>
            <a:noFill/>
          </a:ln>
        </p:spPr>
        <p:txBody>
          <a:bodyPr spcFirstLastPara="1" wrap="square" lIns="0" tIns="0" rIns="0" bIns="0" anchor="t" anchorCtr="0">
            <a:noAutofit/>
          </a:bodyPr>
          <a:lstStyle/>
          <a:p>
            <a:pPr marL="0" marR="0" lvl="0" indent="0" algn="l" rtl="0">
              <a:lnSpc>
                <a:spcPct val="105555"/>
              </a:lnSpc>
              <a:spcBef>
                <a:spcPts val="0"/>
              </a:spcBef>
              <a:spcAft>
                <a:spcPts val="0"/>
              </a:spcAft>
              <a:buClr>
                <a:srgbClr val="000000"/>
              </a:buClr>
              <a:buSzPts val="1800"/>
              <a:buFont typeface="Calibri"/>
              <a:buNone/>
            </a:pPr>
            <a:r>
              <a:rPr lang="en-US" sz="1800" b="1">
                <a:solidFill>
                  <a:srgbClr val="000000"/>
                </a:solidFill>
                <a:latin typeface="Calibri"/>
                <a:ea typeface="Calibri"/>
                <a:cs typeface="Calibri"/>
                <a:sym typeface="Calibri"/>
              </a:rPr>
              <a:t>Systematic Contextualization</a:t>
            </a:r>
            <a:endParaRPr sz="1800">
              <a:solidFill>
                <a:schemeClr val="dk1"/>
              </a:solidFill>
              <a:latin typeface="Calibri"/>
              <a:ea typeface="Calibri"/>
              <a:cs typeface="Calibri"/>
              <a:sym typeface="Calibri"/>
            </a:endParaRPr>
          </a:p>
        </p:txBody>
      </p:sp>
      <p:sp>
        <p:nvSpPr>
          <p:cNvPr id="656" name="Google Shape;656;p30"/>
          <p:cNvSpPr/>
          <p:nvPr/>
        </p:nvSpPr>
        <p:spPr>
          <a:xfrm>
            <a:off x="428625" y="2698552"/>
            <a:ext cx="4000500" cy="5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By crawling organic results and landing pages, the system captures the </a:t>
            </a:r>
            <a:r>
              <a:rPr lang="en-US" sz="1200" b="1">
                <a:solidFill>
                  <a:srgbClr val="333333"/>
                </a:solidFill>
                <a:latin typeface="Calibri"/>
                <a:ea typeface="Calibri"/>
                <a:cs typeface="Calibri"/>
                <a:sym typeface="Calibri"/>
              </a:rPr>
              <a:t>"hidden" language and semantic signals </a:t>
            </a:r>
            <a:r>
              <a:rPr lang="en-US" sz="1200">
                <a:solidFill>
                  <a:srgbClr val="333333"/>
                </a:solidFill>
                <a:latin typeface="Calibri"/>
                <a:ea typeface="Calibri"/>
                <a:cs typeface="Calibri"/>
                <a:sym typeface="Calibri"/>
              </a:rPr>
              <a:t>that search engines reward, moving beyond generic ad copy.</a:t>
            </a:r>
            <a:endParaRPr sz="1200">
              <a:solidFill>
                <a:schemeClr val="dk1"/>
              </a:solidFill>
              <a:latin typeface="Calibri"/>
              <a:ea typeface="Calibri"/>
              <a:cs typeface="Calibri"/>
              <a:sym typeface="Calibri"/>
            </a:endParaRPr>
          </a:p>
        </p:txBody>
      </p:sp>
      <p:sp>
        <p:nvSpPr>
          <p:cNvPr id="657" name="Google Shape;657;p30"/>
          <p:cNvSpPr/>
          <p:nvPr/>
        </p:nvSpPr>
        <p:spPr>
          <a:xfrm>
            <a:off x="4714875" y="2146697"/>
            <a:ext cx="1089900" cy="133800"/>
          </a:xfrm>
          <a:prstGeom prst="rect">
            <a:avLst/>
          </a:prstGeom>
          <a:noFill/>
          <a:ln>
            <a:noFill/>
          </a:ln>
        </p:spPr>
        <p:txBody>
          <a:bodyPr spcFirstLastPara="1" wrap="square" lIns="0" tIns="0" rIns="0" bIns="0" anchor="t" anchorCtr="0">
            <a:noAutofit/>
          </a:bodyPr>
          <a:lstStyle/>
          <a:p>
            <a:pPr marL="0" marR="0" lvl="0" indent="0" algn="l" rtl="0">
              <a:lnSpc>
                <a:spcPct val="64285"/>
              </a:lnSpc>
              <a:spcBef>
                <a:spcPts val="0"/>
              </a:spcBef>
              <a:spcAft>
                <a:spcPts val="0"/>
              </a:spcAft>
              <a:buClr>
                <a:srgbClr val="FF5F00"/>
              </a:buClr>
              <a:buSzPts val="1400"/>
              <a:buFont typeface="Calibri"/>
              <a:buNone/>
            </a:pPr>
            <a:r>
              <a:rPr lang="en-US" sz="1400" b="1">
                <a:solidFill>
                  <a:srgbClr val="FF5F00"/>
                </a:solidFill>
                <a:latin typeface="Calibri"/>
                <a:ea typeface="Calibri"/>
                <a:cs typeface="Calibri"/>
                <a:sym typeface="Calibri"/>
              </a:rPr>
              <a:t>Mechanism 02</a:t>
            </a:r>
            <a:endParaRPr sz="1400">
              <a:solidFill>
                <a:schemeClr val="dk1"/>
              </a:solidFill>
              <a:latin typeface="Calibri"/>
              <a:ea typeface="Calibri"/>
              <a:cs typeface="Calibri"/>
              <a:sym typeface="Calibri"/>
            </a:endParaRPr>
          </a:p>
        </p:txBody>
      </p:sp>
      <p:sp>
        <p:nvSpPr>
          <p:cNvPr id="658" name="Google Shape;658;p30"/>
          <p:cNvSpPr/>
          <p:nvPr/>
        </p:nvSpPr>
        <p:spPr>
          <a:xfrm>
            <a:off x="4714875" y="2318147"/>
            <a:ext cx="1812900" cy="243600"/>
          </a:xfrm>
          <a:prstGeom prst="rect">
            <a:avLst/>
          </a:prstGeom>
          <a:noFill/>
          <a:ln>
            <a:noFill/>
          </a:ln>
        </p:spPr>
        <p:txBody>
          <a:bodyPr spcFirstLastPara="1" wrap="square" lIns="0" tIns="0" rIns="0" bIns="0" anchor="t" anchorCtr="0">
            <a:noAutofit/>
          </a:bodyPr>
          <a:lstStyle/>
          <a:p>
            <a:pPr marL="0" marR="0" lvl="0" indent="0" algn="l" rtl="0">
              <a:lnSpc>
                <a:spcPct val="105555"/>
              </a:lnSpc>
              <a:spcBef>
                <a:spcPts val="0"/>
              </a:spcBef>
              <a:spcAft>
                <a:spcPts val="0"/>
              </a:spcAft>
              <a:buClr>
                <a:srgbClr val="000000"/>
              </a:buClr>
              <a:buSzPts val="1800"/>
              <a:buFont typeface="Calibri"/>
              <a:buNone/>
            </a:pPr>
            <a:r>
              <a:rPr lang="en-US" sz="1800" b="1">
                <a:solidFill>
                  <a:srgbClr val="000000"/>
                </a:solidFill>
                <a:latin typeface="Calibri"/>
                <a:ea typeface="Calibri"/>
                <a:cs typeface="Calibri"/>
                <a:sym typeface="Calibri"/>
              </a:rPr>
              <a:t>Precision Decoding</a:t>
            </a:r>
            <a:endParaRPr sz="1800">
              <a:solidFill>
                <a:schemeClr val="dk1"/>
              </a:solidFill>
              <a:latin typeface="Calibri"/>
              <a:ea typeface="Calibri"/>
              <a:cs typeface="Calibri"/>
              <a:sym typeface="Calibri"/>
            </a:endParaRPr>
          </a:p>
        </p:txBody>
      </p:sp>
      <p:sp>
        <p:nvSpPr>
          <p:cNvPr id="659" name="Google Shape;659;p30"/>
          <p:cNvSpPr/>
          <p:nvPr/>
        </p:nvSpPr>
        <p:spPr>
          <a:xfrm>
            <a:off x="4714875" y="2698552"/>
            <a:ext cx="4000500" cy="5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The PPLM architecture ensures that </a:t>
            </a:r>
            <a:r>
              <a:rPr lang="en-US" sz="1200" b="1">
                <a:solidFill>
                  <a:srgbClr val="333333"/>
                </a:solidFill>
                <a:latin typeface="Calibri"/>
                <a:ea typeface="Calibri"/>
                <a:cs typeface="Calibri"/>
                <a:sym typeface="Calibri"/>
              </a:rPr>
              <a:t>critical keywords </a:t>
            </a:r>
            <a:r>
              <a:rPr lang="en-US" sz="1200">
                <a:solidFill>
                  <a:srgbClr val="333333"/>
                </a:solidFill>
                <a:latin typeface="Calibri"/>
                <a:ea typeface="Calibri"/>
                <a:cs typeface="Calibri"/>
                <a:sym typeface="Calibri"/>
              </a:rPr>
              <a:t>are integrated into the text with high density without sacrificing the natural fluency or readability of the ad.</a:t>
            </a:r>
            <a:endParaRPr sz="1200">
              <a:solidFill>
                <a:schemeClr val="dk1"/>
              </a:solidFill>
              <a:latin typeface="Calibri"/>
              <a:ea typeface="Calibri"/>
              <a:cs typeface="Calibri"/>
              <a:sym typeface="Calibri"/>
            </a:endParaRPr>
          </a:p>
        </p:txBody>
      </p:sp>
      <p:sp>
        <p:nvSpPr>
          <p:cNvPr id="660" name="Google Shape;660;p30"/>
          <p:cNvSpPr/>
          <p:nvPr/>
        </p:nvSpPr>
        <p:spPr>
          <a:xfrm>
            <a:off x="428625" y="3456367"/>
            <a:ext cx="1089900" cy="133800"/>
          </a:xfrm>
          <a:prstGeom prst="rect">
            <a:avLst/>
          </a:prstGeom>
          <a:noFill/>
          <a:ln>
            <a:noFill/>
          </a:ln>
        </p:spPr>
        <p:txBody>
          <a:bodyPr spcFirstLastPara="1" wrap="square" lIns="0" tIns="0" rIns="0" bIns="0" anchor="t" anchorCtr="0">
            <a:noAutofit/>
          </a:bodyPr>
          <a:lstStyle/>
          <a:p>
            <a:pPr marL="0" marR="0" lvl="0" indent="0" algn="l" rtl="0">
              <a:lnSpc>
                <a:spcPct val="64285"/>
              </a:lnSpc>
              <a:spcBef>
                <a:spcPts val="0"/>
              </a:spcBef>
              <a:spcAft>
                <a:spcPts val="0"/>
              </a:spcAft>
              <a:buClr>
                <a:srgbClr val="FF5F00"/>
              </a:buClr>
              <a:buSzPts val="1400"/>
              <a:buFont typeface="Calibri"/>
              <a:buNone/>
            </a:pPr>
            <a:r>
              <a:rPr lang="en-US" sz="1400" b="1">
                <a:solidFill>
                  <a:srgbClr val="FF5F00"/>
                </a:solidFill>
                <a:latin typeface="Calibri"/>
                <a:ea typeface="Calibri"/>
                <a:cs typeface="Calibri"/>
                <a:sym typeface="Calibri"/>
              </a:rPr>
              <a:t>Mechanism 03</a:t>
            </a:r>
            <a:endParaRPr sz="1400">
              <a:solidFill>
                <a:schemeClr val="dk1"/>
              </a:solidFill>
              <a:latin typeface="Calibri"/>
              <a:ea typeface="Calibri"/>
              <a:cs typeface="Calibri"/>
              <a:sym typeface="Calibri"/>
            </a:endParaRPr>
          </a:p>
        </p:txBody>
      </p:sp>
      <p:sp>
        <p:nvSpPr>
          <p:cNvPr id="661" name="Google Shape;661;p30"/>
          <p:cNvSpPr/>
          <p:nvPr/>
        </p:nvSpPr>
        <p:spPr>
          <a:xfrm>
            <a:off x="433887" y="3610372"/>
            <a:ext cx="2481000" cy="243600"/>
          </a:xfrm>
          <a:prstGeom prst="rect">
            <a:avLst/>
          </a:prstGeom>
          <a:noFill/>
          <a:ln>
            <a:noFill/>
          </a:ln>
        </p:spPr>
        <p:txBody>
          <a:bodyPr spcFirstLastPara="1" wrap="square" lIns="0" tIns="0" rIns="0" bIns="0" anchor="t" anchorCtr="0">
            <a:noAutofit/>
          </a:bodyPr>
          <a:lstStyle/>
          <a:p>
            <a:pPr marL="0" marR="0" lvl="0" indent="0" algn="l" rtl="0">
              <a:lnSpc>
                <a:spcPct val="105555"/>
              </a:lnSpc>
              <a:spcBef>
                <a:spcPts val="0"/>
              </a:spcBef>
              <a:spcAft>
                <a:spcPts val="0"/>
              </a:spcAft>
              <a:buClr>
                <a:srgbClr val="000000"/>
              </a:buClr>
              <a:buSzPts val="1800"/>
              <a:buFont typeface="Calibri"/>
              <a:buNone/>
            </a:pPr>
            <a:r>
              <a:rPr lang="en-US" sz="1800" b="1">
                <a:solidFill>
                  <a:srgbClr val="000000"/>
                </a:solidFill>
                <a:latin typeface="Calibri"/>
                <a:ea typeface="Calibri"/>
                <a:cs typeface="Calibri"/>
                <a:sym typeface="Calibri"/>
              </a:rPr>
              <a:t>Selection over Generation</a:t>
            </a:r>
            <a:endParaRPr sz="1800">
              <a:solidFill>
                <a:schemeClr val="dk1"/>
              </a:solidFill>
              <a:latin typeface="Calibri"/>
              <a:ea typeface="Calibri"/>
              <a:cs typeface="Calibri"/>
              <a:sym typeface="Calibri"/>
            </a:endParaRPr>
          </a:p>
        </p:txBody>
      </p:sp>
      <p:sp>
        <p:nvSpPr>
          <p:cNvPr id="662" name="Google Shape;662;p30"/>
          <p:cNvSpPr/>
          <p:nvPr/>
        </p:nvSpPr>
        <p:spPr>
          <a:xfrm>
            <a:off x="433887" y="3998893"/>
            <a:ext cx="4000500" cy="5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Generating a large pool of candidates and using the CS_ad to select the best one significantly reduces the variance and "luck" associated with one-shot AI generation.</a:t>
            </a:r>
            <a:endParaRPr sz="1200">
              <a:solidFill>
                <a:schemeClr val="dk1"/>
              </a:solidFill>
              <a:latin typeface="Calibri"/>
              <a:ea typeface="Calibri"/>
              <a:cs typeface="Calibri"/>
              <a:sym typeface="Calibri"/>
            </a:endParaRPr>
          </a:p>
        </p:txBody>
      </p:sp>
      <p:sp>
        <p:nvSpPr>
          <p:cNvPr id="663" name="Google Shape;663;p30"/>
          <p:cNvSpPr/>
          <p:nvPr/>
        </p:nvSpPr>
        <p:spPr>
          <a:xfrm>
            <a:off x="4714875" y="3456367"/>
            <a:ext cx="1089900" cy="133800"/>
          </a:xfrm>
          <a:prstGeom prst="rect">
            <a:avLst/>
          </a:prstGeom>
          <a:noFill/>
          <a:ln>
            <a:noFill/>
          </a:ln>
        </p:spPr>
        <p:txBody>
          <a:bodyPr spcFirstLastPara="1" wrap="square" lIns="0" tIns="0" rIns="0" bIns="0" anchor="t" anchorCtr="0">
            <a:noAutofit/>
          </a:bodyPr>
          <a:lstStyle/>
          <a:p>
            <a:pPr marL="0" marR="0" lvl="0" indent="0" algn="l" rtl="0">
              <a:lnSpc>
                <a:spcPct val="64285"/>
              </a:lnSpc>
              <a:spcBef>
                <a:spcPts val="0"/>
              </a:spcBef>
              <a:spcAft>
                <a:spcPts val="0"/>
              </a:spcAft>
              <a:buClr>
                <a:srgbClr val="FF5F00"/>
              </a:buClr>
              <a:buSzPts val="1400"/>
              <a:buFont typeface="Calibri"/>
              <a:buNone/>
            </a:pPr>
            <a:r>
              <a:rPr lang="en-US" sz="1400" b="1">
                <a:solidFill>
                  <a:srgbClr val="FF5F00"/>
                </a:solidFill>
                <a:latin typeface="Calibri"/>
                <a:ea typeface="Calibri"/>
                <a:cs typeface="Calibri"/>
                <a:sym typeface="Calibri"/>
              </a:rPr>
              <a:t>Mechanism 04</a:t>
            </a:r>
            <a:endParaRPr sz="1400">
              <a:solidFill>
                <a:schemeClr val="dk1"/>
              </a:solidFill>
              <a:latin typeface="Calibri"/>
              <a:ea typeface="Calibri"/>
              <a:cs typeface="Calibri"/>
              <a:sym typeface="Calibri"/>
            </a:endParaRPr>
          </a:p>
        </p:txBody>
      </p:sp>
      <p:sp>
        <p:nvSpPr>
          <p:cNvPr id="664" name="Google Shape;664;p30"/>
          <p:cNvSpPr/>
          <p:nvPr/>
        </p:nvSpPr>
        <p:spPr>
          <a:xfrm>
            <a:off x="4714875" y="3585145"/>
            <a:ext cx="1638000" cy="243600"/>
          </a:xfrm>
          <a:prstGeom prst="rect">
            <a:avLst/>
          </a:prstGeom>
          <a:noFill/>
          <a:ln>
            <a:noFill/>
          </a:ln>
        </p:spPr>
        <p:txBody>
          <a:bodyPr spcFirstLastPara="1" wrap="square" lIns="0" tIns="0" rIns="0" bIns="0" anchor="t" anchorCtr="0">
            <a:noAutofit/>
          </a:bodyPr>
          <a:lstStyle/>
          <a:p>
            <a:pPr marL="0" marR="0" lvl="0" indent="0" algn="l" rtl="0">
              <a:lnSpc>
                <a:spcPct val="105555"/>
              </a:lnSpc>
              <a:spcBef>
                <a:spcPts val="0"/>
              </a:spcBef>
              <a:spcAft>
                <a:spcPts val="0"/>
              </a:spcAft>
              <a:buClr>
                <a:srgbClr val="000000"/>
              </a:buClr>
              <a:buSzPts val="1800"/>
              <a:buFont typeface="Calibri"/>
              <a:buNone/>
            </a:pPr>
            <a:r>
              <a:rPr lang="en-US" sz="1800" b="1">
                <a:solidFill>
                  <a:srgbClr val="000000"/>
                </a:solidFill>
                <a:latin typeface="Calibri"/>
                <a:ea typeface="Calibri"/>
                <a:cs typeface="Calibri"/>
                <a:sym typeface="Calibri"/>
              </a:rPr>
              <a:t>Platform Synergy</a:t>
            </a:r>
            <a:endParaRPr sz="1800">
              <a:solidFill>
                <a:schemeClr val="dk1"/>
              </a:solidFill>
              <a:latin typeface="Calibri"/>
              <a:ea typeface="Calibri"/>
              <a:cs typeface="Calibri"/>
              <a:sym typeface="Calibri"/>
            </a:endParaRPr>
          </a:p>
        </p:txBody>
      </p:sp>
      <p:sp>
        <p:nvSpPr>
          <p:cNvPr id="665" name="Google Shape;665;p30"/>
          <p:cNvSpPr/>
          <p:nvPr/>
        </p:nvSpPr>
        <p:spPr>
          <a:xfrm>
            <a:off x="4709613" y="3998893"/>
            <a:ext cx="4000500" cy="5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Higher Content Scores lead to better Quality Scores, lowering the barrier to entry in the auction and allowing for greater visibility even with competitive bids.</a:t>
            </a:r>
            <a:endParaRPr sz="12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31"/>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2" name="Google Shape;672;p31"/>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3" name="Google Shape;673;p31"/>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Managerial Implications: Building AI Systems</a:t>
            </a:r>
            <a:endParaRPr sz="2862">
              <a:solidFill>
                <a:schemeClr val="dk1"/>
              </a:solidFill>
              <a:latin typeface="Calibri"/>
              <a:ea typeface="Calibri"/>
              <a:cs typeface="Calibri"/>
              <a:sym typeface="Calibri"/>
            </a:endParaRPr>
          </a:p>
        </p:txBody>
      </p:sp>
      <p:sp>
        <p:nvSpPr>
          <p:cNvPr id="674" name="Google Shape;674;p31"/>
          <p:cNvSpPr/>
          <p:nvPr/>
        </p:nvSpPr>
        <p:spPr>
          <a:xfrm>
            <a:off x="428625" y="2146697"/>
            <a:ext cx="846300" cy="133800"/>
          </a:xfrm>
          <a:prstGeom prst="rect">
            <a:avLst/>
          </a:prstGeom>
          <a:noFill/>
          <a:ln>
            <a:noFill/>
          </a:ln>
        </p:spPr>
        <p:txBody>
          <a:bodyPr spcFirstLastPara="1" wrap="square" lIns="0" tIns="0" rIns="0" bIns="0" anchor="t" anchorCtr="0">
            <a:noAutofit/>
          </a:bodyPr>
          <a:lstStyle/>
          <a:p>
            <a:pPr marL="0" marR="0" lvl="0" indent="0" algn="l" rtl="0">
              <a:lnSpc>
                <a:spcPct val="64285"/>
              </a:lnSpc>
              <a:spcBef>
                <a:spcPts val="0"/>
              </a:spcBef>
              <a:spcAft>
                <a:spcPts val="0"/>
              </a:spcAft>
              <a:buClr>
                <a:srgbClr val="FF5F00"/>
              </a:buClr>
              <a:buSzPts val="1400"/>
              <a:buFont typeface="Calibri"/>
              <a:buNone/>
            </a:pPr>
            <a:r>
              <a:rPr lang="en-US" sz="1400" b="1">
                <a:solidFill>
                  <a:srgbClr val="FF5F00"/>
                </a:solidFill>
                <a:latin typeface="Calibri"/>
                <a:ea typeface="Calibri"/>
                <a:cs typeface="Calibri"/>
                <a:sym typeface="Calibri"/>
              </a:rPr>
              <a:t>Strategy 01</a:t>
            </a:r>
            <a:endParaRPr sz="1400">
              <a:solidFill>
                <a:schemeClr val="dk1"/>
              </a:solidFill>
              <a:latin typeface="Calibri"/>
              <a:ea typeface="Calibri"/>
              <a:cs typeface="Calibri"/>
              <a:sym typeface="Calibri"/>
            </a:endParaRPr>
          </a:p>
        </p:txBody>
      </p:sp>
      <p:sp>
        <p:nvSpPr>
          <p:cNvPr id="675" name="Google Shape;675;p31"/>
          <p:cNvSpPr/>
          <p:nvPr/>
        </p:nvSpPr>
        <p:spPr>
          <a:xfrm>
            <a:off x="428625" y="2318147"/>
            <a:ext cx="1585800" cy="243600"/>
          </a:xfrm>
          <a:prstGeom prst="rect">
            <a:avLst/>
          </a:prstGeom>
          <a:noFill/>
          <a:ln>
            <a:noFill/>
          </a:ln>
        </p:spPr>
        <p:txBody>
          <a:bodyPr spcFirstLastPara="1" wrap="square" lIns="0" tIns="0" rIns="0" bIns="0" anchor="t" anchorCtr="0">
            <a:noAutofit/>
          </a:bodyPr>
          <a:lstStyle/>
          <a:p>
            <a:pPr marL="0" marR="0" lvl="0" indent="0" algn="l" rtl="0">
              <a:lnSpc>
                <a:spcPct val="118750"/>
              </a:lnSpc>
              <a:spcBef>
                <a:spcPts val="0"/>
              </a:spcBef>
              <a:spcAft>
                <a:spcPts val="0"/>
              </a:spcAft>
              <a:buClr>
                <a:srgbClr val="000000"/>
              </a:buClr>
              <a:buSzPts val="1600"/>
              <a:buFont typeface="Calibri"/>
              <a:buNone/>
            </a:pPr>
            <a:r>
              <a:rPr lang="en-US" sz="1600" b="1">
                <a:solidFill>
                  <a:srgbClr val="000000"/>
                </a:solidFill>
                <a:latin typeface="Calibri"/>
                <a:ea typeface="Calibri"/>
                <a:cs typeface="Calibri"/>
                <a:sym typeface="Calibri"/>
              </a:rPr>
              <a:t>Beyond Prompting</a:t>
            </a:r>
            <a:endParaRPr sz="1600">
              <a:solidFill>
                <a:schemeClr val="dk1"/>
              </a:solidFill>
              <a:latin typeface="Calibri"/>
              <a:ea typeface="Calibri"/>
              <a:cs typeface="Calibri"/>
              <a:sym typeface="Calibri"/>
            </a:endParaRPr>
          </a:p>
        </p:txBody>
      </p:sp>
      <p:sp>
        <p:nvSpPr>
          <p:cNvPr id="676" name="Google Shape;676;p31"/>
          <p:cNvSpPr/>
          <p:nvPr/>
        </p:nvSpPr>
        <p:spPr>
          <a:xfrm>
            <a:off x="4429125" y="2659367"/>
            <a:ext cx="4000500" cy="5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Move away from simple one-shot prompting toward integrated application layers that incorporate external data like organic results and landing pages.</a:t>
            </a:r>
            <a:endParaRPr sz="1200">
              <a:solidFill>
                <a:schemeClr val="dk1"/>
              </a:solidFill>
              <a:latin typeface="Calibri"/>
              <a:ea typeface="Calibri"/>
              <a:cs typeface="Calibri"/>
              <a:sym typeface="Calibri"/>
            </a:endParaRPr>
          </a:p>
        </p:txBody>
      </p:sp>
      <p:sp>
        <p:nvSpPr>
          <p:cNvPr id="677" name="Google Shape;677;p31"/>
          <p:cNvSpPr/>
          <p:nvPr/>
        </p:nvSpPr>
        <p:spPr>
          <a:xfrm>
            <a:off x="4429125" y="2146696"/>
            <a:ext cx="846300" cy="133800"/>
          </a:xfrm>
          <a:prstGeom prst="rect">
            <a:avLst/>
          </a:prstGeom>
          <a:noFill/>
          <a:ln>
            <a:noFill/>
          </a:ln>
        </p:spPr>
        <p:txBody>
          <a:bodyPr spcFirstLastPara="1" wrap="square" lIns="0" tIns="0" rIns="0" bIns="0" anchor="t" anchorCtr="0">
            <a:noAutofit/>
          </a:bodyPr>
          <a:lstStyle/>
          <a:p>
            <a:pPr marL="0" marR="0" lvl="0" indent="0" algn="l" rtl="0">
              <a:lnSpc>
                <a:spcPct val="64285"/>
              </a:lnSpc>
              <a:spcBef>
                <a:spcPts val="0"/>
              </a:spcBef>
              <a:spcAft>
                <a:spcPts val="0"/>
              </a:spcAft>
              <a:buClr>
                <a:srgbClr val="FF5F00"/>
              </a:buClr>
              <a:buSzPts val="1400"/>
              <a:buFont typeface="Calibri"/>
              <a:buNone/>
            </a:pPr>
            <a:r>
              <a:rPr lang="en-US" sz="1400" b="1">
                <a:solidFill>
                  <a:srgbClr val="FF5F00"/>
                </a:solidFill>
                <a:latin typeface="Calibri"/>
                <a:ea typeface="Calibri"/>
                <a:cs typeface="Calibri"/>
                <a:sym typeface="Calibri"/>
              </a:rPr>
              <a:t>Strategy 02</a:t>
            </a:r>
            <a:endParaRPr sz="1400">
              <a:solidFill>
                <a:schemeClr val="dk1"/>
              </a:solidFill>
              <a:latin typeface="Calibri"/>
              <a:ea typeface="Calibri"/>
              <a:cs typeface="Calibri"/>
              <a:sym typeface="Calibri"/>
            </a:endParaRPr>
          </a:p>
        </p:txBody>
      </p:sp>
      <p:sp>
        <p:nvSpPr>
          <p:cNvPr id="678" name="Google Shape;678;p31"/>
          <p:cNvSpPr/>
          <p:nvPr/>
        </p:nvSpPr>
        <p:spPr>
          <a:xfrm>
            <a:off x="4429125" y="2318146"/>
            <a:ext cx="1595100" cy="243600"/>
          </a:xfrm>
          <a:prstGeom prst="rect">
            <a:avLst/>
          </a:prstGeom>
          <a:noFill/>
          <a:ln>
            <a:noFill/>
          </a:ln>
        </p:spPr>
        <p:txBody>
          <a:bodyPr spcFirstLastPara="1" wrap="square" lIns="0" tIns="0" rIns="0" bIns="0" anchor="t" anchorCtr="0">
            <a:noAutofit/>
          </a:bodyPr>
          <a:lstStyle/>
          <a:p>
            <a:pPr marL="0" marR="0" lvl="0" indent="0" algn="l" rtl="0">
              <a:lnSpc>
                <a:spcPct val="118750"/>
              </a:lnSpc>
              <a:spcBef>
                <a:spcPts val="0"/>
              </a:spcBef>
              <a:spcAft>
                <a:spcPts val="0"/>
              </a:spcAft>
              <a:buClr>
                <a:srgbClr val="000000"/>
              </a:buClr>
              <a:buSzPts val="1600"/>
              <a:buFont typeface="Calibri"/>
              <a:buNone/>
            </a:pPr>
            <a:r>
              <a:rPr lang="en-US" sz="1600" b="1">
                <a:solidFill>
                  <a:srgbClr val="000000"/>
                </a:solidFill>
                <a:latin typeface="Calibri"/>
                <a:ea typeface="Calibri"/>
                <a:cs typeface="Calibri"/>
                <a:sym typeface="Calibri"/>
              </a:rPr>
              <a:t>Scoring is Essential</a:t>
            </a:r>
            <a:endParaRPr sz="1600">
              <a:solidFill>
                <a:schemeClr val="dk1"/>
              </a:solidFill>
              <a:latin typeface="Calibri"/>
              <a:ea typeface="Calibri"/>
              <a:cs typeface="Calibri"/>
              <a:sym typeface="Calibri"/>
            </a:endParaRPr>
          </a:p>
        </p:txBody>
      </p:sp>
      <p:sp>
        <p:nvSpPr>
          <p:cNvPr id="679" name="Google Shape;679;p31"/>
          <p:cNvSpPr/>
          <p:nvPr/>
        </p:nvSpPr>
        <p:spPr>
          <a:xfrm>
            <a:off x="428625" y="2659367"/>
            <a:ext cx="3237900" cy="5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Implement a </a:t>
            </a:r>
            <a:r>
              <a:rPr lang="en-US" sz="1200" b="1">
                <a:solidFill>
                  <a:srgbClr val="333333"/>
                </a:solidFill>
                <a:latin typeface="Calibri"/>
                <a:ea typeface="Calibri"/>
                <a:cs typeface="Calibri"/>
                <a:sym typeface="Calibri"/>
              </a:rPr>
              <a:t>selection layer like CS_ad </a:t>
            </a:r>
            <a:r>
              <a:rPr lang="en-US" sz="1200">
                <a:solidFill>
                  <a:srgbClr val="333333"/>
                </a:solidFill>
                <a:latin typeface="Calibri"/>
                <a:ea typeface="Calibri"/>
                <a:cs typeface="Calibri"/>
                <a:sym typeface="Calibri"/>
              </a:rPr>
              <a:t>to evaluate and rank AI outputs before deployment, ensuring alignment with platform relevance criteria.</a:t>
            </a:r>
            <a:endParaRPr sz="1200">
              <a:solidFill>
                <a:schemeClr val="dk1"/>
              </a:solidFill>
              <a:latin typeface="Calibri"/>
              <a:ea typeface="Calibri"/>
              <a:cs typeface="Calibri"/>
              <a:sym typeface="Calibri"/>
            </a:endParaRPr>
          </a:p>
        </p:txBody>
      </p:sp>
      <p:sp>
        <p:nvSpPr>
          <p:cNvPr id="680" name="Google Shape;680;p31"/>
          <p:cNvSpPr/>
          <p:nvPr/>
        </p:nvSpPr>
        <p:spPr>
          <a:xfrm>
            <a:off x="428625" y="3535881"/>
            <a:ext cx="846300" cy="133800"/>
          </a:xfrm>
          <a:prstGeom prst="rect">
            <a:avLst/>
          </a:prstGeom>
          <a:noFill/>
          <a:ln>
            <a:noFill/>
          </a:ln>
        </p:spPr>
        <p:txBody>
          <a:bodyPr spcFirstLastPara="1" wrap="square" lIns="0" tIns="0" rIns="0" bIns="0" anchor="t" anchorCtr="0">
            <a:noAutofit/>
          </a:bodyPr>
          <a:lstStyle/>
          <a:p>
            <a:pPr marL="0" marR="0" lvl="0" indent="0" algn="l" rtl="0">
              <a:lnSpc>
                <a:spcPct val="64285"/>
              </a:lnSpc>
              <a:spcBef>
                <a:spcPts val="0"/>
              </a:spcBef>
              <a:spcAft>
                <a:spcPts val="0"/>
              </a:spcAft>
              <a:buClr>
                <a:srgbClr val="FF5F00"/>
              </a:buClr>
              <a:buSzPts val="1400"/>
              <a:buFont typeface="Calibri"/>
              <a:buNone/>
            </a:pPr>
            <a:r>
              <a:rPr lang="en-US" sz="1400" b="1">
                <a:solidFill>
                  <a:srgbClr val="FF5F00"/>
                </a:solidFill>
                <a:latin typeface="Calibri"/>
                <a:ea typeface="Calibri"/>
                <a:cs typeface="Calibri"/>
                <a:sym typeface="Calibri"/>
              </a:rPr>
              <a:t>Strategy 03</a:t>
            </a:r>
            <a:endParaRPr sz="1400">
              <a:solidFill>
                <a:schemeClr val="dk1"/>
              </a:solidFill>
              <a:latin typeface="Calibri"/>
              <a:ea typeface="Calibri"/>
              <a:cs typeface="Calibri"/>
              <a:sym typeface="Calibri"/>
            </a:endParaRPr>
          </a:p>
        </p:txBody>
      </p:sp>
      <p:sp>
        <p:nvSpPr>
          <p:cNvPr id="681" name="Google Shape;681;p31"/>
          <p:cNvSpPr/>
          <p:nvPr/>
        </p:nvSpPr>
        <p:spPr>
          <a:xfrm>
            <a:off x="428625" y="3670100"/>
            <a:ext cx="1554900" cy="243600"/>
          </a:xfrm>
          <a:prstGeom prst="rect">
            <a:avLst/>
          </a:prstGeom>
          <a:noFill/>
          <a:ln>
            <a:noFill/>
          </a:ln>
        </p:spPr>
        <p:txBody>
          <a:bodyPr spcFirstLastPara="1" wrap="square" lIns="0" tIns="0" rIns="0" bIns="0" anchor="t" anchorCtr="0">
            <a:noAutofit/>
          </a:bodyPr>
          <a:lstStyle/>
          <a:p>
            <a:pPr marL="0" marR="0" lvl="0" indent="0" algn="l" rtl="0">
              <a:lnSpc>
                <a:spcPct val="118750"/>
              </a:lnSpc>
              <a:spcBef>
                <a:spcPts val="0"/>
              </a:spcBef>
              <a:spcAft>
                <a:spcPts val="0"/>
              </a:spcAft>
              <a:buClr>
                <a:srgbClr val="000000"/>
              </a:buClr>
              <a:buSzPts val="1600"/>
              <a:buFont typeface="Calibri"/>
              <a:buNone/>
            </a:pPr>
            <a:r>
              <a:rPr lang="en-US" sz="1600" b="1">
                <a:solidFill>
                  <a:srgbClr val="000000"/>
                </a:solidFill>
                <a:latin typeface="Calibri"/>
                <a:ea typeface="Calibri"/>
                <a:cs typeface="Calibri"/>
                <a:sym typeface="Calibri"/>
              </a:rPr>
              <a:t>Cost Management</a:t>
            </a:r>
            <a:endParaRPr sz="1600">
              <a:solidFill>
                <a:schemeClr val="dk1"/>
              </a:solidFill>
              <a:latin typeface="Calibri"/>
              <a:ea typeface="Calibri"/>
              <a:cs typeface="Calibri"/>
              <a:sym typeface="Calibri"/>
            </a:endParaRPr>
          </a:p>
        </p:txBody>
      </p:sp>
      <p:sp>
        <p:nvSpPr>
          <p:cNvPr id="682" name="Google Shape;682;p31"/>
          <p:cNvSpPr/>
          <p:nvPr/>
        </p:nvSpPr>
        <p:spPr>
          <a:xfrm>
            <a:off x="4429125" y="4020771"/>
            <a:ext cx="4000500" cy="5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Use predictive modeling to balance the performance gains of AI with the financial realities of the auction, preventing unexpected cost spikes.</a:t>
            </a:r>
            <a:endParaRPr sz="1200">
              <a:solidFill>
                <a:schemeClr val="dk1"/>
              </a:solidFill>
              <a:latin typeface="Calibri"/>
              <a:ea typeface="Calibri"/>
              <a:cs typeface="Calibri"/>
              <a:sym typeface="Calibri"/>
            </a:endParaRPr>
          </a:p>
        </p:txBody>
      </p:sp>
      <p:sp>
        <p:nvSpPr>
          <p:cNvPr id="683" name="Google Shape;683;p31"/>
          <p:cNvSpPr/>
          <p:nvPr/>
        </p:nvSpPr>
        <p:spPr>
          <a:xfrm>
            <a:off x="4429125" y="3553465"/>
            <a:ext cx="846300" cy="133800"/>
          </a:xfrm>
          <a:prstGeom prst="rect">
            <a:avLst/>
          </a:prstGeom>
          <a:noFill/>
          <a:ln>
            <a:noFill/>
          </a:ln>
        </p:spPr>
        <p:txBody>
          <a:bodyPr spcFirstLastPara="1" wrap="square" lIns="0" tIns="0" rIns="0" bIns="0" anchor="t" anchorCtr="0">
            <a:noAutofit/>
          </a:bodyPr>
          <a:lstStyle/>
          <a:p>
            <a:pPr marL="0" marR="0" lvl="0" indent="0" algn="l" rtl="0">
              <a:lnSpc>
                <a:spcPct val="64285"/>
              </a:lnSpc>
              <a:spcBef>
                <a:spcPts val="0"/>
              </a:spcBef>
              <a:spcAft>
                <a:spcPts val="0"/>
              </a:spcAft>
              <a:buClr>
                <a:srgbClr val="FF5F00"/>
              </a:buClr>
              <a:buSzPts val="1400"/>
              <a:buFont typeface="Calibri"/>
              <a:buNone/>
            </a:pPr>
            <a:r>
              <a:rPr lang="en-US" sz="1400" b="1">
                <a:solidFill>
                  <a:srgbClr val="FF5F00"/>
                </a:solidFill>
                <a:latin typeface="Calibri"/>
                <a:ea typeface="Calibri"/>
                <a:cs typeface="Calibri"/>
                <a:sym typeface="Calibri"/>
              </a:rPr>
              <a:t>Strategy 04</a:t>
            </a:r>
            <a:endParaRPr sz="1400">
              <a:solidFill>
                <a:schemeClr val="dk1"/>
              </a:solidFill>
              <a:latin typeface="Calibri"/>
              <a:ea typeface="Calibri"/>
              <a:cs typeface="Calibri"/>
              <a:sym typeface="Calibri"/>
            </a:endParaRPr>
          </a:p>
        </p:txBody>
      </p:sp>
      <p:sp>
        <p:nvSpPr>
          <p:cNvPr id="684" name="Google Shape;684;p31"/>
          <p:cNvSpPr/>
          <p:nvPr/>
        </p:nvSpPr>
        <p:spPr>
          <a:xfrm>
            <a:off x="4429125" y="3669207"/>
            <a:ext cx="1836300" cy="243600"/>
          </a:xfrm>
          <a:prstGeom prst="rect">
            <a:avLst/>
          </a:prstGeom>
          <a:noFill/>
          <a:ln>
            <a:noFill/>
          </a:ln>
        </p:spPr>
        <p:txBody>
          <a:bodyPr spcFirstLastPara="1" wrap="square" lIns="0" tIns="0" rIns="0" bIns="0" anchor="t" anchorCtr="0">
            <a:noAutofit/>
          </a:bodyPr>
          <a:lstStyle/>
          <a:p>
            <a:pPr marL="0" marR="0" lvl="0" indent="0" algn="l" rtl="0">
              <a:lnSpc>
                <a:spcPct val="118750"/>
              </a:lnSpc>
              <a:spcBef>
                <a:spcPts val="0"/>
              </a:spcBef>
              <a:spcAft>
                <a:spcPts val="0"/>
              </a:spcAft>
              <a:buClr>
                <a:srgbClr val="000000"/>
              </a:buClr>
              <a:buSzPts val="1600"/>
              <a:buFont typeface="Calibri"/>
              <a:buNone/>
            </a:pPr>
            <a:r>
              <a:rPr lang="en-US" sz="1600" b="1">
                <a:solidFill>
                  <a:srgbClr val="000000"/>
                </a:solidFill>
                <a:latin typeface="Calibri"/>
                <a:ea typeface="Calibri"/>
                <a:cs typeface="Calibri"/>
                <a:sym typeface="Calibri"/>
              </a:rPr>
              <a:t>Strategic Deployment</a:t>
            </a:r>
            <a:endParaRPr sz="1600">
              <a:solidFill>
                <a:schemeClr val="dk1"/>
              </a:solidFill>
              <a:latin typeface="Calibri"/>
              <a:ea typeface="Calibri"/>
              <a:cs typeface="Calibri"/>
              <a:sym typeface="Calibri"/>
            </a:endParaRPr>
          </a:p>
        </p:txBody>
      </p:sp>
      <p:sp>
        <p:nvSpPr>
          <p:cNvPr id="685" name="Google Shape;685;p31"/>
          <p:cNvSpPr/>
          <p:nvPr/>
        </p:nvSpPr>
        <p:spPr>
          <a:xfrm>
            <a:off x="428625" y="4020772"/>
            <a:ext cx="3237900" cy="554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00"/>
              <a:buFont typeface="Calibri"/>
              <a:buNone/>
            </a:pPr>
            <a:r>
              <a:rPr lang="en-US" sz="1200">
                <a:solidFill>
                  <a:srgbClr val="333333"/>
                </a:solidFill>
                <a:latin typeface="Calibri"/>
                <a:ea typeface="Calibri"/>
                <a:cs typeface="Calibri"/>
                <a:sym typeface="Calibri"/>
              </a:rPr>
              <a:t>Prioritize AI optimization for budget-constrained campaigns where content relevance has the highest marginal impact on visibility and success.</a:t>
            </a:r>
            <a:endParaRPr sz="12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32"/>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2" name="Google Shape;692;p32"/>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3" name="Google Shape;693;p32"/>
          <p:cNvSpPr/>
          <p:nvPr/>
        </p:nvSpPr>
        <p:spPr>
          <a:xfrm>
            <a:off x="428625" y="428625"/>
            <a:ext cx="8715300" cy="1089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Limitations and Future Research Directions</a:t>
            </a:r>
            <a:endParaRPr sz="2862">
              <a:solidFill>
                <a:schemeClr val="dk1"/>
              </a:solidFill>
              <a:latin typeface="Calibri"/>
              <a:ea typeface="Calibri"/>
              <a:cs typeface="Calibri"/>
              <a:sym typeface="Calibri"/>
            </a:endParaRPr>
          </a:p>
        </p:txBody>
      </p:sp>
      <p:sp>
        <p:nvSpPr>
          <p:cNvPr id="694" name="Google Shape;694;p32"/>
          <p:cNvSpPr/>
          <p:nvPr/>
        </p:nvSpPr>
        <p:spPr>
          <a:xfrm>
            <a:off x="428625" y="2089547"/>
            <a:ext cx="39291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Current Limitations</a:t>
            </a:r>
            <a:endParaRPr sz="1499">
              <a:solidFill>
                <a:schemeClr val="dk1"/>
              </a:solidFill>
              <a:latin typeface="Calibri"/>
              <a:ea typeface="Calibri"/>
              <a:cs typeface="Calibri"/>
              <a:sym typeface="Calibri"/>
            </a:endParaRPr>
          </a:p>
        </p:txBody>
      </p:sp>
      <p:sp>
        <p:nvSpPr>
          <p:cNvPr id="695" name="Google Shape;695;p32"/>
          <p:cNvSpPr/>
          <p:nvPr/>
        </p:nvSpPr>
        <p:spPr>
          <a:xfrm>
            <a:off x="428625" y="2466184"/>
            <a:ext cx="39291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Platform Opacity</a:t>
            </a:r>
            <a:endParaRPr sz="1499">
              <a:solidFill>
                <a:schemeClr val="dk1"/>
              </a:solidFill>
              <a:latin typeface="Calibri"/>
              <a:ea typeface="Calibri"/>
              <a:cs typeface="Calibri"/>
              <a:sym typeface="Calibri"/>
            </a:endParaRPr>
          </a:p>
        </p:txBody>
      </p:sp>
      <p:sp>
        <p:nvSpPr>
          <p:cNvPr id="696" name="Google Shape;696;p32"/>
          <p:cNvSpPr/>
          <p:nvPr/>
        </p:nvSpPr>
        <p:spPr>
          <a:xfrm>
            <a:off x="428624" y="2815631"/>
            <a:ext cx="3929100" cy="1097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dirty="0">
                <a:solidFill>
                  <a:srgbClr val="333333"/>
                </a:solidFill>
                <a:latin typeface="Calibri"/>
                <a:ea typeface="Calibri"/>
                <a:cs typeface="Calibri"/>
                <a:sym typeface="Calibri"/>
              </a:rPr>
              <a:t>Results are inherently tied to the </a:t>
            </a:r>
            <a:r>
              <a:rPr lang="en-US" sz="1193" b="1" dirty="0">
                <a:solidFill>
                  <a:srgbClr val="0047AB"/>
                </a:solidFill>
                <a:latin typeface="Calibri"/>
                <a:ea typeface="Calibri"/>
                <a:cs typeface="Calibri"/>
                <a:sym typeface="Calibri"/>
              </a:rPr>
              <a:t>"black box"</a:t>
            </a:r>
            <a:r>
              <a:rPr lang="en-US" sz="1269" dirty="0">
                <a:solidFill>
                  <a:srgbClr val="333333"/>
                </a:solidFill>
                <a:latin typeface="Calibri"/>
                <a:ea typeface="Calibri"/>
                <a:cs typeface="Calibri"/>
                <a:sym typeface="Calibri"/>
              </a:rPr>
              <a:t> algorithms of search engines, which are subject to frequent, unannounced changes in ad-serving policies.</a:t>
            </a:r>
            <a:endParaRPr sz="1269" dirty="0">
              <a:solidFill>
                <a:schemeClr val="dk1"/>
              </a:solidFill>
              <a:latin typeface="Calibri"/>
              <a:ea typeface="Calibri"/>
              <a:cs typeface="Calibri"/>
              <a:sym typeface="Calibri"/>
            </a:endParaRPr>
          </a:p>
        </p:txBody>
      </p:sp>
      <p:sp>
        <p:nvSpPr>
          <p:cNvPr id="697" name="Google Shape;697;p32"/>
          <p:cNvSpPr/>
          <p:nvPr/>
        </p:nvSpPr>
        <p:spPr>
          <a:xfrm>
            <a:off x="428625" y="3833207"/>
            <a:ext cx="39291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Conversion Tracking</a:t>
            </a:r>
            <a:endParaRPr sz="1499">
              <a:solidFill>
                <a:schemeClr val="dk1"/>
              </a:solidFill>
              <a:latin typeface="Calibri"/>
              <a:ea typeface="Calibri"/>
              <a:cs typeface="Calibri"/>
              <a:sym typeface="Calibri"/>
            </a:endParaRPr>
          </a:p>
        </p:txBody>
      </p:sp>
      <p:sp>
        <p:nvSpPr>
          <p:cNvPr id="698" name="Google Shape;698;p32"/>
          <p:cNvSpPr/>
          <p:nvPr/>
        </p:nvSpPr>
        <p:spPr>
          <a:xfrm>
            <a:off x="428624" y="4164552"/>
            <a:ext cx="3929100" cy="1097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dirty="0">
                <a:solidFill>
                  <a:srgbClr val="333333"/>
                </a:solidFill>
                <a:latin typeface="Calibri"/>
                <a:ea typeface="Calibri"/>
                <a:cs typeface="Calibri"/>
                <a:sym typeface="Calibri"/>
              </a:rPr>
              <a:t>While the study focuses on visibility and engagement, future systems should more deeply integrate downstream </a:t>
            </a:r>
            <a:r>
              <a:rPr lang="en-US" sz="1193" b="1" dirty="0">
                <a:solidFill>
                  <a:srgbClr val="0047AB"/>
                </a:solidFill>
                <a:latin typeface="Calibri"/>
                <a:ea typeface="Calibri"/>
                <a:cs typeface="Calibri"/>
                <a:sym typeface="Calibri"/>
              </a:rPr>
              <a:t>conversion data</a:t>
            </a:r>
            <a:r>
              <a:rPr lang="en-US" sz="1269" dirty="0">
                <a:solidFill>
                  <a:srgbClr val="333333"/>
                </a:solidFill>
                <a:latin typeface="Calibri"/>
                <a:ea typeface="Calibri"/>
                <a:cs typeface="Calibri"/>
                <a:sym typeface="Calibri"/>
              </a:rPr>
              <a:t> into the scoring layer.</a:t>
            </a:r>
            <a:endParaRPr sz="1269" dirty="0">
              <a:solidFill>
                <a:schemeClr val="dk1"/>
              </a:solidFill>
              <a:latin typeface="Calibri"/>
              <a:ea typeface="Calibri"/>
              <a:cs typeface="Calibri"/>
              <a:sym typeface="Calibri"/>
            </a:endParaRPr>
          </a:p>
        </p:txBody>
      </p:sp>
      <p:sp>
        <p:nvSpPr>
          <p:cNvPr id="699" name="Google Shape;699;p32"/>
          <p:cNvSpPr/>
          <p:nvPr/>
        </p:nvSpPr>
        <p:spPr>
          <a:xfrm>
            <a:off x="4786313" y="2089547"/>
            <a:ext cx="39291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Future Directions</a:t>
            </a:r>
            <a:endParaRPr sz="1499">
              <a:solidFill>
                <a:schemeClr val="dk1"/>
              </a:solidFill>
              <a:latin typeface="Calibri"/>
              <a:ea typeface="Calibri"/>
              <a:cs typeface="Calibri"/>
              <a:sym typeface="Calibri"/>
            </a:endParaRPr>
          </a:p>
        </p:txBody>
      </p:sp>
      <p:sp>
        <p:nvSpPr>
          <p:cNvPr id="700" name="Google Shape;700;p32"/>
          <p:cNvSpPr/>
          <p:nvPr/>
        </p:nvSpPr>
        <p:spPr>
          <a:xfrm>
            <a:off x="4786313" y="2466184"/>
            <a:ext cx="39291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Long-run Effects</a:t>
            </a:r>
            <a:endParaRPr sz="1499">
              <a:solidFill>
                <a:schemeClr val="dk1"/>
              </a:solidFill>
              <a:latin typeface="Calibri"/>
              <a:ea typeface="Calibri"/>
              <a:cs typeface="Calibri"/>
              <a:sym typeface="Calibri"/>
            </a:endParaRPr>
          </a:p>
        </p:txBody>
      </p:sp>
      <p:sp>
        <p:nvSpPr>
          <p:cNvPr id="701" name="Google Shape;701;p32"/>
          <p:cNvSpPr/>
          <p:nvPr/>
        </p:nvSpPr>
        <p:spPr>
          <a:xfrm>
            <a:off x="4786275" y="2815631"/>
            <a:ext cx="3929100" cy="822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b="1" dirty="0">
                <a:solidFill>
                  <a:srgbClr val="333333"/>
                </a:solidFill>
                <a:latin typeface="Calibri"/>
                <a:ea typeface="Calibri"/>
                <a:cs typeface="Calibri"/>
                <a:sym typeface="Calibri"/>
              </a:rPr>
              <a:t>Repeated games</a:t>
            </a:r>
            <a:r>
              <a:rPr lang="en-US" sz="1269" dirty="0">
                <a:solidFill>
                  <a:srgbClr val="333333"/>
                </a:solidFill>
                <a:latin typeface="Calibri"/>
                <a:ea typeface="Calibri"/>
                <a:cs typeface="Calibri"/>
                <a:sym typeface="Calibri"/>
              </a:rPr>
              <a:t>: Investigating how these AI-driven strategies perform over extended periods as competitors also adopt similar automated tools.</a:t>
            </a:r>
            <a:endParaRPr sz="1269" dirty="0">
              <a:solidFill>
                <a:schemeClr val="dk1"/>
              </a:solidFill>
              <a:latin typeface="Calibri"/>
              <a:ea typeface="Calibri"/>
              <a:cs typeface="Calibri"/>
              <a:sym typeface="Calibri"/>
            </a:endParaRPr>
          </a:p>
        </p:txBody>
      </p:sp>
      <p:sp>
        <p:nvSpPr>
          <p:cNvPr id="702" name="Google Shape;702;p32"/>
          <p:cNvSpPr/>
          <p:nvPr/>
        </p:nvSpPr>
        <p:spPr>
          <a:xfrm>
            <a:off x="4786313" y="3837900"/>
            <a:ext cx="39291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000000"/>
              </a:buClr>
              <a:buSzPts val="1499"/>
              <a:buFont typeface="Calibri"/>
              <a:buNone/>
            </a:pPr>
            <a:r>
              <a:rPr lang="en-US" sz="1499" b="1">
                <a:solidFill>
                  <a:srgbClr val="000000"/>
                </a:solidFill>
                <a:latin typeface="Calibri"/>
                <a:ea typeface="Calibri"/>
                <a:cs typeface="Calibri"/>
                <a:sym typeface="Calibri"/>
              </a:rPr>
              <a:t>Multi-Objective Optimization</a:t>
            </a:r>
            <a:endParaRPr sz="1499">
              <a:solidFill>
                <a:schemeClr val="dk1"/>
              </a:solidFill>
              <a:latin typeface="Calibri"/>
              <a:ea typeface="Calibri"/>
              <a:cs typeface="Calibri"/>
              <a:sym typeface="Calibri"/>
            </a:endParaRPr>
          </a:p>
        </p:txBody>
      </p:sp>
      <p:sp>
        <p:nvSpPr>
          <p:cNvPr id="703" name="Google Shape;703;p32"/>
          <p:cNvSpPr/>
          <p:nvPr/>
        </p:nvSpPr>
        <p:spPr>
          <a:xfrm>
            <a:off x="4786275" y="4166325"/>
            <a:ext cx="3929100" cy="1097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3333"/>
              </a:buClr>
              <a:buSzPts val="1269"/>
              <a:buFont typeface="Calibri"/>
              <a:buNone/>
            </a:pPr>
            <a:r>
              <a:rPr lang="en-US" sz="1269" dirty="0">
                <a:solidFill>
                  <a:srgbClr val="333333"/>
                </a:solidFill>
                <a:latin typeface="Calibri"/>
                <a:ea typeface="Calibri"/>
                <a:cs typeface="Calibri"/>
                <a:sym typeface="Calibri"/>
              </a:rPr>
              <a:t>Developing advanced models that simultaneously optimize for </a:t>
            </a:r>
            <a:r>
              <a:rPr lang="en-US" sz="1193" b="1" dirty="0" err="1">
                <a:solidFill>
                  <a:srgbClr val="0047AB"/>
                </a:solidFill>
                <a:latin typeface="Calibri"/>
                <a:ea typeface="Calibri"/>
                <a:cs typeface="Calibri"/>
                <a:sym typeface="Calibri"/>
              </a:rPr>
              <a:t>CS_ad</a:t>
            </a:r>
            <a:r>
              <a:rPr lang="en-US" sz="1193" b="1" dirty="0">
                <a:solidFill>
                  <a:srgbClr val="0047AB"/>
                </a:solidFill>
                <a:latin typeface="Calibri"/>
                <a:ea typeface="Calibri"/>
                <a:cs typeface="Calibri"/>
                <a:sym typeface="Calibri"/>
              </a:rPr>
              <a:t>, CPC, and Conversion Rates</a:t>
            </a:r>
            <a:r>
              <a:rPr lang="en-US" sz="1269" dirty="0">
                <a:solidFill>
                  <a:srgbClr val="333333"/>
                </a:solidFill>
                <a:latin typeface="Calibri"/>
                <a:ea typeface="Calibri"/>
                <a:cs typeface="Calibri"/>
                <a:sym typeface="Calibri"/>
              </a:rPr>
              <a:t> to provide a holistic campaign solution.</a:t>
            </a:r>
            <a:endParaRPr sz="1269" dirty="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33"/>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0" name="Google Shape;710;p33"/>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1" name="Google Shape;711;p33"/>
          <p:cNvSpPr/>
          <p:nvPr/>
        </p:nvSpPr>
        <p:spPr>
          <a:xfrm>
            <a:off x="428625" y="428625"/>
            <a:ext cx="8715300" cy="462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Extension: Use GPT to evaluate the ad quality</a:t>
            </a:r>
            <a:endParaRPr sz="2862">
              <a:solidFill>
                <a:schemeClr val="dk1"/>
              </a:solidFill>
              <a:latin typeface="Calibri"/>
              <a:ea typeface="Calibri"/>
              <a:cs typeface="Calibri"/>
              <a:sym typeface="Calibri"/>
            </a:endParaRPr>
          </a:p>
        </p:txBody>
      </p:sp>
      <p:sp>
        <p:nvSpPr>
          <p:cNvPr id="712" name="Google Shape;712;p33"/>
          <p:cNvSpPr/>
          <p:nvPr/>
        </p:nvSpPr>
        <p:spPr>
          <a:xfrm>
            <a:off x="428625" y="1887406"/>
            <a:ext cx="1590000" cy="243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Prompt engineering</a:t>
            </a:r>
            <a:endParaRPr sz="1499">
              <a:solidFill>
                <a:schemeClr val="dk1"/>
              </a:solidFill>
              <a:latin typeface="Calibri"/>
              <a:ea typeface="Calibri"/>
              <a:cs typeface="Calibri"/>
              <a:sym typeface="Calibri"/>
            </a:endParaRPr>
          </a:p>
        </p:txBody>
      </p:sp>
      <p:pic>
        <p:nvPicPr>
          <p:cNvPr id="713" name="Google Shape;713;p33"/>
          <p:cNvPicPr preferRelativeResize="0"/>
          <p:nvPr/>
        </p:nvPicPr>
        <p:blipFill rotWithShape="1">
          <a:blip r:embed="rId3">
            <a:alphaModFix/>
          </a:blip>
          <a:srcRect/>
          <a:stretch/>
        </p:blipFill>
        <p:spPr>
          <a:xfrm>
            <a:off x="428625" y="2342682"/>
            <a:ext cx="8094907" cy="221502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34"/>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0" name="Google Shape;720;p34"/>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1" name="Google Shape;721;p34"/>
          <p:cNvSpPr/>
          <p:nvPr/>
        </p:nvSpPr>
        <p:spPr>
          <a:xfrm>
            <a:off x="428625" y="428625"/>
            <a:ext cx="8715300" cy="462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Extension: Use GPT to evaluate the ad quality</a:t>
            </a:r>
            <a:endParaRPr sz="2862">
              <a:solidFill>
                <a:schemeClr val="dk1"/>
              </a:solidFill>
              <a:latin typeface="Calibri"/>
              <a:ea typeface="Calibri"/>
              <a:cs typeface="Calibri"/>
              <a:sym typeface="Calibri"/>
            </a:endParaRPr>
          </a:p>
        </p:txBody>
      </p:sp>
      <p:sp>
        <p:nvSpPr>
          <p:cNvPr id="722" name="Google Shape;722;p34"/>
          <p:cNvSpPr/>
          <p:nvPr/>
        </p:nvSpPr>
        <p:spPr>
          <a:xfrm>
            <a:off x="428625" y="1887406"/>
            <a:ext cx="1590000" cy="243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Prompt engineering</a:t>
            </a:r>
            <a:endParaRPr sz="1499">
              <a:solidFill>
                <a:schemeClr val="dk1"/>
              </a:solidFill>
              <a:latin typeface="Calibri"/>
              <a:ea typeface="Calibri"/>
              <a:cs typeface="Calibri"/>
              <a:sym typeface="Calibri"/>
            </a:endParaRPr>
          </a:p>
        </p:txBody>
      </p:sp>
      <p:pic>
        <p:nvPicPr>
          <p:cNvPr id="723" name="Google Shape;723;p34"/>
          <p:cNvPicPr preferRelativeResize="0"/>
          <p:nvPr/>
        </p:nvPicPr>
        <p:blipFill rotWithShape="1">
          <a:blip r:embed="rId3">
            <a:alphaModFix/>
          </a:blip>
          <a:srcRect/>
          <a:stretch/>
        </p:blipFill>
        <p:spPr>
          <a:xfrm>
            <a:off x="428625" y="2210798"/>
            <a:ext cx="6744642" cy="274358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35"/>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0" name="Google Shape;730;p35"/>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1" name="Google Shape;731;p35"/>
          <p:cNvSpPr/>
          <p:nvPr/>
        </p:nvSpPr>
        <p:spPr>
          <a:xfrm>
            <a:off x="428625" y="428625"/>
            <a:ext cx="8715300" cy="462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Extension: Use GPT to evaluate the ad quality</a:t>
            </a:r>
            <a:endParaRPr sz="2862">
              <a:solidFill>
                <a:schemeClr val="dk1"/>
              </a:solidFill>
              <a:latin typeface="Calibri"/>
              <a:ea typeface="Calibri"/>
              <a:cs typeface="Calibri"/>
              <a:sym typeface="Calibri"/>
            </a:endParaRPr>
          </a:p>
        </p:txBody>
      </p:sp>
      <p:sp>
        <p:nvSpPr>
          <p:cNvPr id="732" name="Google Shape;732;p35"/>
          <p:cNvSpPr/>
          <p:nvPr/>
        </p:nvSpPr>
        <p:spPr>
          <a:xfrm>
            <a:off x="428625" y="1887406"/>
            <a:ext cx="1590000" cy="243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Prompt engineering</a:t>
            </a:r>
            <a:endParaRPr sz="1499">
              <a:solidFill>
                <a:schemeClr val="dk1"/>
              </a:solidFill>
              <a:latin typeface="Calibri"/>
              <a:ea typeface="Calibri"/>
              <a:cs typeface="Calibri"/>
              <a:sym typeface="Calibri"/>
            </a:endParaRPr>
          </a:p>
        </p:txBody>
      </p:sp>
      <p:pic>
        <p:nvPicPr>
          <p:cNvPr id="733" name="Google Shape;733;p35"/>
          <p:cNvPicPr preferRelativeResize="0"/>
          <p:nvPr/>
        </p:nvPicPr>
        <p:blipFill rotWithShape="1">
          <a:blip r:embed="rId3">
            <a:alphaModFix/>
          </a:blip>
          <a:srcRect/>
          <a:stretch/>
        </p:blipFill>
        <p:spPr>
          <a:xfrm>
            <a:off x="428626" y="2212721"/>
            <a:ext cx="5488598" cy="285791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6"/>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0" name="Google Shape;740;p36"/>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1" name="Google Shape;741;p36"/>
          <p:cNvSpPr/>
          <p:nvPr/>
        </p:nvSpPr>
        <p:spPr>
          <a:xfrm>
            <a:off x="428625" y="428625"/>
            <a:ext cx="8715300" cy="462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Extension: Use GPT to evaluate the ad quality</a:t>
            </a:r>
            <a:endParaRPr sz="2862">
              <a:solidFill>
                <a:schemeClr val="dk1"/>
              </a:solidFill>
              <a:latin typeface="Calibri"/>
              <a:ea typeface="Calibri"/>
              <a:cs typeface="Calibri"/>
              <a:sym typeface="Calibri"/>
            </a:endParaRPr>
          </a:p>
        </p:txBody>
      </p:sp>
      <p:sp>
        <p:nvSpPr>
          <p:cNvPr id="742" name="Google Shape;742;p36"/>
          <p:cNvSpPr/>
          <p:nvPr/>
        </p:nvSpPr>
        <p:spPr>
          <a:xfrm>
            <a:off x="428625" y="1887406"/>
            <a:ext cx="1590000" cy="243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Prompt engineering</a:t>
            </a:r>
            <a:endParaRPr sz="1499">
              <a:solidFill>
                <a:schemeClr val="dk1"/>
              </a:solidFill>
              <a:latin typeface="Calibri"/>
              <a:ea typeface="Calibri"/>
              <a:cs typeface="Calibri"/>
              <a:sym typeface="Calibri"/>
            </a:endParaRPr>
          </a:p>
        </p:txBody>
      </p:sp>
      <p:pic>
        <p:nvPicPr>
          <p:cNvPr id="743" name="Google Shape;743;p36"/>
          <p:cNvPicPr preferRelativeResize="0"/>
          <p:nvPr/>
        </p:nvPicPr>
        <p:blipFill rotWithShape="1">
          <a:blip r:embed="rId3">
            <a:alphaModFix/>
          </a:blip>
          <a:srcRect/>
          <a:stretch/>
        </p:blipFill>
        <p:spPr>
          <a:xfrm>
            <a:off x="428624" y="2283471"/>
            <a:ext cx="6288699" cy="231633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37"/>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0" name="Google Shape;750;p37"/>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1" name="Google Shape;751;p37"/>
          <p:cNvSpPr/>
          <p:nvPr/>
        </p:nvSpPr>
        <p:spPr>
          <a:xfrm>
            <a:off x="428625" y="428625"/>
            <a:ext cx="8715300" cy="462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Extension: Use GPT to evaluate the ad quality</a:t>
            </a:r>
            <a:endParaRPr sz="2862">
              <a:solidFill>
                <a:schemeClr val="dk1"/>
              </a:solidFill>
              <a:latin typeface="Calibri"/>
              <a:ea typeface="Calibri"/>
              <a:cs typeface="Calibri"/>
              <a:sym typeface="Calibri"/>
            </a:endParaRPr>
          </a:p>
        </p:txBody>
      </p:sp>
      <p:sp>
        <p:nvSpPr>
          <p:cNvPr id="752" name="Google Shape;752;p37"/>
          <p:cNvSpPr/>
          <p:nvPr/>
        </p:nvSpPr>
        <p:spPr>
          <a:xfrm>
            <a:off x="428625" y="1887406"/>
            <a:ext cx="1590000" cy="243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Prompt engineering</a:t>
            </a:r>
            <a:endParaRPr sz="1499">
              <a:solidFill>
                <a:schemeClr val="dk1"/>
              </a:solidFill>
              <a:latin typeface="Calibri"/>
              <a:ea typeface="Calibri"/>
              <a:cs typeface="Calibri"/>
              <a:sym typeface="Calibri"/>
            </a:endParaRPr>
          </a:p>
        </p:txBody>
      </p:sp>
      <p:pic>
        <p:nvPicPr>
          <p:cNvPr id="753" name="Google Shape;753;p37"/>
          <p:cNvPicPr preferRelativeResize="0"/>
          <p:nvPr/>
        </p:nvPicPr>
        <p:blipFill rotWithShape="1">
          <a:blip r:embed="rId3">
            <a:alphaModFix/>
          </a:blip>
          <a:srcRect/>
          <a:stretch/>
        </p:blipFill>
        <p:spPr>
          <a:xfrm>
            <a:off x="428625" y="2210662"/>
            <a:ext cx="4371976" cy="293283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38"/>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0" name="Google Shape;760;p38"/>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1" name="Google Shape;761;p38"/>
          <p:cNvSpPr/>
          <p:nvPr/>
        </p:nvSpPr>
        <p:spPr>
          <a:xfrm>
            <a:off x="428625" y="428625"/>
            <a:ext cx="8715300" cy="462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Extension: Use GPT to evaluate the ad quality</a:t>
            </a:r>
            <a:endParaRPr sz="2862">
              <a:solidFill>
                <a:schemeClr val="dk1"/>
              </a:solidFill>
              <a:latin typeface="Calibri"/>
              <a:ea typeface="Calibri"/>
              <a:cs typeface="Calibri"/>
              <a:sym typeface="Calibri"/>
            </a:endParaRPr>
          </a:p>
        </p:txBody>
      </p:sp>
      <p:sp>
        <p:nvSpPr>
          <p:cNvPr id="762" name="Google Shape;762;p38"/>
          <p:cNvSpPr/>
          <p:nvPr/>
        </p:nvSpPr>
        <p:spPr>
          <a:xfrm>
            <a:off x="428625" y="1887406"/>
            <a:ext cx="1590000" cy="243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Prompt engineering</a:t>
            </a:r>
            <a:endParaRPr sz="1499">
              <a:solidFill>
                <a:schemeClr val="dk1"/>
              </a:solidFill>
              <a:latin typeface="Calibri"/>
              <a:ea typeface="Calibri"/>
              <a:cs typeface="Calibri"/>
              <a:sym typeface="Calibri"/>
            </a:endParaRPr>
          </a:p>
        </p:txBody>
      </p:sp>
      <p:pic>
        <p:nvPicPr>
          <p:cNvPr id="763" name="Google Shape;763;p38"/>
          <p:cNvPicPr preferRelativeResize="0"/>
          <p:nvPr/>
        </p:nvPicPr>
        <p:blipFill rotWithShape="1">
          <a:blip r:embed="rId3">
            <a:alphaModFix/>
          </a:blip>
          <a:srcRect/>
          <a:stretch/>
        </p:blipFill>
        <p:spPr>
          <a:xfrm>
            <a:off x="2505807" y="1720716"/>
            <a:ext cx="4405320" cy="340849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39"/>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0" name="Google Shape;770;p39"/>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1" name="Google Shape;771;p39"/>
          <p:cNvSpPr/>
          <p:nvPr/>
        </p:nvSpPr>
        <p:spPr>
          <a:xfrm>
            <a:off x="428625" y="428625"/>
            <a:ext cx="8715300" cy="462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Extension: Use GPT to evaluate the ad quality</a:t>
            </a:r>
            <a:endParaRPr sz="2862">
              <a:solidFill>
                <a:schemeClr val="dk1"/>
              </a:solidFill>
              <a:latin typeface="Calibri"/>
              <a:ea typeface="Calibri"/>
              <a:cs typeface="Calibri"/>
              <a:sym typeface="Calibri"/>
            </a:endParaRPr>
          </a:p>
        </p:txBody>
      </p:sp>
      <p:sp>
        <p:nvSpPr>
          <p:cNvPr id="772" name="Google Shape;772;p39"/>
          <p:cNvSpPr/>
          <p:nvPr/>
        </p:nvSpPr>
        <p:spPr>
          <a:xfrm>
            <a:off x="428625" y="1887406"/>
            <a:ext cx="1590000" cy="243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Prompt engineering</a:t>
            </a:r>
            <a:endParaRPr sz="1499">
              <a:solidFill>
                <a:schemeClr val="dk1"/>
              </a:solidFill>
              <a:latin typeface="Calibri"/>
              <a:ea typeface="Calibri"/>
              <a:cs typeface="Calibri"/>
              <a:sym typeface="Calibri"/>
            </a:endParaRPr>
          </a:p>
        </p:txBody>
      </p:sp>
      <p:pic>
        <p:nvPicPr>
          <p:cNvPr id="773" name="Google Shape;773;p39"/>
          <p:cNvPicPr preferRelativeResize="0"/>
          <p:nvPr/>
        </p:nvPicPr>
        <p:blipFill rotWithShape="1">
          <a:blip r:embed="rId3">
            <a:alphaModFix/>
          </a:blip>
          <a:srcRect/>
          <a:stretch/>
        </p:blipFill>
        <p:spPr>
          <a:xfrm>
            <a:off x="428625" y="2178844"/>
            <a:ext cx="5792009" cy="2848373"/>
          </a:xfrm>
          <a:prstGeom prst="rect">
            <a:avLst/>
          </a:prstGeom>
          <a:noFill/>
          <a:ln>
            <a:noFill/>
          </a:ln>
        </p:spPr>
      </p:pic>
      <p:sp>
        <p:nvSpPr>
          <p:cNvPr id="774" name="Google Shape;774;p39"/>
          <p:cNvSpPr txBox="1"/>
          <p:nvPr/>
        </p:nvSpPr>
        <p:spPr>
          <a:xfrm>
            <a:off x="2602523" y="4698470"/>
            <a:ext cx="3068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1"/>
                </a:solidFill>
                <a:latin typeface="Calibri"/>
                <a:ea typeface="Calibri"/>
                <a:cs typeface="Calibri"/>
                <a:sym typeface="Calibri"/>
              </a:rPr>
              <a:t>“Study Economics”</a:t>
            </a:r>
            <a:endParaRPr sz="1800" b="1">
              <a:solidFill>
                <a:schemeClr val="accent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40"/>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1" name="Google Shape;781;p40"/>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2" name="Google Shape;782;p40"/>
          <p:cNvSpPr/>
          <p:nvPr/>
        </p:nvSpPr>
        <p:spPr>
          <a:xfrm>
            <a:off x="428625" y="428625"/>
            <a:ext cx="8715300" cy="462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Extension: Use GPT to evaluate the ad quality</a:t>
            </a:r>
            <a:endParaRPr sz="2862">
              <a:solidFill>
                <a:schemeClr val="dk1"/>
              </a:solidFill>
              <a:latin typeface="Calibri"/>
              <a:ea typeface="Calibri"/>
              <a:cs typeface="Calibri"/>
              <a:sym typeface="Calibri"/>
            </a:endParaRPr>
          </a:p>
        </p:txBody>
      </p:sp>
      <p:sp>
        <p:nvSpPr>
          <p:cNvPr id="783" name="Google Shape;783;p40"/>
          <p:cNvSpPr/>
          <p:nvPr/>
        </p:nvSpPr>
        <p:spPr>
          <a:xfrm>
            <a:off x="428625" y="1887406"/>
            <a:ext cx="1900500" cy="243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GPT-as-reviewer results</a:t>
            </a:r>
            <a:endParaRPr sz="1499">
              <a:solidFill>
                <a:schemeClr val="dk1"/>
              </a:solidFill>
              <a:latin typeface="Calibri"/>
              <a:ea typeface="Calibri"/>
              <a:cs typeface="Calibri"/>
              <a:sym typeface="Calibri"/>
            </a:endParaRPr>
          </a:p>
        </p:txBody>
      </p:sp>
      <p:pic>
        <p:nvPicPr>
          <p:cNvPr id="784" name="Google Shape;784;p40"/>
          <p:cNvPicPr preferRelativeResize="0"/>
          <p:nvPr/>
        </p:nvPicPr>
        <p:blipFill rotWithShape="1">
          <a:blip r:embed="rId3">
            <a:alphaModFix/>
          </a:blip>
          <a:srcRect/>
          <a:stretch/>
        </p:blipFill>
        <p:spPr>
          <a:xfrm>
            <a:off x="428625" y="2212662"/>
            <a:ext cx="2182690" cy="2849056"/>
          </a:xfrm>
          <a:prstGeom prst="rect">
            <a:avLst/>
          </a:prstGeom>
          <a:noFill/>
          <a:ln>
            <a:noFill/>
          </a:ln>
        </p:spPr>
      </p:pic>
      <p:sp>
        <p:nvSpPr>
          <p:cNvPr id="785" name="Google Shape;785;p40"/>
          <p:cNvSpPr/>
          <p:nvPr/>
        </p:nvSpPr>
        <p:spPr>
          <a:xfrm>
            <a:off x="411041" y="3637190"/>
            <a:ext cx="1590000" cy="539100"/>
          </a:xfrm>
          <a:prstGeom prst="rect">
            <a:avLst/>
          </a:prstGeom>
          <a:noFill/>
          <a:ln w="28575"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Calibri"/>
              <a:ea typeface="Calibri"/>
              <a:cs typeface="Calibri"/>
              <a:sym typeface="Calibri"/>
            </a:endParaRPr>
          </a:p>
        </p:txBody>
      </p:sp>
      <p:pic>
        <p:nvPicPr>
          <p:cNvPr id="786" name="Google Shape;786;p40"/>
          <p:cNvPicPr preferRelativeResize="0"/>
          <p:nvPr/>
        </p:nvPicPr>
        <p:blipFill rotWithShape="1">
          <a:blip r:embed="rId4">
            <a:alphaModFix/>
          </a:blip>
          <a:srcRect/>
          <a:stretch/>
        </p:blipFill>
        <p:spPr>
          <a:xfrm>
            <a:off x="2787161" y="1736664"/>
            <a:ext cx="5840289" cy="340683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41"/>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3" name="Google Shape;793;p41"/>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4" name="Google Shape;794;p41"/>
          <p:cNvSpPr/>
          <p:nvPr/>
        </p:nvSpPr>
        <p:spPr>
          <a:xfrm>
            <a:off x="428625" y="428625"/>
            <a:ext cx="8715300" cy="462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Extension: Use GPT to evaluate the ad quality</a:t>
            </a:r>
            <a:endParaRPr sz="2862">
              <a:solidFill>
                <a:schemeClr val="dk1"/>
              </a:solidFill>
              <a:latin typeface="Calibri"/>
              <a:ea typeface="Calibri"/>
              <a:cs typeface="Calibri"/>
              <a:sym typeface="Calibri"/>
            </a:endParaRPr>
          </a:p>
        </p:txBody>
      </p:sp>
      <p:pic>
        <p:nvPicPr>
          <p:cNvPr id="795" name="Google Shape;795;p41"/>
          <p:cNvPicPr preferRelativeResize="0"/>
          <p:nvPr/>
        </p:nvPicPr>
        <p:blipFill rotWithShape="1">
          <a:blip r:embed="rId3">
            <a:alphaModFix/>
          </a:blip>
          <a:srcRect/>
          <a:stretch/>
        </p:blipFill>
        <p:spPr>
          <a:xfrm>
            <a:off x="428625" y="2212662"/>
            <a:ext cx="2182690" cy="2849056"/>
          </a:xfrm>
          <a:prstGeom prst="rect">
            <a:avLst/>
          </a:prstGeom>
          <a:noFill/>
          <a:ln>
            <a:noFill/>
          </a:ln>
        </p:spPr>
      </p:pic>
      <p:sp>
        <p:nvSpPr>
          <p:cNvPr id="796" name="Google Shape;796;p41"/>
          <p:cNvSpPr/>
          <p:nvPr/>
        </p:nvSpPr>
        <p:spPr>
          <a:xfrm>
            <a:off x="411041" y="3637190"/>
            <a:ext cx="1590000" cy="539100"/>
          </a:xfrm>
          <a:prstGeom prst="rect">
            <a:avLst/>
          </a:prstGeom>
          <a:noFill/>
          <a:ln w="28575"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Calibri"/>
              <a:ea typeface="Calibri"/>
              <a:cs typeface="Calibri"/>
              <a:sym typeface="Calibri"/>
            </a:endParaRPr>
          </a:p>
        </p:txBody>
      </p:sp>
      <p:pic>
        <p:nvPicPr>
          <p:cNvPr id="797" name="Google Shape;797;p41"/>
          <p:cNvPicPr preferRelativeResize="0"/>
          <p:nvPr/>
        </p:nvPicPr>
        <p:blipFill rotWithShape="1">
          <a:blip r:embed="rId4">
            <a:alphaModFix/>
          </a:blip>
          <a:srcRect/>
          <a:stretch/>
        </p:blipFill>
        <p:spPr>
          <a:xfrm>
            <a:off x="2540976" y="2103834"/>
            <a:ext cx="6532684" cy="2858049"/>
          </a:xfrm>
          <a:prstGeom prst="rect">
            <a:avLst/>
          </a:prstGeom>
          <a:noFill/>
          <a:ln>
            <a:noFill/>
          </a:ln>
        </p:spPr>
      </p:pic>
      <p:sp>
        <p:nvSpPr>
          <p:cNvPr id="798" name="Google Shape;798;p41"/>
          <p:cNvSpPr/>
          <p:nvPr/>
        </p:nvSpPr>
        <p:spPr>
          <a:xfrm>
            <a:off x="428625" y="1887406"/>
            <a:ext cx="1900500" cy="243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GPT-as-reviewer results</a:t>
            </a:r>
            <a:endParaRPr sz="1499">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42"/>
          <p:cNvSpPr/>
          <p:nvPr/>
        </p:nvSpPr>
        <p:spPr>
          <a:xfrm>
            <a:off x="0" y="0"/>
            <a:ext cx="9144000" cy="16752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5" name="Google Shape;805;p42"/>
          <p:cNvSpPr/>
          <p:nvPr/>
        </p:nvSpPr>
        <p:spPr>
          <a:xfrm>
            <a:off x="0" y="1660922"/>
            <a:ext cx="9144000" cy="144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6" name="Google Shape;806;p42"/>
          <p:cNvSpPr/>
          <p:nvPr/>
        </p:nvSpPr>
        <p:spPr>
          <a:xfrm>
            <a:off x="428625" y="428625"/>
            <a:ext cx="8715300" cy="462300"/>
          </a:xfrm>
          <a:prstGeom prst="rect">
            <a:avLst/>
          </a:prstGeom>
          <a:noFill/>
          <a:ln>
            <a:noFill/>
          </a:ln>
        </p:spPr>
        <p:txBody>
          <a:bodyPr spcFirstLastPara="1" wrap="square" lIns="0" tIns="0" rIns="0" bIns="0" anchor="t" anchorCtr="0">
            <a:noAutofit/>
          </a:bodyPr>
          <a:lstStyle/>
          <a:p>
            <a:pPr marL="0" marR="0" lvl="0" indent="0" algn="l" rtl="0">
              <a:lnSpc>
                <a:spcPct val="132774"/>
              </a:lnSpc>
              <a:spcBef>
                <a:spcPts val="0"/>
              </a:spcBef>
              <a:spcAft>
                <a:spcPts val="0"/>
              </a:spcAft>
              <a:buClr>
                <a:srgbClr val="0047AB"/>
              </a:buClr>
              <a:buSzPts val="2862"/>
              <a:buFont typeface="Calibri"/>
              <a:buNone/>
            </a:pPr>
            <a:r>
              <a:rPr lang="en-US" sz="2862" b="1">
                <a:solidFill>
                  <a:srgbClr val="0047AB"/>
                </a:solidFill>
                <a:latin typeface="Calibri"/>
                <a:ea typeface="Calibri"/>
                <a:cs typeface="Calibri"/>
                <a:sym typeface="Calibri"/>
              </a:rPr>
              <a:t>Extension: Use GPT to evaluate the ad quality</a:t>
            </a:r>
            <a:endParaRPr sz="2862">
              <a:solidFill>
                <a:schemeClr val="dk1"/>
              </a:solidFill>
              <a:latin typeface="Calibri"/>
              <a:ea typeface="Calibri"/>
              <a:cs typeface="Calibri"/>
              <a:sym typeface="Calibri"/>
            </a:endParaRPr>
          </a:p>
        </p:txBody>
      </p:sp>
      <p:pic>
        <p:nvPicPr>
          <p:cNvPr id="807" name="Google Shape;807;p42"/>
          <p:cNvPicPr preferRelativeResize="0"/>
          <p:nvPr/>
        </p:nvPicPr>
        <p:blipFill rotWithShape="1">
          <a:blip r:embed="rId3">
            <a:alphaModFix/>
          </a:blip>
          <a:srcRect/>
          <a:stretch/>
        </p:blipFill>
        <p:spPr>
          <a:xfrm>
            <a:off x="428625" y="2212662"/>
            <a:ext cx="2182690" cy="2849056"/>
          </a:xfrm>
          <a:prstGeom prst="rect">
            <a:avLst/>
          </a:prstGeom>
          <a:noFill/>
          <a:ln>
            <a:noFill/>
          </a:ln>
        </p:spPr>
      </p:pic>
      <p:sp>
        <p:nvSpPr>
          <p:cNvPr id="808" name="Google Shape;808;p42"/>
          <p:cNvSpPr/>
          <p:nvPr/>
        </p:nvSpPr>
        <p:spPr>
          <a:xfrm>
            <a:off x="411041" y="3637190"/>
            <a:ext cx="1590000" cy="539100"/>
          </a:xfrm>
          <a:prstGeom prst="rect">
            <a:avLst/>
          </a:prstGeom>
          <a:noFill/>
          <a:ln w="28575"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Calibri"/>
              <a:ea typeface="Calibri"/>
              <a:cs typeface="Calibri"/>
              <a:sym typeface="Calibri"/>
            </a:endParaRPr>
          </a:p>
        </p:txBody>
      </p:sp>
      <p:pic>
        <p:nvPicPr>
          <p:cNvPr id="809" name="Google Shape;809;p42"/>
          <p:cNvPicPr preferRelativeResize="0"/>
          <p:nvPr/>
        </p:nvPicPr>
        <p:blipFill rotWithShape="1">
          <a:blip r:embed="rId4">
            <a:alphaModFix/>
          </a:blip>
          <a:srcRect/>
          <a:stretch/>
        </p:blipFill>
        <p:spPr>
          <a:xfrm>
            <a:off x="2611314" y="2103834"/>
            <a:ext cx="6479468" cy="2834767"/>
          </a:xfrm>
          <a:prstGeom prst="rect">
            <a:avLst/>
          </a:prstGeom>
          <a:noFill/>
          <a:ln>
            <a:noFill/>
          </a:ln>
        </p:spPr>
      </p:pic>
      <p:sp>
        <p:nvSpPr>
          <p:cNvPr id="810" name="Google Shape;810;p42"/>
          <p:cNvSpPr/>
          <p:nvPr/>
        </p:nvSpPr>
        <p:spPr>
          <a:xfrm>
            <a:off x="428625" y="1887406"/>
            <a:ext cx="1900500" cy="243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GPT-as-reviewer results</a:t>
            </a:r>
            <a:endParaRPr sz="1499">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43"/>
          <p:cNvSpPr/>
          <p:nvPr/>
        </p:nvSpPr>
        <p:spPr>
          <a:xfrm>
            <a:off x="6263419" y="0"/>
            <a:ext cx="11100" cy="51435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7" name="Google Shape;817;p43"/>
          <p:cNvSpPr/>
          <p:nvPr/>
        </p:nvSpPr>
        <p:spPr>
          <a:xfrm>
            <a:off x="428625" y="1327150"/>
            <a:ext cx="5057700" cy="621300"/>
          </a:xfrm>
          <a:prstGeom prst="rect">
            <a:avLst/>
          </a:prstGeom>
          <a:noFill/>
          <a:ln>
            <a:noFill/>
          </a:ln>
        </p:spPr>
        <p:txBody>
          <a:bodyPr spcFirstLastPara="1" wrap="square" lIns="0" tIns="0" rIns="0" bIns="0" anchor="t" anchorCtr="0">
            <a:noAutofit/>
          </a:bodyPr>
          <a:lstStyle/>
          <a:p>
            <a:pPr marL="0" marR="0" lvl="0" indent="0" algn="l" rtl="0">
              <a:lnSpc>
                <a:spcPct val="120627"/>
              </a:lnSpc>
              <a:spcBef>
                <a:spcPts val="0"/>
              </a:spcBef>
              <a:spcAft>
                <a:spcPts val="0"/>
              </a:spcAft>
              <a:buClr>
                <a:srgbClr val="000000"/>
              </a:buClr>
              <a:buSzPts val="4145"/>
              <a:buFont typeface="Calibri"/>
              <a:buNone/>
            </a:pPr>
            <a:r>
              <a:rPr lang="en-US" sz="4145" b="1">
                <a:solidFill>
                  <a:srgbClr val="000000"/>
                </a:solidFill>
                <a:latin typeface="Calibri"/>
                <a:ea typeface="Calibri"/>
                <a:cs typeface="Calibri"/>
                <a:sym typeface="Calibri"/>
              </a:rPr>
              <a:t>Thank You</a:t>
            </a:r>
            <a:endParaRPr sz="4145">
              <a:solidFill>
                <a:schemeClr val="dk1"/>
              </a:solidFill>
              <a:latin typeface="Calibri"/>
              <a:ea typeface="Calibri"/>
              <a:cs typeface="Calibri"/>
              <a:sym typeface="Calibri"/>
            </a:endParaRPr>
          </a:p>
        </p:txBody>
      </p:sp>
      <p:sp>
        <p:nvSpPr>
          <p:cNvPr id="818" name="Google Shape;818;p43"/>
          <p:cNvSpPr/>
          <p:nvPr/>
        </p:nvSpPr>
        <p:spPr>
          <a:xfrm>
            <a:off x="428625" y="3000375"/>
            <a:ext cx="5057700" cy="291000"/>
          </a:xfrm>
          <a:prstGeom prst="rect">
            <a:avLst/>
          </a:prstGeom>
          <a:noFill/>
          <a:ln>
            <a:noFill/>
          </a:ln>
        </p:spPr>
        <p:txBody>
          <a:bodyPr spcFirstLastPara="1" wrap="square" lIns="0" tIns="0" rIns="0" bIns="0" anchor="t" anchorCtr="0">
            <a:noAutofit/>
          </a:bodyPr>
          <a:lstStyle/>
          <a:p>
            <a:pPr marL="0" marR="0" lvl="0" indent="0" algn="l" rtl="0">
              <a:lnSpc>
                <a:spcPct val="133422"/>
              </a:lnSpc>
              <a:spcBef>
                <a:spcPts val="0"/>
              </a:spcBef>
              <a:spcAft>
                <a:spcPts val="0"/>
              </a:spcAft>
              <a:buClr>
                <a:srgbClr val="FF5F00"/>
              </a:buClr>
              <a:buSzPts val="1499"/>
              <a:buFont typeface="Calibri"/>
              <a:buNone/>
            </a:pPr>
            <a:r>
              <a:rPr lang="en-US" sz="1499" b="1">
                <a:solidFill>
                  <a:srgbClr val="FF5F00"/>
                </a:solidFill>
                <a:latin typeface="Calibri"/>
                <a:ea typeface="Calibri"/>
                <a:cs typeface="Calibri"/>
                <a:sym typeface="Calibri"/>
              </a:rPr>
              <a:t>Key Takeaway</a:t>
            </a:r>
            <a:endParaRPr sz="1499">
              <a:solidFill>
                <a:schemeClr val="dk1"/>
              </a:solidFill>
              <a:latin typeface="Calibri"/>
              <a:ea typeface="Calibri"/>
              <a:cs typeface="Calibri"/>
              <a:sym typeface="Calibri"/>
            </a:endParaRPr>
          </a:p>
        </p:txBody>
      </p:sp>
      <p:sp>
        <p:nvSpPr>
          <p:cNvPr id="819" name="Google Shape;819;p43"/>
          <p:cNvSpPr/>
          <p:nvPr/>
        </p:nvSpPr>
        <p:spPr>
          <a:xfrm>
            <a:off x="428625" y="3362920"/>
            <a:ext cx="5057700" cy="1028700"/>
          </a:xfrm>
          <a:prstGeom prst="rect">
            <a:avLst/>
          </a:prstGeom>
          <a:noFill/>
          <a:ln>
            <a:noFill/>
          </a:ln>
        </p:spPr>
        <p:txBody>
          <a:bodyPr spcFirstLastPara="1" wrap="square" lIns="0" tIns="0" rIns="0" bIns="0" anchor="t" anchorCtr="0">
            <a:noAutofit/>
          </a:bodyPr>
          <a:lstStyle/>
          <a:p>
            <a:pPr marL="0" marR="0" lvl="0" indent="0" algn="l" rtl="0">
              <a:lnSpc>
                <a:spcPct val="133928"/>
              </a:lnSpc>
              <a:spcBef>
                <a:spcPts val="0"/>
              </a:spcBef>
              <a:spcAft>
                <a:spcPts val="0"/>
              </a:spcAft>
              <a:buClr>
                <a:srgbClr val="0047AB"/>
              </a:buClr>
              <a:buSzPts val="2016"/>
              <a:buFont typeface="Calibri"/>
              <a:buNone/>
            </a:pPr>
            <a:r>
              <a:rPr lang="en-US" sz="2016" b="1">
                <a:solidFill>
                  <a:srgbClr val="0047AB"/>
                </a:solidFill>
                <a:latin typeface="Calibri"/>
                <a:ea typeface="Calibri"/>
                <a:cs typeface="Calibri"/>
                <a:sym typeface="Calibri"/>
              </a:rPr>
              <a:t>The future of AI in marketing is built on specialized systems, not just prompts.</a:t>
            </a:r>
            <a:endParaRPr sz="2016">
              <a:solidFill>
                <a:schemeClr val="dk1"/>
              </a:solidFill>
              <a:latin typeface="Calibri"/>
              <a:ea typeface="Calibri"/>
              <a:cs typeface="Calibri"/>
              <a:sym typeface="Calibri"/>
            </a:endParaRPr>
          </a:p>
        </p:txBody>
      </p:sp>
      <p:sp>
        <p:nvSpPr>
          <p:cNvPr id="820" name="Google Shape;820;p43"/>
          <p:cNvSpPr/>
          <p:nvPr/>
        </p:nvSpPr>
        <p:spPr>
          <a:xfrm>
            <a:off x="6278270" y="0"/>
            <a:ext cx="2878800" cy="5143500"/>
          </a:xfrm>
          <a:prstGeom prst="rect">
            <a:avLst/>
          </a:prstGeom>
          <a:solidFill>
            <a:srgbClr val="0047A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6877</Words>
  <Application>Microsoft Office PowerPoint</Application>
  <PresentationFormat>On-screen Show (16:9)</PresentationFormat>
  <Paragraphs>519</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-apple-system</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XU, Bozhi</cp:lastModifiedBy>
  <cp:revision>10</cp:revision>
  <dcterms:modified xsi:type="dcterms:W3CDTF">2026-02-09T12:21:42Z</dcterms:modified>
</cp:coreProperties>
</file>